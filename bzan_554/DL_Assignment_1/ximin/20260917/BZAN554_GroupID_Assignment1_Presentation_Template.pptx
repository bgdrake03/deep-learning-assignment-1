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96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FILL IN: group ID from given-materials/Groups_from_Zaretzki.xlsx. Confirm full names + presentation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Trim to fit the time limit stated in Group_Assignment_1.pdf.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0.3744 linear baseline was measured on the identical 80/20 split (seed 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Median 7 vs max 4,165: a handful of rows drive most of the squared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ready for this question. Training is genuinely incremental (train_on_batch), but loading is not. If the assignment requires memory-constrained ingestion, use pd.read_csv(chunksize=...).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Parameter count verified: 384 + 2,080 + 528 + 17 = 3,009.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Verified in data_handler.py — fit_transform on train, transform on test.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Var(y_test) = 2,478.81. Use as the 'do nothing' MSE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main.py builds mse_history in memory then never saves it. Must be fixed before this slide can be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001 scored BELOW the 0.3744 linear baseline. Frame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Confirmed by grep: no psutil import in any of the 7 source files. This slide cannot be filled until Ansley adds instrumentation.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Baselines measured on the identical split. Gradient boosting reached 0.5885, evidence that substantial signal remains unexploited.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Candidates: metrics.csv overwrite, missing global seed, scaler not persisted, sigmoid vanishing gradients, .h5 format deprecation.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takeaway, not on a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Rehearse these. The incremental-loading question is the most likely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31720"/>
            <a:ext cx="12191695" cy="82296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1F3564"/>
                </a:solidFill>
                <a:latin typeface="Calibri"/>
              </a:rPr>
              <a:t>Incremental Learning on Large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Calibri"/>
              </a:rPr>
              <a:t>Predicting Quantity Sold with a Feed-Forward Neural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1F3564"/>
                </a:solidFill>
                <a:latin typeface="Calibri"/>
              </a:rPr>
              <a:t>BZAN 554  ·  Group Assignment </a:t>
            </a:r>
            <a:r>
              <a:rPr lang="en-US" sz="2400" b="1" i="0" dirty="0">
                <a:solidFill>
                  <a:srgbClr val="1F3564"/>
                </a:solidFill>
                <a:latin typeface="Calibri"/>
              </a:rPr>
              <a:t>1</a:t>
            </a:r>
            <a:r>
              <a:rPr sz="2400" b="1" i="0" dirty="0">
                <a:solidFill>
                  <a:srgbClr val="1F3564"/>
                </a:solidFill>
                <a:latin typeface="Calibri"/>
              </a:rPr>
              <a:t>  ·  [GROUP </a:t>
            </a:r>
            <a:r>
              <a:rPr lang="en-US" sz="2400" b="1" i="0" dirty="0">
                <a:solidFill>
                  <a:srgbClr val="1F3564"/>
                </a:solidFill>
                <a:latin typeface="Calibri"/>
              </a:rPr>
              <a:t>7</a:t>
            </a:r>
            <a:r>
              <a:rPr sz="2400" b="1" i="0" dirty="0">
                <a:solidFill>
                  <a:srgbClr val="1F3564"/>
                </a:solidFill>
                <a:latin typeface="Calibri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3766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latin typeface="Calibri"/>
              </a:rPr>
              <a:t>Ansley</a:t>
            </a:r>
            <a:r>
              <a:rPr lang="en-US" sz="2400" b="0" i="0" dirty="0">
                <a:latin typeface="Calibri"/>
              </a:rPr>
              <a:t> Smith</a:t>
            </a:r>
            <a:r>
              <a:rPr sz="2400" b="0" i="0" dirty="0">
                <a:latin typeface="Calibri"/>
              </a:rPr>
              <a:t>  |  Rebecca</a:t>
            </a:r>
            <a:r>
              <a:rPr lang="en-US" sz="2400" b="0" i="0" dirty="0">
                <a:latin typeface="Calibri"/>
              </a:rPr>
              <a:t> Drake</a:t>
            </a:r>
            <a:r>
              <a:rPr sz="2400" b="0" i="0" dirty="0">
                <a:latin typeface="Calibri"/>
              </a:rPr>
              <a:t>  |  Ximin</a:t>
            </a:r>
            <a:r>
              <a:rPr lang="en-US" sz="2400" b="0" i="0" dirty="0">
                <a:latin typeface="Calibri"/>
              </a:rPr>
              <a:t> Zeng</a:t>
            </a:r>
            <a:endParaRPr sz="2400" b="0" i="0" dirty="0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dirty="0">
                <a:latin typeface="Calibri"/>
              </a:rPr>
              <a:t>9/24/2026</a:t>
            </a:r>
            <a:endParaRPr sz="2400" b="0" dirty="0"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F3564"/>
                </a:solidFill>
                <a:latin typeface="Calibri"/>
              </a:rPr>
              <a:t>1.  Problem &amp; business framing</a:t>
            </a:r>
          </a:p>
          <a:p>
            <a:pPr algn="l"/>
            <a:r>
              <a:rPr sz="1900" b="0" i="0">
                <a:solidFill>
                  <a:srgbClr val="1F3564"/>
                </a:solidFill>
                <a:latin typeface="Calibri"/>
              </a:rPr>
              <a:t>2.  Data overview</a:t>
            </a:r>
          </a:p>
          <a:p>
            <a:pPr algn="l"/>
            <a:r>
              <a:rPr sz="1900" b="0" i="0">
                <a:solidFill>
                  <a:srgbClr val="1F3564"/>
                </a:solidFill>
                <a:latin typeface="Calibri"/>
              </a:rPr>
              <a:t>3.  Why incremental learning</a:t>
            </a:r>
          </a:p>
          <a:p>
            <a:pPr algn="l"/>
            <a:r>
              <a:rPr sz="1900" b="0" i="0">
                <a:solidFill>
                  <a:srgbClr val="1F3564"/>
                </a:solidFill>
                <a:latin typeface="Calibri"/>
              </a:rPr>
              <a:t>4.  Network architecture</a:t>
            </a:r>
          </a:p>
          <a:p>
            <a:pPr algn="l"/>
            <a:r>
              <a:rPr sz="1900" b="0" i="0">
                <a:solidFill>
                  <a:srgbClr val="1F3564"/>
                </a:solidFill>
                <a:latin typeface="Calibri"/>
              </a:rPr>
              <a:t>5.  Training procedure</a:t>
            </a:r>
          </a:p>
          <a:p>
            <a:pPr algn="l"/>
            <a:r>
              <a:rPr sz="1900" b="0" i="0">
                <a:solidFill>
                  <a:srgbClr val="1F3564"/>
                </a:solidFill>
                <a:latin typeface="Calibri"/>
              </a:rPr>
              <a:t>6.  Evaluation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F3564"/>
                </a:solidFill>
                <a:latin typeface="Calibri"/>
              </a:rPr>
              <a:t>7.  Results: learning curve</a:t>
            </a:r>
          </a:p>
          <a:p>
            <a:pPr algn="l"/>
            <a:r>
              <a:rPr sz="1900" b="0" i="0">
                <a:solidFill>
                  <a:srgbClr val="1F3564"/>
                </a:solidFill>
                <a:latin typeface="Calibri"/>
              </a:rPr>
              <a:t>8.  Results: R² and MSE</a:t>
            </a:r>
          </a:p>
          <a:p>
            <a:pPr algn="l"/>
            <a:r>
              <a:rPr sz="1900" b="0" i="0">
                <a:solidFill>
                  <a:srgbClr val="1F3564"/>
                </a:solidFill>
                <a:latin typeface="Calibri"/>
              </a:rPr>
              <a:t>9.  Memory &amp; runtime profile</a:t>
            </a:r>
          </a:p>
          <a:p>
            <a:pPr algn="l"/>
            <a:r>
              <a:rPr sz="1900" b="0" i="0">
                <a:solidFill>
                  <a:srgbClr val="1F3564"/>
                </a:solidFill>
                <a:latin typeface="Calibri"/>
              </a:rPr>
              <a:t>10. Baseline comparison</a:t>
            </a:r>
          </a:p>
          <a:p>
            <a:pPr algn="l"/>
            <a:r>
              <a:rPr sz="1900" b="0" i="0">
                <a:solidFill>
                  <a:srgbClr val="1F3564"/>
                </a:solidFill>
                <a:latin typeface="Calibri"/>
              </a:rPr>
              <a:t>11. Issues encountered &amp; fixes</a:t>
            </a:r>
          </a:p>
          <a:p>
            <a:pPr algn="l"/>
            <a:r>
              <a:rPr sz="1900" b="0" i="0">
                <a:solidFill>
                  <a:srgbClr val="1F3564"/>
                </a:solidFill>
                <a:latin typeface="Calibri"/>
              </a:rPr>
              <a:t>12. Conclusions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Problem &amp; Business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Predict quantity sold from 5 product/order attributes.</a:t>
            </a:r>
          </a:p>
          <a:p>
            <a:pPr algn="l"/>
            <a:endParaRPr sz="1700" b="0" i="0">
              <a:solidFill>
                <a:srgbClr val="1F3564"/>
              </a:solidFill>
              <a:latin typeface="Calibri"/>
            </a:endParaRP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Supervised regression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Target: quantity (continuous)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500,000 historical records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Constraint: data must be consumed incrementally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Why it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212080" cy="237744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666666"/>
                </a:solidFill>
              </a:rPr>
              <a:t>[1–2 sentences: why demand prediction</a:t>
            </a:r>
          </a:p>
          <a:p>
            <a:pPr algn="ctr"/>
            <a:r>
              <a:rPr sz="1400" i="1">
                <a:solidFill>
                  <a:srgbClr val="666666"/>
                </a:solidFill>
              </a:rPr>
              <a:t>matters for pricing decisions]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Success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Model must beat the linear-regression baseline of R² = 0.3744 to demonstrate that the network is learning non-linear structure, not just a linear trend.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Data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Verified facts (pricing.csv)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500,000 rows × 6 columns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Features: sku, price, order, duration, category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Target: quantity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No missing values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Target is heavily right-skewed: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     mean 22.8 · median 7 · max 4,165 · sd 50.5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File sorted by sku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Distribution of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212080" cy="310896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666666"/>
                </a:solidFill>
              </a:rPr>
              <a:t>[INSERT: histogram of quantity</a:t>
            </a:r>
          </a:p>
          <a:p>
            <a:pPr algn="ctr"/>
            <a:r>
              <a:rPr sz="1400" i="1">
                <a:solidFill>
                  <a:srgbClr val="666666"/>
                </a:solidFill>
              </a:rPr>
              <a:t>(log scale recommended)]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392B"/>
                </a:solidFill>
                <a:latin typeface="Calibri"/>
              </a:rPr>
              <a:t>Note: the skew matters — MSE is dominated by a small number of very large orders.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Why Incremental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Datasets may exceed available RAM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Model updates one mini-batch at a time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Constant memory footprint regardless of N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Supports streaming / continuously arriving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Trade-offs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Noisier gradient estimates per step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Sensitive to data ordering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Single pass limits convergence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Harder to tune learning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666666"/>
                </a:solidFill>
              </a:rPr>
              <a:t>[DISCUSSION POINT — decide as a team: our loader calls pd.read_csv() on the full file, then batches in memory. Do we present this as-is, or implement true chunked reading?]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Input (5 features)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   → Dense 64, sigmoid        384 params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   → Dense 32, sigmoid      2,080 params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   → Dense 16, sigmoid         528 params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   → Dense 1, linear             17 params</a:t>
            </a:r>
          </a:p>
          <a:p>
            <a:pPr algn="l"/>
            <a:endParaRPr sz="1700" b="0" i="0">
              <a:solidFill>
                <a:srgbClr val="1F3564"/>
              </a:solidFill>
              <a:latin typeface="Calibri"/>
            </a:endParaRP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Total trainable parameters: 3,009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Design rationale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212080" cy="292608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666666"/>
                </a:solidFill>
              </a:rPr>
              <a:t>[INSERT: why 3 layers, why funnel shape,</a:t>
            </a:r>
          </a:p>
          <a:p>
            <a:pPr algn="ctr"/>
            <a:r>
              <a:rPr sz="1400" i="1">
                <a:solidFill>
                  <a:srgbClr val="666666"/>
                </a:solidFill>
              </a:rPr>
              <a:t>why linear output.</a:t>
            </a:r>
          </a:p>
          <a:p>
            <a:pPr algn="ctr"/>
            <a:endParaRPr sz="1400" i="1">
              <a:solidFill>
                <a:srgbClr val="666666"/>
              </a:solidFill>
            </a:endParaRPr>
          </a:p>
          <a:p>
            <a:pPr algn="ctr"/>
            <a:r>
              <a:rPr sz="1400" i="1">
                <a:solidFill>
                  <a:srgbClr val="666666"/>
                </a:solidFill>
              </a:rPr>
              <a:t>See decisions log for the sigmoid</a:t>
            </a:r>
          </a:p>
          <a:p>
            <a:pPr algn="ctr"/>
            <a:r>
              <a:rPr sz="1400" i="1">
                <a:solidFill>
                  <a:srgbClr val="666666"/>
                </a:solidFill>
              </a:rPr>
              <a:t>rationale + measured alternative]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F3564"/>
                </a:solidFill>
                <a:latin typeface="Calibri"/>
              </a:rPr>
              <a:t>3,009 parameters against 400,000 training rows — capacity is not the binding constraint.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Training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Split: 80/20 → 400,000 / 100,000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Scaling: StandardScaler, fit on train only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Optimizer: Adam, lr = 0.001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Loss: MSE   ·   Monitor: MAE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Batch size: 32  →  12,500 updates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Epochs: 1 (single incremental pass)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212080" cy="310896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666666"/>
                </a:solidFill>
              </a:rPr>
              <a:t>[INSERT: flow diagram —</a:t>
            </a:r>
          </a:p>
          <a:p>
            <a:pPr algn="ctr"/>
            <a:r>
              <a:rPr sz="1400" i="1">
                <a:solidFill>
                  <a:srgbClr val="666666"/>
                </a:solidFill>
              </a:rPr>
              <a:t>load batch → train_on_batch →</a:t>
            </a:r>
          </a:p>
          <a:p>
            <a:pPr algn="ctr"/>
            <a:r>
              <a:rPr sz="1400" i="1">
                <a:solidFill>
                  <a:srgbClr val="666666"/>
                </a:solidFill>
              </a:rPr>
              <a:t>log MSE → repeat]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F3564"/>
                </a:solidFill>
                <a:latin typeface="Calibri"/>
              </a:rPr>
              <a:t>No leakage: the scaler is fit on training data only, then applied to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R² — coefficient of determination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3564"/>
                </a:solidFill>
                <a:latin typeface="Calibri"/>
              </a:rPr>
              <a:t>R² = 1 − Σ(yᵢ − ŷᵢ)² / Σ(yᵢ − ȳ)²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Range (−∞, 1].  R² = 0 means no better than predicting the mean.  Reported on both train and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MSE — mean squared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Logged per batch during training; smoothed with a 100-batch moving average to produce a readable learning curve.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F3564"/>
                </a:solidFill>
                <a:latin typeface="Calibri"/>
              </a:rPr>
              <a:t>Reference point: predicting the mean gives MSE ≈ 2,479 (the variance of the target). Any useful model must sit well below this.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Results — Learning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7498079" cy="448056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666666"/>
                </a:solidFill>
              </a:rPr>
              <a:t>[INSERT CHART: batch number (x) vs MSE (y)</a:t>
            </a:r>
          </a:p>
          <a:p>
            <a:pPr algn="ctr"/>
            <a:r>
              <a:rPr sz="1400" i="1">
                <a:solidFill>
                  <a:srgbClr val="666666"/>
                </a:solidFill>
              </a:rPr>
              <a:t>raw + 100-batch moving average</a:t>
            </a:r>
          </a:p>
          <a:p>
            <a:pPr algn="ctr"/>
            <a:endParaRPr sz="1400" i="1">
              <a:solidFill>
                <a:srgbClr val="666666"/>
              </a:solidFill>
            </a:endParaRPr>
          </a:p>
          <a:p>
            <a:pPr algn="ctr"/>
            <a:r>
              <a:rPr sz="1400" i="1">
                <a:solidFill>
                  <a:srgbClr val="666666"/>
                </a:solidFill>
              </a:rPr>
              <a:t>Source: batch_mse_log.csv]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7621"/>
                </a:solidFill>
                <a:latin typeface="Calibri"/>
              </a:rPr>
              <a:t>What to look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3564"/>
                </a:solidFill>
                <a:latin typeface="Calibri"/>
              </a:rPr>
              <a:t>· Downward trend</a:t>
            </a:r>
          </a:p>
          <a:p>
            <a:pPr algn="l"/>
            <a:r>
              <a:rPr sz="1500" b="0" i="0">
                <a:solidFill>
                  <a:srgbClr val="1F3564"/>
                </a:solidFill>
                <a:latin typeface="Calibri"/>
              </a:rPr>
              <a:t>· Plateau by end?</a:t>
            </a:r>
          </a:p>
          <a:p>
            <a:pPr algn="l"/>
            <a:r>
              <a:rPr sz="1500" b="0" i="0">
                <a:solidFill>
                  <a:srgbClr val="1F3564"/>
                </a:solidFill>
                <a:latin typeface="Calibri"/>
              </a:rPr>
              <a:t>· No NaN / spikes</a:t>
            </a:r>
          </a:p>
          <a:p>
            <a:pPr algn="l"/>
            <a:r>
              <a:rPr sz="1500" b="0" i="0">
                <a:solidFill>
                  <a:srgbClr val="1F3564"/>
                </a:solidFill>
                <a:latin typeface="Calibri"/>
              </a:rPr>
              <a:t>· Noise level</a:t>
            </a:r>
          </a:p>
          <a:p>
            <a:pPr algn="l"/>
            <a:endParaRPr sz="1500" b="0" i="0">
              <a:solidFill>
                <a:srgbClr val="1F3564"/>
              </a:solidFill>
              <a:latin typeface="Calibri"/>
            </a:endParaRPr>
          </a:p>
          <a:p>
            <a:pPr algn="l"/>
            <a:r>
              <a:rPr sz="1500" b="0" i="0">
                <a:solidFill>
                  <a:srgbClr val="1F3564"/>
                </a:solidFill>
                <a:latin typeface="Calibri"/>
              </a:rPr>
              <a:t>If still falling at the</a:t>
            </a:r>
          </a:p>
          <a:p>
            <a:pPr algn="l"/>
            <a:r>
              <a:rPr sz="1500" b="0" i="0">
                <a:solidFill>
                  <a:srgbClr val="1F3564"/>
                </a:solidFill>
                <a:latin typeface="Calibri"/>
              </a:rPr>
              <a:t>end → more epochs</a:t>
            </a:r>
          </a:p>
          <a:p>
            <a:pPr algn="l"/>
            <a:r>
              <a:rPr sz="1500" b="0" i="0">
                <a:solidFill>
                  <a:srgbClr val="1F3564"/>
                </a:solidFill>
                <a:latin typeface="Calibri"/>
              </a:rPr>
              <a:t>would help.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BLOCKER: per-batch MSE is currently discarded, not written to disk. See checklist item T-04.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Results — R² and 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6949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[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[  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[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[  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[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[  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7621"/>
                </a:solidFill>
                <a:latin typeface="Calibri"/>
              </a:rPr>
              <a:t>Interpretation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828800"/>
            <a:ext cx="3657600" cy="173736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666666"/>
                </a:solidFill>
              </a:rPr>
              <a:t>[INSERT: what the numbers mean]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6666"/>
                </a:solidFill>
                <a:latin typeface="Calibri"/>
              </a:rPr>
              <a:t>Run 001 reference (superseded — keep for comparison)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  <a:latin typeface="Calibri"/>
              </a:rPr>
              <a:t>R² train 0.3117 · R² test 0.3235 · MSE test 1,676.84 · runtime ≈ 48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Caution: a near-zero train/test gap below the linear baseline indicates underfitting, not strong generalization. Do not present 0.3235 as a success.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Memory &amp; Runtime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6766560" cy="411480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666666"/>
                </a:solidFill>
              </a:rPr>
              <a:t>[INSERT CHART: RAM usage (MB) vs batch number]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325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7621"/>
                </a:solidFill>
                <a:latin typeface="Calibri"/>
              </a:rPr>
              <a:t>Key figures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7830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Peak RAM:        [   ] MB</a:t>
            </a: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Steady-state:    [   ] MB</a:t>
            </a: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Total runtime:   [   ] s</a:t>
            </a: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Throughput:      [   ] rows/s</a:t>
            </a: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Batches:         12,500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BLOCKER: psutil memory logging is not implemented anywhere in the codebase. See W-05.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Baseline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Test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Predict the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Floor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0.3744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Bar to beat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0392B"/>
                          </a:solidFill>
                        </a:rPr>
                        <a:t>Neural net — run 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0392B"/>
                          </a:solidFill>
                        </a:rPr>
                        <a:t>0.3235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0392B"/>
                          </a:solidFill>
                        </a:rPr>
                        <a:t>Below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Neural net — best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[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[  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480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F3564"/>
                </a:solidFill>
                <a:latin typeface="Calibri"/>
              </a:rPr>
              <a:t>Including this comparison is a strength, not a weakness — it shows we validated the model against a sensible reference instead of reporting a number in isolation.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Issues Encountered &amp;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400" b="1"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Fix applied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/>
                        <a:t>[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[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[  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/>
                        <a:t>[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[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[  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/>
                        <a:t>[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[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[  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/>
                        <a:t>[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[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[  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Pull directly from the issues log in the notes document — do not rewrite from memory.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Conclusions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What we demonstrated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394960" cy="310896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666666"/>
                </a:solidFill>
              </a:rPr>
              <a:t>[3–4 bullets:</a:t>
            </a:r>
          </a:p>
          <a:p>
            <a:pPr algn="ctr"/>
            <a:r>
              <a:rPr sz="1400" i="1">
                <a:solidFill>
                  <a:srgbClr val="666666"/>
                </a:solidFill>
              </a:rPr>
              <a:t>incremental training works,</a:t>
            </a:r>
          </a:p>
          <a:p>
            <a:pPr algn="ctr"/>
            <a:r>
              <a:rPr sz="1400" i="1">
                <a:solidFill>
                  <a:srgbClr val="666666"/>
                </a:solidFill>
              </a:rPr>
              <a:t>memory stays flat,</a:t>
            </a:r>
          </a:p>
          <a:p>
            <a:pPr algn="ctr"/>
            <a:r>
              <a:rPr sz="1400" i="1">
                <a:solidFill>
                  <a:srgbClr val="666666"/>
                </a:solidFill>
              </a:rPr>
              <a:t>metrics validated]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7621"/>
                </a:solidFill>
                <a:latin typeface="Calibri"/>
              </a:rPr>
              <a:t>What we would do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ReLU in place of sigmoid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Multiple passes over the data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Log-transform the skewed target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One-hot encode category</a:t>
            </a:r>
          </a:p>
          <a:p>
            <a:pPr algn="l"/>
            <a:r>
              <a:rPr sz="1700" b="0" i="0">
                <a:solidFill>
                  <a:srgbClr val="1F3564"/>
                </a:solidFill>
                <a:latin typeface="Calibri"/>
              </a:rPr>
              <a:t>· Learning-rate 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77621"/>
                </a:solidFill>
                <a:latin typeface="Calibri"/>
              </a:rPr>
              <a:t>[ONE-SENTENCE TAKEAWAY]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77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564"/>
                </a:solidFill>
                <a:latin typeface="Calibri"/>
              </a:rPr>
              <a:t>Backup — Anticipated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263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BZAN 554  ·  Group Assignment 1  ·  [GROUP ID - FILL IN]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Q.  Why sigmoid rather than ReLU?</a:t>
            </a: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     → [see decisions log; have the measured comparison ready]</a:t>
            </a:r>
          </a:p>
          <a:p>
            <a:pPr algn="l"/>
            <a:endParaRPr sz="1600" b="0" i="0">
              <a:solidFill>
                <a:srgbClr val="1F3564"/>
              </a:solidFill>
              <a:latin typeface="Calibri"/>
            </a:endParaRP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Q.  Why only one epoch?</a:t>
            </a: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     → [answer]</a:t>
            </a:r>
          </a:p>
          <a:p>
            <a:pPr algn="l"/>
            <a:endParaRPr sz="1600" b="0" i="0">
              <a:solidFill>
                <a:srgbClr val="1F3564"/>
              </a:solidFill>
              <a:latin typeface="Calibri"/>
            </a:endParaRP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Q.  Is this genuinely incremental if the CSV is read in full?</a:t>
            </a: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     → [agree on the team answer in advance]</a:t>
            </a:r>
          </a:p>
          <a:p>
            <a:pPr algn="l"/>
            <a:endParaRPr sz="1600" b="0" i="0">
              <a:solidFill>
                <a:srgbClr val="1F3564"/>
              </a:solidFill>
              <a:latin typeface="Calibri"/>
            </a:endParaRP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Q.  Why is R² only ~0.32?</a:t>
            </a: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     → [answer]</a:t>
            </a:r>
          </a:p>
          <a:p>
            <a:pPr algn="l"/>
            <a:endParaRPr sz="1600" b="0" i="0">
              <a:solidFill>
                <a:srgbClr val="1F3564"/>
              </a:solidFill>
              <a:latin typeface="Calibri"/>
            </a:endParaRP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Q.  How do you know there is no leakage?</a:t>
            </a:r>
          </a:p>
          <a:p>
            <a:pPr algn="l"/>
            <a:r>
              <a:rPr sz="1600" b="0" i="0">
                <a:solidFill>
                  <a:srgbClr val="1F3564"/>
                </a:solidFill>
                <a:latin typeface="Calibri"/>
              </a:rPr>
              <a:t>     → Scaler fit on train only; test held out before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1634</Words>
  <Application>Microsoft Office PowerPoint</Application>
  <PresentationFormat>Widescreen</PresentationFormat>
  <Paragraphs>239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xzeng3</cp:lastModifiedBy>
  <cp:revision>2</cp:revision>
  <dcterms:created xsi:type="dcterms:W3CDTF">2013-01-27T09:14:16Z</dcterms:created>
  <dcterms:modified xsi:type="dcterms:W3CDTF">2026-09-18T03:09:51Z</dcterms:modified>
  <cp:category/>
</cp:coreProperties>
</file>