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70" r:id="rId14"/>
    <p:sldId id="271" r:id="rId15"/>
    <p:sldId id="27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3251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Group 7 is set on this slide and in the filename, as the assignment requires in both places. Verify it against groups_from_Zaretzki.xlsx once before submitting.</a:t>
            </a:r>
          </a:p>
          <a:p>
            <a:endParaRPr/>
          </a:p>
          <a:p>
            <a:r>
              <a:t>Opening line: 'We trained a 3-hidden-layer sigmoid network incrementally on 500,000 records, never holding more than one 32-row mini-batch in the training step, and reached a test R-squared of 0.5356 — well above the 0.3744 a linear regression achieves on the same split.'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exists so the grader can see at a glance that nothing was missed. Keep it — it costs 20 seconds to present and removes all doubt.</a:t>
            </a:r>
          </a:p>
          <a:p>
            <a:endParaRPr/>
          </a:p>
          <a:p>
            <a:r>
              <a:t>Two rows are not green yet:</a:t>
            </a:r>
          </a:p>
          <a:p>
            <a:r>
              <a:t>1. Partial dependence plots — make_pdp.py is written and ready; someone must run it and paste the output onto slides 11-12.</a:t>
            </a:r>
          </a:p>
          <a:p>
            <a:r>
              <a:t>2. Group ID — must be fixed on slide 1 and in the filename.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facts are likely Test 1 material.</a:t>
            </a:r>
          </a:p>
          <a:p>
            <a:endParaRPr/>
          </a:p>
          <a:p>
            <a:r>
              <a:t>The variance point defines the baseline: R² = 0 is not 'no information', it is exactly the performance of always predicting the mean.</a:t>
            </a:r>
          </a:p>
          <a:p>
            <a:endParaRPr/>
          </a:p>
          <a:p>
            <a:r>
              <a:t>The sorting point is the subtle one. In ordinary batch training, row order is irrelevant. In INCREMENTAL training it matters enormously: gradient updates are sequential, so sorted data means thousands of consecutive updates all pulled in the same direction, and the model partially forgets early blocks. Shuffling before batching is what makes sequential updates approximate the full-data gradient.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conceptual core of the assignment, so present it properly rather than rushing to the results.</a:t>
            </a:r>
          </a:p>
          <a:p>
            <a:endParaRPr/>
          </a:p>
          <a:p>
            <a:r>
              <a:t>The honest caveat, and say it out loud: our 18 MB file fits in RAM easily, so we did not STRICTLY need incremental learning here. What we built is code whose memory footprint is independent of dataset size — the evidence is on slide 13, where RAM stays flat across all 12,500 updates.</a:t>
            </a:r>
          </a:p>
          <a:p>
            <a:endParaRPr/>
          </a:p>
          <a:p>
            <a:r>
              <a:t>Likely Test 1 question: 'Why is a noisy loss curve expected under incremental learning?' Because each update uses a 32-row gradient estimate, not the full-data gradient. Individual batches vary wildly; only the moving average reveals the trend.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able to derive the parameter count by hand — this is a classic pen-and-paper exam question. For a dense layer: (inputs × units) + units biases. 384 + 2,080 + 528 + 17 = 3,009.</a:t>
            </a:r>
          </a:p>
          <a:p>
            <a:endParaRPr/>
          </a:p>
          <a:p>
            <a:r>
              <a:t>If asked why the output has no activation: quantity is a continuous unbounded count. A sigmoid output would squash every prediction into [0,1], making it impossible to predict a mean of 22.8. The hidden layers use sigmoid for nonlinearity; the output must stay linear for regression.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the code, and expect to be asked to reproduce this loop on paper.</a:t>
            </a:r>
          </a:p>
          <a:p>
            <a:endParaRPr/>
          </a:p>
          <a:p>
            <a:r>
              <a:t>Know why the two scaling lines are there. The network trains on a standardised y, so train_on_batch returns a loss in standardised units. Multiplying by y_std squared converts it back to real quantity units, because MSE is an average of SQUARED errors and so scales by the square of the standard deviation (y_std = 49.8, so the factor is about 2,480). Predictions are converted back with unscale_predictions(pred, mean, std) = pred*std + mean before any R2 or MSE is computed. Forgetting either conversion makes every reported metric meaningless -- this is a likely exam trap.</a:t>
            </a:r>
          </a:p>
          <a:p>
            <a:endParaRPr/>
          </a:p>
          <a:p>
            <a:r>
              <a:t>State the limitation before the grader finds it. Our loop is incremental in LEARNING; ingestion still loads the file once. The fix is one keyword — chunksize — and the training loop body does not change at all. That is the real lesson: writing the loop this way means scaling to out-of-RAM data is a data-loader swap, not a rewrite.</a:t>
            </a:r>
          </a:p>
          <a:p>
            <a:endParaRPr/>
          </a:p>
          <a:p>
            <a:r>
              <a:t>Key distinction to have ready: train_on_batch = one gradient step on the rows you pass. .fit() = the framework's own loop over the whole array, with epochs and shuffling handled internally.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scaler point is the single most common leakage mistake in applied ML, so state it explicitly — it is free credit.</a:t>
            </a:r>
          </a:p>
          <a:p>
            <a:endParaRPr/>
          </a:p>
          <a:p>
            <a:r>
              <a:t>If asked why standardising matters especially for sigmoid: sigmoid saturates for |z| beyond about 5. Raw sku values in the tens of thousands would drive every hidden unit straight into saturation where the derivative is effectively zero, and nothing would learn. Standardising centres inputs near 0 where the sigmoid gradient is largest.</a:t>
            </a:r>
          </a:p>
          <a:p>
            <a:endParaRPr/>
          </a:p>
          <a:p>
            <a:r>
              <a:t>Be ready to concede the categorical point: standardising an integer code treats category 7 as 'more than' category 3. One-hot encoding would be the correct treatment.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Lead with the comparison, not the raw number. 0.5356 means nothing in isolation; 0.5356 against a 0.3744 linear baseline on the same split is a real result.</a:t>
            </a:r>
          </a:p>
          <a:p>
            <a:endParaRPr/>
          </a:p>
          <a:p>
            <a:r>
              <a:t>Be careful how you describe the zero train-test gap. It is genuinely good news about overfitting, but it is NOT evidence of a well-tuned model. A model that has barely learned generalises perfectly because it is equally mediocre everywhere. Ours is underfit-but-honest: one epoch, sigmoid-throttled gradients, tiny parameter count.</a:t>
            </a:r>
          </a:p>
          <a:p>
            <a:endParaRPr/>
          </a:p>
          <a:p>
            <a:r>
              <a:t>Be able to state in words what R² = 0.5356 means: the model's squared errors are 53.6% smaller than those of always predicting the mean quantity. R² = 0 equals the mean predictor; R² can go negative for a model worse than that.</a:t>
            </a:r>
          </a:p>
          <a:p>
            <a:endParaRPr/>
          </a:p>
          <a:p>
            <a:r>
              <a:t>Have the diagnostic story ready, because it is the strongest thing on this slide. Our first working run scored 0.3235 -- BELOW the 0.3744 linear baseline. We diagnosed why: the features were standardised but the target was not (mean 23, std 51, max 4,165), so the network was asked to emit large numbers from inputs near zero. That forces large gradients, which drive the sigmoid units into saturation where the derivative collapses toward zero, and learning stalls. Standardising y took us from 0.35 to 0.52; raising the learning rate to 0.005 added the rest. That is a measured diagnosis, not a lucky rerun.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noise before anyone asks — it is expected, not a bug. Each plotted value comes from a 32-row batch, so its variance is high by construction. That is exactly why the assignment asks for a MOVING AVERAGE rather than raw per-batch MSE.</a:t>
            </a:r>
          </a:p>
          <a:p>
            <a:endParaRPr/>
          </a:p>
          <a:p>
            <a:r>
              <a:t>Honest reading of the shape: the curve declines then plateaus, and the final third is slightly WORSE than the middle third (1,286.7 vs 1,232.7). We are bouncing around a noise floor rather than still descending — the model has extracted what one sigmoid pass can extract. A second epoch, or relu, would push it lower.</a:t>
            </a:r>
          </a:p>
          <a:p>
            <a:endParaRPr/>
          </a:p>
          <a:p>
            <a:r>
              <a:t>Do not describe individual spikes as instability. A spike means that batch contained unusually large quantity values; quantity has a standard deviation of 49.8 against a mean of 22.8, so heavy-tailed batches are common.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permutation importance in one sentence before showing numbers: break the link between one feature and the target by shuffling it, then see how much predictive performance you lose.</a:t>
            </a:r>
          </a:p>
          <a:p>
            <a:endParaRPr/>
          </a:p>
          <a:p>
            <a:r>
              <a:t>Why importance can exceed 1.0: R² falls from 0.5356 to roughly minus 0.43 when duration is shuffled, and 0.5356 - (-0.435) = 0.97. A shuffled feature is actively misleading, not merely uninformative, so the model ends up worse than the mean predictor. Expect this question.</a:t>
            </a:r>
          </a:p>
          <a:p>
            <a:endParaRPr/>
          </a:p>
          <a:p>
            <a:r>
              <a:t>sku at 0.0029 is worth a remark: with tens of thousands of integer-coded sku values, standardised into a single continuous column, there is almost nothing a small network can extract. That is a consequence of our encoding choice, not proof that sku is irrelevant.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number that proves the point is the 6.5 MB drift across 12,500 updates. Constant memory while consuming 400,000 records is exactly the property incremental learning is supposed to deliver.</a:t>
            </a:r>
          </a:p>
          <a:p>
            <a:endParaRPr/>
          </a:p>
          <a:p>
            <a:r>
              <a:t>Do not hide the 553 MB figure — explain it. It is the evaluation step calling predict() on 400,000 rows in one shot, which allocates a big output array. It happens after the training loop has finished, so it says nothing about the loop's memory behaviour, and it too could be batched.</a:t>
            </a:r>
          </a:p>
          <a:p>
            <a:endParaRPr/>
          </a:p>
          <a:p>
            <a:r>
              <a:t>Expected question: 'Your file is only 18 MB — why does any of this matter?' Answer: because the footprint of the training LOOP is set by batch size, not dataset size. The same loop handles a 50 GB file once the reader is chunked. We demonstrated the property on data small enough to verify.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Convert the time into something meaningful rather than just reporting 45 seconds: 8,900 records per second, so roughly 19 minutes for 10 million records and 3 hours for 100 million, with memory staying flat the whole way.</a:t>
            </a:r>
          </a:p>
          <a:p>
            <a:endParaRPr/>
          </a:p>
          <a:p>
            <a:r>
              <a:t>Have the insight ready that 3.6 ms per batch is overhead-bound, not compute-bound. 32 rows through 3,009 parameters is a tiny matrix multiplication; almost all of the 3.6 ms is the fixed cost of a Python-to-TensorFlow call. This is why batch size 32 is slow per record and why larger batches scale better.</a:t>
            </a:r>
          </a:p>
          <a:p>
            <a:endParaRPr/>
          </a:p>
          <a:p>
            <a:r>
              <a:t>Timing was captured with time.time() around the loop only, so it excludes data loading and final evaluation. Both are listed separately in the table.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that demonstrates understanding rather than just output, so do not skip it under time pressure. Graders reward a team that names its own weaknesses.</a:t>
            </a:r>
          </a:p>
          <a:p>
            <a:endParaRPr/>
          </a:p>
          <a:p>
            <a:r>
              <a:t>On the sigmoid gradient point, be precise if pushed. The sigmoid derivative is sigma(z)(1-sigma(z)), which peaks at 0.25 when z = 0. Three stacked sigmoid layers multiply at most 0.25 x 0.25 x 0.25, roughly 0.016, into the gradient reaching the first hidden layer, and in practice far less because the peak is only attained at z = 0. Adam partially compensates by rescaling per-parameter steps, so the practical damage is less than the raw ratio suggests — but the first layer still learns from a signal close to the batch noise floor, and with one epoch there is no time to recover.</a:t>
            </a:r>
          </a:p>
          <a:p>
            <a:endParaRPr/>
          </a:p>
          <a:p>
            <a:r>
              <a:t>On reproducibility: only train_test_split is seeded. Keras weight initialisation is not, so two runs of identical code give slightly different R². The fix is one line: tf.random.set_seed(42).</a:t>
            </a:r>
          </a:p>
          <a:p>
            <a:endParaRPr/>
          </a:p>
          <a:p>
            <a:r>
              <a:t>Do NOT attribute the jump from an earlier 0.3235 to random variation — that would be wrong and is an easy question to get caught on. 0.3235 came from the earlier version of the code, which trained on the RAW target. Two deliberate changes produced 0.5356: standardising y (R² 0.35 → 0.52, the decisive one) and then raising the learning rate from 0.001 to 0.005 (0.519 → 0.532). Both are recorded as comments in data_handler.py and config.py. Seeding only affects the last decimal place, not a 0.21 swing.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assignment explicitly requires a statement of who did what, so this slide is graded — do not compress it.</a:t>
            </a:r>
          </a:p>
          <a:p>
            <a:endParaRPr/>
          </a:p>
          <a:p>
            <a:r>
              <a:t>ACTION: verify each description with the person named before submitting, and add last names if the grader needs them to match the roster.</a:t>
            </a:r>
          </a:p>
          <a:p>
            <a:endParaRPr/>
          </a:p>
          <a:p>
            <a:r>
              <a:t>If asked, be able to say that every member can explain the whole pipeline, not only their own part — that is the stated objective of the assignment and likely Test 1 material.</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slide hidden unless a question needs it.</a:t>
            </a:r>
          </a:p>
          <a:p>
            <a:endParaRPr/>
          </a:p>
          <a:p>
            <a:r>
              <a:t>The first-vs-last-batch warning matters. metrics.csv genuinely contains a last-batch MSE (1,747) higher than the first (455), and if someone quotes those two numbers it looks like training made things worse. It did not — those are single 32-row samples from a distribution with enormous variance. The defensible statement is the moving average falling from 1,513 to 1,233, plus test R² of 0.5356 against a linear baseline of 0.3744.</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65176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66928"/>
            <a:ext cx="10607040" cy="457200"/>
          </a:xfrm>
          <a:prstGeom prst="rect">
            <a:avLst/>
          </a:prstGeom>
          <a:noFill/>
        </p:spPr>
        <p:txBody>
          <a:bodyPr wrap="square" lIns="27432" tIns="0" rIns="27432" bIns="0">
            <a:spAutoFit/>
          </a:bodyPr>
          <a:lstStyle/>
          <a:p>
            <a:pPr algn="l">
              <a:spcAft>
                <a:spcPts val="600"/>
              </a:spcAft>
            </a:pPr>
            <a:r>
              <a:rPr sz="1500" b="1">
                <a:solidFill>
                  <a:srgbClr val="8FC4EE"/>
                </a:solidFill>
                <a:latin typeface="Calibri"/>
              </a:rPr>
              <a:t>BZAN 554  ·  GROUP ASSIGNMENT 1</a:t>
            </a:r>
          </a:p>
        </p:txBody>
      </p:sp>
      <p:sp>
        <p:nvSpPr>
          <p:cNvPr id="4" name="TextBox 3"/>
          <p:cNvSpPr txBox="1"/>
          <p:nvPr/>
        </p:nvSpPr>
        <p:spPr>
          <a:xfrm>
            <a:off x="777240" y="1024128"/>
            <a:ext cx="10607040" cy="822960"/>
          </a:xfrm>
          <a:prstGeom prst="rect">
            <a:avLst/>
          </a:prstGeom>
          <a:noFill/>
        </p:spPr>
        <p:txBody>
          <a:bodyPr wrap="square" lIns="27432" tIns="0" rIns="27432" bIns="0">
            <a:spAutoFit/>
          </a:bodyPr>
          <a:lstStyle/>
          <a:p>
            <a:pPr algn="l">
              <a:spcAft>
                <a:spcPts val="600"/>
              </a:spcAft>
            </a:pPr>
            <a:r>
              <a:rPr sz="4000" b="1">
                <a:solidFill>
                  <a:srgbClr val="FFFFFF"/>
                </a:solidFill>
                <a:latin typeface="Calibri"/>
              </a:rPr>
              <a:t>Incremental Learning on Large Data</a:t>
            </a:r>
          </a:p>
        </p:txBody>
      </p:sp>
      <p:sp>
        <p:nvSpPr>
          <p:cNvPr id="5" name="TextBox 4"/>
          <p:cNvSpPr txBox="1"/>
          <p:nvPr/>
        </p:nvSpPr>
        <p:spPr>
          <a:xfrm>
            <a:off x="777240" y="1874519"/>
            <a:ext cx="10607040" cy="457200"/>
          </a:xfrm>
          <a:prstGeom prst="rect">
            <a:avLst/>
          </a:prstGeom>
          <a:noFill/>
        </p:spPr>
        <p:txBody>
          <a:bodyPr wrap="square" lIns="27432" tIns="0" rIns="27432" bIns="0">
            <a:spAutoFit/>
          </a:bodyPr>
          <a:lstStyle/>
          <a:p>
            <a:pPr algn="l">
              <a:spcAft>
                <a:spcPts val="600"/>
              </a:spcAft>
            </a:pPr>
            <a:r>
              <a:rPr sz="1500" b="0">
                <a:solidFill>
                  <a:srgbClr val="C9DDEE"/>
                </a:solidFill>
                <a:latin typeface="Calibri"/>
              </a:rPr>
              <a:t>A feed-forward neural network trained one mini-batch at a time to predict quantity sold</a:t>
            </a:r>
          </a:p>
        </p:txBody>
      </p:sp>
      <p:sp>
        <p:nvSpPr>
          <p:cNvPr id="6" name="Rounded Rectangle 5"/>
          <p:cNvSpPr/>
          <p:nvPr/>
        </p:nvSpPr>
        <p:spPr>
          <a:xfrm>
            <a:off x="777240" y="3017520"/>
            <a:ext cx="4572000" cy="868680"/>
          </a:xfrm>
          <a:prstGeom prst="roundRect">
            <a:avLst/>
          </a:prstGeom>
          <a:solidFill>
            <a:srgbClr val="FFF3D6"/>
          </a:solidFill>
          <a:ln w="15875">
            <a:solidFill>
              <a:srgbClr val="B06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60120" y="3154680"/>
            <a:ext cx="4206240" cy="274320"/>
          </a:xfrm>
          <a:prstGeom prst="rect">
            <a:avLst/>
          </a:prstGeom>
          <a:noFill/>
        </p:spPr>
        <p:txBody>
          <a:bodyPr wrap="square" lIns="27432" tIns="0" rIns="27432" bIns="0">
            <a:spAutoFit/>
          </a:bodyPr>
          <a:lstStyle/>
          <a:p>
            <a:pPr algn="l">
              <a:spcAft>
                <a:spcPts val="600"/>
              </a:spcAft>
            </a:pPr>
            <a:r>
              <a:rPr sz="1100" b="1">
                <a:solidFill>
                  <a:srgbClr val="B06A00"/>
                </a:solidFill>
                <a:latin typeface="Calibri"/>
              </a:rPr>
              <a:t>GROUP ID</a:t>
            </a:r>
          </a:p>
        </p:txBody>
      </p:sp>
      <p:sp>
        <p:nvSpPr>
          <p:cNvPr id="8" name="TextBox 7"/>
          <p:cNvSpPr txBox="1"/>
          <p:nvPr/>
        </p:nvSpPr>
        <p:spPr>
          <a:xfrm>
            <a:off x="960120" y="3401568"/>
            <a:ext cx="4206240" cy="411480"/>
          </a:xfrm>
          <a:prstGeom prst="rect">
            <a:avLst/>
          </a:prstGeom>
          <a:noFill/>
        </p:spPr>
        <p:txBody>
          <a:bodyPr wrap="square" lIns="27432" tIns="0" rIns="27432" bIns="0">
            <a:spAutoFit/>
          </a:bodyPr>
          <a:lstStyle/>
          <a:p>
            <a:pPr algn="l">
              <a:spcAft>
                <a:spcPts val="600"/>
              </a:spcAft>
            </a:pPr>
            <a:r>
              <a:rPr sz="1700" b="1">
                <a:solidFill>
                  <a:srgbClr val="0E2A47"/>
                </a:solidFill>
                <a:latin typeface="Calibri"/>
              </a:rPr>
              <a:t>GROUP 7</a:t>
            </a:r>
          </a:p>
        </p:txBody>
      </p:sp>
      <p:sp>
        <p:nvSpPr>
          <p:cNvPr id="9" name="Rounded Rectangle 8"/>
          <p:cNvSpPr/>
          <p:nvPr/>
        </p:nvSpPr>
        <p:spPr>
          <a:xfrm>
            <a:off x="5760720" y="3017520"/>
            <a:ext cx="5669280" cy="86868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989320" y="3154680"/>
            <a:ext cx="5303520" cy="274320"/>
          </a:xfrm>
          <a:prstGeom prst="rect">
            <a:avLst/>
          </a:prstGeom>
          <a:noFill/>
        </p:spPr>
        <p:txBody>
          <a:bodyPr wrap="square" lIns="27432" tIns="0" rIns="27432" bIns="0">
            <a:spAutoFit/>
          </a:bodyPr>
          <a:lstStyle/>
          <a:p>
            <a:pPr algn="l">
              <a:spcAft>
                <a:spcPts val="600"/>
              </a:spcAft>
            </a:pPr>
            <a:r>
              <a:rPr sz="1100" b="1">
                <a:solidFill>
                  <a:srgbClr val="5A636B"/>
                </a:solidFill>
                <a:latin typeface="Calibri"/>
              </a:rPr>
              <a:t>TEAM MEMBERS</a:t>
            </a:r>
          </a:p>
        </p:txBody>
      </p:sp>
      <p:sp>
        <p:nvSpPr>
          <p:cNvPr id="11" name="TextBox 10"/>
          <p:cNvSpPr txBox="1"/>
          <p:nvPr/>
        </p:nvSpPr>
        <p:spPr>
          <a:xfrm>
            <a:off x="5989320" y="3401568"/>
            <a:ext cx="5303520" cy="261610"/>
          </a:xfrm>
          <a:prstGeom prst="rect">
            <a:avLst/>
          </a:prstGeom>
          <a:noFill/>
        </p:spPr>
        <p:txBody>
          <a:bodyPr wrap="square" lIns="27432" tIns="0" rIns="27432" bIns="0">
            <a:spAutoFit/>
          </a:bodyPr>
          <a:lstStyle/>
          <a:p>
            <a:pPr algn="l">
              <a:spcAft>
                <a:spcPts val="600"/>
              </a:spcAft>
            </a:pPr>
            <a:r>
              <a:rPr sz="1700" b="1" dirty="0">
                <a:solidFill>
                  <a:srgbClr val="0E2A47"/>
                </a:solidFill>
                <a:latin typeface="Calibri"/>
              </a:rPr>
              <a:t>Ansley</a:t>
            </a:r>
            <a:r>
              <a:rPr lang="en-US" sz="1700" b="1" dirty="0">
                <a:solidFill>
                  <a:srgbClr val="0E2A47"/>
                </a:solidFill>
                <a:latin typeface="Calibri"/>
              </a:rPr>
              <a:t> Smith</a:t>
            </a:r>
            <a:r>
              <a:rPr sz="1700" b="1" dirty="0">
                <a:solidFill>
                  <a:srgbClr val="0E2A47"/>
                </a:solidFill>
                <a:latin typeface="Calibri"/>
              </a:rPr>
              <a:t>  ·  Rebecca  ·  Ximin</a:t>
            </a:r>
            <a:r>
              <a:rPr lang="en-US" sz="1700" b="1" dirty="0">
                <a:solidFill>
                  <a:srgbClr val="0E2A47"/>
                </a:solidFill>
                <a:latin typeface="Calibri"/>
              </a:rPr>
              <a:t> Zeng</a:t>
            </a:r>
            <a:endParaRPr sz="1700" b="1" dirty="0">
              <a:solidFill>
                <a:srgbClr val="0E2A47"/>
              </a:solidFill>
              <a:latin typeface="Calibri"/>
            </a:endParaRPr>
          </a:p>
        </p:txBody>
      </p:sp>
      <p:graphicFrame>
        <p:nvGraphicFramePr>
          <p:cNvPr id="12" name="Table 11"/>
          <p:cNvGraphicFramePr>
            <a:graphicFrameLocks noGrp="1"/>
          </p:cNvGraphicFramePr>
          <p:nvPr/>
        </p:nvGraphicFramePr>
        <p:xfrm>
          <a:off x="777240" y="4251960"/>
          <a:ext cx="10652760" cy="822960"/>
        </p:xfrm>
        <a:graphic>
          <a:graphicData uri="http://schemas.openxmlformats.org/drawingml/2006/table">
            <a:tbl>
              <a:tblPr firstRow="1" bandRow="1">
                <a:tableStyleId>{5C22544A-7EE6-4342-B048-85BDC9FD1C3A}</a:tableStyleId>
              </a:tblPr>
              <a:tblGrid>
                <a:gridCol w="2130552">
                  <a:extLst>
                    <a:ext uri="{9D8B030D-6E8A-4147-A177-3AD203B41FA5}">
                      <a16:colId xmlns:a16="http://schemas.microsoft.com/office/drawing/2014/main" val="20000"/>
                    </a:ext>
                  </a:extLst>
                </a:gridCol>
                <a:gridCol w="2130552">
                  <a:extLst>
                    <a:ext uri="{9D8B030D-6E8A-4147-A177-3AD203B41FA5}">
                      <a16:colId xmlns:a16="http://schemas.microsoft.com/office/drawing/2014/main" val="20001"/>
                    </a:ext>
                  </a:extLst>
                </a:gridCol>
                <a:gridCol w="2130552">
                  <a:extLst>
                    <a:ext uri="{9D8B030D-6E8A-4147-A177-3AD203B41FA5}">
                      <a16:colId xmlns:a16="http://schemas.microsoft.com/office/drawing/2014/main" val="20002"/>
                    </a:ext>
                  </a:extLst>
                </a:gridCol>
                <a:gridCol w="2130552">
                  <a:extLst>
                    <a:ext uri="{9D8B030D-6E8A-4147-A177-3AD203B41FA5}">
                      <a16:colId xmlns:a16="http://schemas.microsoft.com/office/drawing/2014/main" val="20003"/>
                    </a:ext>
                  </a:extLst>
                </a:gridCol>
                <a:gridCol w="2130552">
                  <a:extLst>
                    <a:ext uri="{9D8B030D-6E8A-4147-A177-3AD203B41FA5}">
                      <a16:colId xmlns:a16="http://schemas.microsoft.com/office/drawing/2014/main" val="20004"/>
                    </a:ext>
                  </a:extLst>
                </a:gridCol>
              </a:tblGrid>
              <a:tr h="411480">
                <a:tc>
                  <a:txBody>
                    <a:bodyPr/>
                    <a:lstStyle/>
                    <a:p>
                      <a:r>
                        <a:rPr sz="1200" b="1">
                          <a:solidFill>
                            <a:srgbClr val="FFFFFF"/>
                          </a:solidFill>
                          <a:latin typeface="Calibri"/>
                        </a:rPr>
                        <a:t>Test R²</a:t>
                      </a:r>
                    </a:p>
                  </a:txBody>
                  <a:tcPr marL="73152" marR="54864" marT="18288" marB="18288" anchor="ctr">
                    <a:solidFill>
                      <a:srgbClr val="0E2A47"/>
                    </a:solidFill>
                  </a:tcPr>
                </a:tc>
                <a:tc>
                  <a:txBody>
                    <a:bodyPr/>
                    <a:lstStyle/>
                    <a:p>
                      <a:r>
                        <a:rPr sz="1200" b="1">
                          <a:solidFill>
                            <a:srgbClr val="FFFFFF"/>
                          </a:solidFill>
                          <a:latin typeface="Calibri"/>
                        </a:rPr>
                        <a:t>Training R²</a:t>
                      </a:r>
                    </a:p>
                  </a:txBody>
                  <a:tcPr marL="73152" marR="54864" marT="18288" marB="18288" anchor="ctr">
                    <a:solidFill>
                      <a:srgbClr val="0E2A47"/>
                    </a:solidFill>
                  </a:tcPr>
                </a:tc>
                <a:tc>
                  <a:txBody>
                    <a:bodyPr/>
                    <a:lstStyle/>
                    <a:p>
                      <a:r>
                        <a:rPr sz="1200" b="1">
                          <a:solidFill>
                            <a:srgbClr val="FFFFFF"/>
                          </a:solidFill>
                          <a:latin typeface="Calibri"/>
                        </a:rPr>
                        <a:t>Training time</a:t>
                      </a:r>
                    </a:p>
                  </a:txBody>
                  <a:tcPr marL="73152" marR="54864" marT="18288" marB="18288" anchor="ctr">
                    <a:solidFill>
                      <a:srgbClr val="0E2A47"/>
                    </a:solidFill>
                  </a:tcPr>
                </a:tc>
                <a:tc>
                  <a:txBody>
                    <a:bodyPr/>
                    <a:lstStyle/>
                    <a:p>
                      <a:r>
                        <a:rPr sz="1200" b="1">
                          <a:solidFill>
                            <a:srgbClr val="FFFFFF"/>
                          </a:solidFill>
                          <a:latin typeface="Calibri"/>
                        </a:rPr>
                        <a:t>Peak RAM (training)</a:t>
                      </a:r>
                    </a:p>
                  </a:txBody>
                  <a:tcPr marL="73152" marR="54864" marT="18288" marB="18288" anchor="ctr">
                    <a:solidFill>
                      <a:srgbClr val="0E2A47"/>
                    </a:solidFill>
                  </a:tcPr>
                </a:tc>
                <a:tc>
                  <a:txBody>
                    <a:bodyPr/>
                    <a:lstStyle/>
                    <a:p>
                      <a:r>
                        <a:rPr sz="1200" b="1">
                          <a:solidFill>
                            <a:srgbClr val="FFFFFF"/>
                          </a:solidFill>
                          <a:latin typeface="Calibri"/>
                        </a:rPr>
                        <a:t>Records learned</a:t>
                      </a:r>
                    </a:p>
                  </a:txBody>
                  <a:tcPr marL="73152" marR="54864" marT="18288" marB="18288" anchor="ctr">
                    <a:solidFill>
                      <a:srgbClr val="0E2A47"/>
                    </a:solidFill>
                  </a:tcPr>
                </a:tc>
                <a:extLst>
                  <a:ext uri="{0D108BD9-81ED-4DB2-BD59-A6C34878D82A}">
                    <a16:rowId xmlns:a16="http://schemas.microsoft.com/office/drawing/2014/main" val="10000"/>
                  </a:ext>
                </a:extLst>
              </a:tr>
              <a:tr h="411480">
                <a:tc>
                  <a:txBody>
                    <a:bodyPr/>
                    <a:lstStyle/>
                    <a:p>
                      <a:r>
                        <a:rPr sz="1700" b="0">
                          <a:solidFill>
                            <a:srgbClr val="0E2A47"/>
                          </a:solidFill>
                          <a:latin typeface="Calibri"/>
                        </a:rPr>
                        <a:t>0.5356</a:t>
                      </a:r>
                    </a:p>
                  </a:txBody>
                  <a:tcPr marL="73152" marR="54864" marT="18288" marB="18288" anchor="ctr">
                    <a:solidFill>
                      <a:srgbClr val="FFFFFF"/>
                    </a:solidFill>
                  </a:tcPr>
                </a:tc>
                <a:tc>
                  <a:txBody>
                    <a:bodyPr/>
                    <a:lstStyle/>
                    <a:p>
                      <a:r>
                        <a:rPr sz="1700" b="0">
                          <a:solidFill>
                            <a:srgbClr val="0E2A47"/>
                          </a:solidFill>
                          <a:latin typeface="Calibri"/>
                        </a:rPr>
                        <a:t>0.5362</a:t>
                      </a:r>
                    </a:p>
                  </a:txBody>
                  <a:tcPr marL="73152" marR="54864" marT="18288" marB="18288" anchor="ctr">
                    <a:solidFill>
                      <a:srgbClr val="FFFFFF"/>
                    </a:solidFill>
                  </a:tcPr>
                </a:tc>
                <a:tc>
                  <a:txBody>
                    <a:bodyPr/>
                    <a:lstStyle/>
                    <a:p>
                      <a:r>
                        <a:rPr sz="1700" b="0">
                          <a:solidFill>
                            <a:srgbClr val="0E2A47"/>
                          </a:solidFill>
                          <a:latin typeface="Calibri"/>
                        </a:rPr>
                        <a:t>44.96 s</a:t>
                      </a:r>
                    </a:p>
                  </a:txBody>
                  <a:tcPr marL="73152" marR="54864" marT="18288" marB="18288" anchor="ctr">
                    <a:solidFill>
                      <a:srgbClr val="FFFFFF"/>
                    </a:solidFill>
                  </a:tcPr>
                </a:tc>
                <a:tc>
                  <a:txBody>
                    <a:bodyPr/>
                    <a:lstStyle/>
                    <a:p>
                      <a:r>
                        <a:rPr sz="1700" b="0">
                          <a:solidFill>
                            <a:srgbClr val="0E2A47"/>
                          </a:solidFill>
                          <a:latin typeface="Calibri"/>
                        </a:rPr>
                        <a:t>424 MB</a:t>
                      </a:r>
                    </a:p>
                  </a:txBody>
                  <a:tcPr marL="73152" marR="54864" marT="18288" marB="18288" anchor="ctr">
                    <a:solidFill>
                      <a:srgbClr val="FFFFFF"/>
                    </a:solidFill>
                  </a:tcPr>
                </a:tc>
                <a:tc>
                  <a:txBody>
                    <a:bodyPr/>
                    <a:lstStyle/>
                    <a:p>
                      <a:r>
                        <a:rPr sz="1700" b="0">
                          <a:solidFill>
                            <a:srgbClr val="0E2A47"/>
                          </a:solidFill>
                          <a:latin typeface="Calibri"/>
                        </a:rPr>
                        <a:t>400,000</a:t>
                      </a:r>
                    </a:p>
                  </a:txBody>
                  <a:tcPr marL="73152" marR="54864" marT="18288" marB="18288" anchor="ctr">
                    <a:solidFill>
                      <a:srgbClr val="FFFFFF"/>
                    </a:solidFill>
                  </a:tcPr>
                </a:tc>
                <a:extLst>
                  <a:ext uri="{0D108BD9-81ED-4DB2-BD59-A6C34878D82A}">
                    <a16:rowId xmlns:a16="http://schemas.microsoft.com/office/drawing/2014/main" val="10001"/>
                  </a:ext>
                </a:extLst>
              </a:tr>
            </a:tbl>
          </a:graphicData>
        </a:graphic>
      </p:graphicFrame>
      <p:sp>
        <p:nvSpPr>
          <p:cNvPr id="13" name="TextBox 12"/>
          <p:cNvSpPr txBox="1"/>
          <p:nvPr/>
        </p:nvSpPr>
        <p:spPr>
          <a:xfrm>
            <a:off x="777240" y="5440680"/>
            <a:ext cx="10652760" cy="365760"/>
          </a:xfrm>
          <a:prstGeom prst="rect">
            <a:avLst/>
          </a:prstGeom>
          <a:noFill/>
        </p:spPr>
        <p:txBody>
          <a:bodyPr wrap="square" lIns="27432" tIns="0" rIns="27432" bIns="0">
            <a:spAutoFit/>
          </a:bodyPr>
          <a:lstStyle/>
          <a:p>
            <a:pPr algn="l">
              <a:spcAft>
                <a:spcPts val="600"/>
              </a:spcAft>
            </a:pPr>
            <a:r>
              <a:rPr sz="1200" b="0">
                <a:solidFill>
                  <a:srgbClr val="5A636B"/>
                </a:solidFill>
                <a:latin typeface="Calibri"/>
              </a:rPr>
              <a:t>Model: 5 inputs → 64 → 32 → 16 sigmoid hidden layers → 1 linear output  ·  3,009 parameters  ·  trained incrementally via train_on_batch over 12,500 mini-batches of 32</a:t>
            </a:r>
          </a:p>
        </p:txBody>
      </p:sp>
      <p:sp>
        <p:nvSpPr>
          <p:cNvPr id="14" name="TextBox 13"/>
          <p:cNvSpPr txBox="1"/>
          <p:nvPr/>
        </p:nvSpPr>
        <p:spPr>
          <a:xfrm>
            <a:off x="777240" y="5943600"/>
            <a:ext cx="10652760" cy="365760"/>
          </a:xfrm>
          <a:prstGeom prst="rect">
            <a:avLst/>
          </a:prstGeom>
          <a:noFill/>
        </p:spPr>
        <p:txBody>
          <a:bodyPr wrap="square" lIns="27432" tIns="0" rIns="27432" bIns="0">
            <a:spAutoFit/>
          </a:bodyPr>
          <a:lstStyle/>
          <a:p>
            <a:pPr algn="l">
              <a:spcAft>
                <a:spcPts val="600"/>
              </a:spcAft>
            </a:pPr>
            <a:r>
              <a:rPr sz="1200" b="0">
                <a:solidFill>
                  <a:srgbClr val="5A636B"/>
                </a:solidFill>
                <a:latin typeface="Calibri"/>
              </a:rPr>
              <a:t>Data: pricing.csv — 500,000 records × 6 columns (confidential)  ·  80/20 train/test split, seed 42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9692640" cy="548640"/>
          </a:xfrm>
          <a:prstGeom prst="rect">
            <a:avLst/>
          </a:prstGeom>
          <a:noFill/>
        </p:spPr>
        <p:txBody>
          <a:bodyPr wrap="square" lIns="27432" tIns="0" rIns="27432" bIns="0">
            <a:spAutoFit/>
          </a:bodyPr>
          <a:lstStyle/>
          <a:p>
            <a:pPr algn="l">
              <a:spcAft>
                <a:spcPts val="600"/>
              </a:spcAft>
            </a:pPr>
            <a:r>
              <a:rPr sz="2700" b="1">
                <a:solidFill>
                  <a:srgbClr val="0E2A47"/>
                </a:solidFill>
                <a:latin typeface="Calibri"/>
              </a:rPr>
              <a:t>What the assignment asked for — and where it is</a:t>
            </a:r>
          </a:p>
        </p:txBody>
      </p:sp>
      <p:sp>
        <p:nvSpPr>
          <p:cNvPr id="4" name="TextBox 3"/>
          <p:cNvSpPr txBox="1"/>
          <p:nvPr/>
        </p:nvSpPr>
        <p:spPr>
          <a:xfrm>
            <a:off x="530352" y="841248"/>
            <a:ext cx="10241280" cy="365760"/>
          </a:xfrm>
          <a:prstGeom prst="rect">
            <a:avLst/>
          </a:prstGeom>
          <a:noFill/>
        </p:spPr>
        <p:txBody>
          <a:bodyPr wrap="square" lIns="27432" tIns="0" rIns="27432" bIns="0">
            <a:spAutoFit/>
          </a:bodyPr>
          <a:lstStyle/>
          <a:p>
            <a:pPr algn="l">
              <a:spcAft>
                <a:spcPts val="600"/>
              </a:spcAft>
            </a:pPr>
            <a:r>
              <a:rPr sz="1300" b="0">
                <a:solidFill>
                  <a:srgbClr val="5A636B"/>
                </a:solidFill>
                <a:latin typeface="Calibri"/>
              </a:rPr>
              <a:t>Every required element, mapped to the slide that delivers it</a:t>
            </a:r>
          </a:p>
        </p:txBody>
      </p:sp>
      <p:graphicFrame>
        <p:nvGraphicFramePr>
          <p:cNvPr id="5" name="Table 4"/>
          <p:cNvGraphicFramePr>
            <a:graphicFrameLocks noGrp="1"/>
          </p:cNvGraphicFramePr>
          <p:nvPr/>
        </p:nvGraphicFramePr>
        <p:xfrm>
          <a:off x="548640" y="1325880"/>
          <a:ext cx="11064240" cy="4425696"/>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402336">
                <a:tc>
                  <a:txBody>
                    <a:bodyPr/>
                    <a:lstStyle/>
                    <a:p>
                      <a:r>
                        <a:rPr sz="1150" b="1">
                          <a:solidFill>
                            <a:srgbClr val="FFFFFF"/>
                          </a:solidFill>
                          <a:latin typeface="Calibri"/>
                        </a:rPr>
                        <a:t>Required element</a:t>
                      </a:r>
                    </a:p>
                  </a:txBody>
                  <a:tcPr marL="73152" marR="54864" marT="18288" marB="18288" anchor="ctr">
                    <a:solidFill>
                      <a:srgbClr val="0E2A47"/>
                    </a:solidFill>
                  </a:tcPr>
                </a:tc>
                <a:tc>
                  <a:txBody>
                    <a:bodyPr/>
                    <a:lstStyle/>
                    <a:p>
                      <a:r>
                        <a:rPr sz="1150" b="1">
                          <a:solidFill>
                            <a:srgbClr val="FFFFFF"/>
                          </a:solidFill>
                          <a:latin typeface="Calibri"/>
                        </a:rPr>
                        <a:t>Slide</a:t>
                      </a:r>
                    </a:p>
                  </a:txBody>
                  <a:tcPr marL="73152" marR="54864" marT="18288" marB="18288" anchor="ctr">
                    <a:solidFill>
                      <a:srgbClr val="0E2A47"/>
                    </a:solidFill>
                  </a:tcPr>
                </a:tc>
                <a:tc>
                  <a:txBody>
                    <a:bodyPr/>
                    <a:lstStyle/>
                    <a:p>
                      <a:r>
                        <a:rPr sz="1150" b="1">
                          <a:solidFill>
                            <a:srgbClr val="FFFFFF"/>
                          </a:solidFill>
                          <a:latin typeface="Calibri"/>
                        </a:rPr>
                        <a:t>Status</a:t>
                      </a:r>
                    </a:p>
                  </a:txBody>
                  <a:tcPr marL="73152" marR="54864" marT="18288" marB="18288" anchor="ctr">
                    <a:solidFill>
                      <a:srgbClr val="0E2A47"/>
                    </a:solidFill>
                  </a:tcPr>
                </a:tc>
                <a:extLst>
                  <a:ext uri="{0D108BD9-81ED-4DB2-BD59-A6C34878D82A}">
                    <a16:rowId xmlns:a16="http://schemas.microsoft.com/office/drawing/2014/main" val="10000"/>
                  </a:ext>
                </a:extLst>
              </a:tr>
              <a:tr h="402336">
                <a:tc>
                  <a:txBody>
                    <a:bodyPr/>
                    <a:lstStyle/>
                    <a:p>
                      <a:r>
                        <a:rPr sz="1100" b="0">
                          <a:solidFill>
                            <a:srgbClr val="0E2A47"/>
                          </a:solidFill>
                          <a:latin typeface="Calibri"/>
                        </a:rPr>
                        <a:t>R² on training set and on a test set we created</a:t>
                      </a:r>
                    </a:p>
                  </a:txBody>
                  <a:tcPr marL="73152" marR="54864" marT="18288" marB="18288" anchor="ctr">
                    <a:solidFill>
                      <a:srgbClr val="FFFFFF"/>
                    </a:solidFill>
                  </a:tcPr>
                </a:tc>
                <a:tc>
                  <a:txBody>
                    <a:bodyPr/>
                    <a:lstStyle/>
                    <a:p>
                      <a:r>
                        <a:rPr sz="1100" b="0">
                          <a:solidFill>
                            <a:srgbClr val="0E2A47"/>
                          </a:solidFill>
                          <a:latin typeface="Calibri"/>
                        </a:rPr>
                        <a:t>8</a:t>
                      </a:r>
                    </a:p>
                  </a:txBody>
                  <a:tcPr marL="73152" marR="54864" marT="18288" marB="18288" anchor="ctr">
                    <a:solidFill>
                      <a:srgbClr val="FFFFFF"/>
                    </a:solidFill>
                  </a:tcPr>
                </a:tc>
                <a:tc>
                  <a:txBody>
                    <a:bodyPr/>
                    <a:lstStyle/>
                    <a:p>
                      <a:r>
                        <a:rPr sz="1100" b="0">
                          <a:solidFill>
                            <a:srgbClr val="0E2A47"/>
                          </a:solidFill>
                          <a:latin typeface="Calibri"/>
                        </a:rPr>
                        <a:t>Done — 0.5362 train / 0.5356 test</a:t>
                      </a:r>
                    </a:p>
                  </a:txBody>
                  <a:tcPr marL="73152" marR="54864" marT="18288" marB="18288" anchor="ctr">
                    <a:solidFill>
                      <a:srgbClr val="FFFFFF"/>
                    </a:solidFill>
                  </a:tcPr>
                </a:tc>
                <a:extLst>
                  <a:ext uri="{0D108BD9-81ED-4DB2-BD59-A6C34878D82A}">
                    <a16:rowId xmlns:a16="http://schemas.microsoft.com/office/drawing/2014/main" val="10001"/>
                  </a:ext>
                </a:extLst>
              </a:tr>
              <a:tr h="402336">
                <a:tc>
                  <a:txBody>
                    <a:bodyPr/>
                    <a:lstStyle/>
                    <a:p>
                      <a:r>
                        <a:rPr sz="1100" b="0">
                          <a:solidFill>
                            <a:srgbClr val="0E2A47"/>
                          </a:solidFill>
                          <a:latin typeface="Calibri"/>
                        </a:rPr>
                        <a:t>Learning curve: instances learned vs. moving-average MSE</a:t>
                      </a:r>
                    </a:p>
                  </a:txBody>
                  <a:tcPr marL="73152" marR="54864" marT="18288" marB="18288" anchor="ctr">
                    <a:solidFill>
                      <a:srgbClr val="F2F4F7"/>
                    </a:solidFill>
                  </a:tcPr>
                </a:tc>
                <a:tc>
                  <a:txBody>
                    <a:bodyPr/>
                    <a:lstStyle/>
                    <a:p>
                      <a:r>
                        <a:rPr sz="1100" b="0">
                          <a:solidFill>
                            <a:srgbClr val="0E2A47"/>
                          </a:solidFill>
                          <a:latin typeface="Calibri"/>
                        </a:rPr>
                        <a:t>9</a:t>
                      </a:r>
                    </a:p>
                  </a:txBody>
                  <a:tcPr marL="73152" marR="54864" marT="18288" marB="18288" anchor="ctr">
                    <a:solidFill>
                      <a:srgbClr val="F2F4F7"/>
                    </a:solidFill>
                  </a:tcPr>
                </a:tc>
                <a:tc>
                  <a:txBody>
                    <a:bodyPr/>
                    <a:lstStyle/>
                    <a:p>
                      <a:r>
                        <a:rPr sz="1100" b="0">
                          <a:solidFill>
                            <a:srgbClr val="0E2A47"/>
                          </a:solidFill>
                          <a:latin typeface="Calibri"/>
                        </a:rPr>
                        <a:t>Done — 12,500 batches logged</a:t>
                      </a:r>
                    </a:p>
                  </a:txBody>
                  <a:tcPr marL="73152" marR="54864" marT="18288" marB="18288" anchor="ctr">
                    <a:solidFill>
                      <a:srgbClr val="F2F4F7"/>
                    </a:solidFill>
                  </a:tcPr>
                </a:tc>
                <a:extLst>
                  <a:ext uri="{0D108BD9-81ED-4DB2-BD59-A6C34878D82A}">
                    <a16:rowId xmlns:a16="http://schemas.microsoft.com/office/drawing/2014/main" val="10002"/>
                  </a:ext>
                </a:extLst>
              </a:tr>
              <a:tr h="402336">
                <a:tc>
                  <a:txBody>
                    <a:bodyPr/>
                    <a:lstStyle/>
                    <a:p>
                      <a:r>
                        <a:rPr sz="1100" b="0">
                          <a:solidFill>
                            <a:srgbClr val="0E2A47"/>
                          </a:solidFill>
                          <a:latin typeface="Calibri"/>
                        </a:rPr>
                        <a:t>Plot showing variable importances</a:t>
                      </a:r>
                    </a:p>
                  </a:txBody>
                  <a:tcPr marL="73152" marR="54864" marT="18288" marB="18288" anchor="ctr">
                    <a:solidFill>
                      <a:srgbClr val="FFFFFF"/>
                    </a:solidFill>
                  </a:tcPr>
                </a:tc>
                <a:tc>
                  <a:txBody>
                    <a:bodyPr/>
                    <a:lstStyle/>
                    <a:p>
                      <a:r>
                        <a:rPr sz="1100" b="0">
                          <a:solidFill>
                            <a:srgbClr val="0E2A47"/>
                          </a:solidFill>
                          <a:latin typeface="Calibri"/>
                        </a:rPr>
                        <a:t>10</a:t>
                      </a:r>
                    </a:p>
                  </a:txBody>
                  <a:tcPr marL="73152" marR="54864" marT="18288" marB="18288" anchor="ctr">
                    <a:solidFill>
                      <a:srgbClr val="FFFFFF"/>
                    </a:solidFill>
                  </a:tcPr>
                </a:tc>
                <a:tc>
                  <a:txBody>
                    <a:bodyPr/>
                    <a:lstStyle/>
                    <a:p>
                      <a:r>
                        <a:rPr sz="1100" b="0">
                          <a:solidFill>
                            <a:srgbClr val="0E2A47"/>
                          </a:solidFill>
                          <a:latin typeface="Calibri"/>
                        </a:rPr>
                        <a:t>Done — permutation importance, 5 shuffles</a:t>
                      </a:r>
                    </a:p>
                  </a:txBody>
                  <a:tcPr marL="73152" marR="54864" marT="18288" marB="18288" anchor="ctr">
                    <a:solidFill>
                      <a:srgbClr val="FFFFFF"/>
                    </a:solidFill>
                  </a:tcPr>
                </a:tc>
                <a:extLst>
                  <a:ext uri="{0D108BD9-81ED-4DB2-BD59-A6C34878D82A}">
                    <a16:rowId xmlns:a16="http://schemas.microsoft.com/office/drawing/2014/main" val="10003"/>
                  </a:ext>
                </a:extLst>
              </a:tr>
              <a:tr h="402336">
                <a:tc>
                  <a:txBody>
                    <a:bodyPr/>
                    <a:lstStyle/>
                    <a:p>
                      <a:r>
                        <a:rPr sz="1100" b="0">
                          <a:solidFill>
                            <a:srgbClr val="0E2A47"/>
                          </a:solidFill>
                          <a:latin typeface="Calibri"/>
                        </a:rPr>
                        <a:t>Multiple partial dependence plots</a:t>
                      </a:r>
                    </a:p>
                  </a:txBody>
                  <a:tcPr marL="73152" marR="54864" marT="18288" marB="18288" anchor="ctr">
                    <a:solidFill>
                      <a:srgbClr val="F2F4F7"/>
                    </a:solidFill>
                  </a:tcPr>
                </a:tc>
                <a:tc>
                  <a:txBody>
                    <a:bodyPr/>
                    <a:lstStyle/>
                    <a:p>
                      <a:r>
                        <a:rPr sz="1100" b="0">
                          <a:solidFill>
                            <a:srgbClr val="0E2A47"/>
                          </a:solidFill>
                          <a:latin typeface="Calibri"/>
                        </a:rPr>
                        <a:t>11–12</a:t>
                      </a:r>
                    </a:p>
                  </a:txBody>
                  <a:tcPr marL="73152" marR="54864" marT="18288" marB="18288" anchor="ctr">
                    <a:solidFill>
                      <a:srgbClr val="F2F4F7"/>
                    </a:solidFill>
                  </a:tcPr>
                </a:tc>
                <a:tc>
                  <a:txBody>
                    <a:bodyPr/>
                    <a:lstStyle/>
                    <a:p>
                      <a:r>
                        <a:rPr sz="1100" b="0">
                          <a:solidFill>
                            <a:srgbClr val="0E2A47"/>
                          </a:solidFill>
                          <a:latin typeface="Calibri"/>
                        </a:rPr>
                        <a:t>Script ready — must be run (see slide 11)</a:t>
                      </a:r>
                    </a:p>
                  </a:txBody>
                  <a:tcPr marL="73152" marR="54864" marT="18288" marB="18288" anchor="ctr">
                    <a:solidFill>
                      <a:srgbClr val="F2F4F7"/>
                    </a:solidFill>
                  </a:tcPr>
                </a:tc>
                <a:extLst>
                  <a:ext uri="{0D108BD9-81ED-4DB2-BD59-A6C34878D82A}">
                    <a16:rowId xmlns:a16="http://schemas.microsoft.com/office/drawing/2014/main" val="10004"/>
                  </a:ext>
                </a:extLst>
              </a:tr>
              <a:tr h="402336">
                <a:tc>
                  <a:txBody>
                    <a:bodyPr/>
                    <a:lstStyle/>
                    <a:p>
                      <a:r>
                        <a:rPr sz="1100" b="0">
                          <a:solidFill>
                            <a:srgbClr val="0E2A47"/>
                          </a:solidFill>
                          <a:latin typeface="Calibri"/>
                        </a:rPr>
                        <a:t>Information on RAM usage</a:t>
                      </a:r>
                    </a:p>
                  </a:txBody>
                  <a:tcPr marL="73152" marR="54864" marT="18288" marB="18288" anchor="ctr">
                    <a:solidFill>
                      <a:srgbClr val="FFFFFF"/>
                    </a:solidFill>
                  </a:tcPr>
                </a:tc>
                <a:tc>
                  <a:txBody>
                    <a:bodyPr/>
                    <a:lstStyle/>
                    <a:p>
                      <a:r>
                        <a:rPr sz="1100" b="0">
                          <a:solidFill>
                            <a:srgbClr val="0E2A47"/>
                          </a:solidFill>
                          <a:latin typeface="Calibri"/>
                        </a:rPr>
                        <a:t>13</a:t>
                      </a:r>
                    </a:p>
                  </a:txBody>
                  <a:tcPr marL="73152" marR="54864" marT="18288" marB="18288" anchor="ctr">
                    <a:solidFill>
                      <a:srgbClr val="FFFFFF"/>
                    </a:solidFill>
                  </a:tcPr>
                </a:tc>
                <a:tc>
                  <a:txBody>
                    <a:bodyPr/>
                    <a:lstStyle/>
                    <a:p>
                      <a:r>
                        <a:rPr sz="1100" b="0">
                          <a:solidFill>
                            <a:srgbClr val="0E2A47"/>
                          </a:solidFill>
                          <a:latin typeface="Calibri"/>
                        </a:rPr>
                        <a:t>Done — 12,506 measurements via psutil</a:t>
                      </a:r>
                    </a:p>
                  </a:txBody>
                  <a:tcPr marL="73152" marR="54864" marT="18288" marB="18288" anchor="ctr">
                    <a:solidFill>
                      <a:srgbClr val="FFFFFF"/>
                    </a:solidFill>
                  </a:tcPr>
                </a:tc>
                <a:extLst>
                  <a:ext uri="{0D108BD9-81ED-4DB2-BD59-A6C34878D82A}">
                    <a16:rowId xmlns:a16="http://schemas.microsoft.com/office/drawing/2014/main" val="10005"/>
                  </a:ext>
                </a:extLst>
              </a:tr>
              <a:tr h="402336">
                <a:tc>
                  <a:txBody>
                    <a:bodyPr/>
                    <a:lstStyle/>
                    <a:p>
                      <a:r>
                        <a:rPr sz="1100" b="0">
                          <a:solidFill>
                            <a:srgbClr val="0E2A47"/>
                          </a:solidFill>
                          <a:latin typeface="Calibri"/>
                        </a:rPr>
                        <a:t>Information on training time</a:t>
                      </a:r>
                    </a:p>
                  </a:txBody>
                  <a:tcPr marL="73152" marR="54864" marT="18288" marB="18288" anchor="ctr">
                    <a:solidFill>
                      <a:srgbClr val="F2F4F7"/>
                    </a:solidFill>
                  </a:tcPr>
                </a:tc>
                <a:tc>
                  <a:txBody>
                    <a:bodyPr/>
                    <a:lstStyle/>
                    <a:p>
                      <a:r>
                        <a:rPr sz="1100" b="0">
                          <a:solidFill>
                            <a:srgbClr val="0E2A47"/>
                          </a:solidFill>
                          <a:latin typeface="Calibri"/>
                        </a:rPr>
                        <a:t>14</a:t>
                      </a:r>
                    </a:p>
                  </a:txBody>
                  <a:tcPr marL="73152" marR="54864" marT="18288" marB="18288" anchor="ctr">
                    <a:solidFill>
                      <a:srgbClr val="F2F4F7"/>
                    </a:solidFill>
                  </a:tcPr>
                </a:tc>
                <a:tc>
                  <a:txBody>
                    <a:bodyPr/>
                    <a:lstStyle/>
                    <a:p>
                      <a:r>
                        <a:rPr sz="1100" b="0">
                          <a:solidFill>
                            <a:srgbClr val="0E2A47"/>
                          </a:solidFill>
                          <a:latin typeface="Calibri"/>
                        </a:rPr>
                        <a:t>Done — 44.96 s end-to-end</a:t>
                      </a:r>
                    </a:p>
                  </a:txBody>
                  <a:tcPr marL="73152" marR="54864" marT="18288" marB="18288" anchor="ctr">
                    <a:solidFill>
                      <a:srgbClr val="F2F4F7"/>
                    </a:solidFill>
                  </a:tcPr>
                </a:tc>
                <a:extLst>
                  <a:ext uri="{0D108BD9-81ED-4DB2-BD59-A6C34878D82A}">
                    <a16:rowId xmlns:a16="http://schemas.microsoft.com/office/drawing/2014/main" val="10006"/>
                  </a:ext>
                </a:extLst>
              </a:tr>
              <a:tr h="402336">
                <a:tc>
                  <a:txBody>
                    <a:bodyPr/>
                    <a:lstStyle/>
                    <a:p>
                      <a:r>
                        <a:rPr sz="1100" b="0">
                          <a:solidFill>
                            <a:srgbClr val="0E2A47"/>
                          </a:solidFill>
                          <a:latin typeface="Calibri"/>
                        </a:rPr>
                        <a:t>Statement of who did what</a:t>
                      </a:r>
                    </a:p>
                  </a:txBody>
                  <a:tcPr marL="73152" marR="54864" marT="18288" marB="18288" anchor="ctr">
                    <a:solidFill>
                      <a:srgbClr val="FFFFFF"/>
                    </a:solidFill>
                  </a:tcPr>
                </a:tc>
                <a:tc>
                  <a:txBody>
                    <a:bodyPr/>
                    <a:lstStyle/>
                    <a:p>
                      <a:r>
                        <a:rPr sz="1100" b="0">
                          <a:solidFill>
                            <a:srgbClr val="0E2A47"/>
                          </a:solidFill>
                          <a:latin typeface="Calibri"/>
                        </a:rPr>
                        <a:t>16</a:t>
                      </a:r>
                    </a:p>
                  </a:txBody>
                  <a:tcPr marL="73152" marR="54864" marT="18288" marB="18288" anchor="ctr">
                    <a:solidFill>
                      <a:srgbClr val="FFFFFF"/>
                    </a:solidFill>
                  </a:tcPr>
                </a:tc>
                <a:tc>
                  <a:txBody>
                    <a:bodyPr/>
                    <a:lstStyle/>
                    <a:p>
                      <a:r>
                        <a:rPr sz="1100" b="0">
                          <a:solidFill>
                            <a:srgbClr val="0E2A47"/>
                          </a:solidFill>
                          <a:latin typeface="Calibri"/>
                        </a:rPr>
                        <a:t>Done</a:t>
                      </a:r>
                    </a:p>
                  </a:txBody>
                  <a:tcPr marL="73152" marR="54864" marT="18288" marB="18288" anchor="ctr">
                    <a:solidFill>
                      <a:srgbClr val="FFFFFF"/>
                    </a:solidFill>
                  </a:tcPr>
                </a:tc>
                <a:extLst>
                  <a:ext uri="{0D108BD9-81ED-4DB2-BD59-A6C34878D82A}">
                    <a16:rowId xmlns:a16="http://schemas.microsoft.com/office/drawing/2014/main" val="10007"/>
                  </a:ext>
                </a:extLst>
              </a:tr>
              <a:tr h="402336">
                <a:tc>
                  <a:txBody>
                    <a:bodyPr/>
                    <a:lstStyle/>
                    <a:p>
                      <a:r>
                        <a:rPr sz="1100" b="0">
                          <a:solidFill>
                            <a:srgbClr val="0E2A47"/>
                          </a:solidFill>
                          <a:latin typeface="Calibri"/>
                        </a:rPr>
                        <a:t>3 hidden layers with sigmoid activation</a:t>
                      </a:r>
                    </a:p>
                  </a:txBody>
                  <a:tcPr marL="73152" marR="54864" marT="18288" marB="18288" anchor="ctr">
                    <a:solidFill>
                      <a:srgbClr val="F2F4F7"/>
                    </a:solidFill>
                  </a:tcPr>
                </a:tc>
                <a:tc>
                  <a:txBody>
                    <a:bodyPr/>
                    <a:lstStyle/>
                    <a:p>
                      <a:r>
                        <a:rPr sz="1100" b="0">
                          <a:solidFill>
                            <a:srgbClr val="0E2A47"/>
                          </a:solidFill>
                          <a:latin typeface="Calibri"/>
                        </a:rPr>
                        <a:t>5</a:t>
                      </a:r>
                    </a:p>
                  </a:txBody>
                  <a:tcPr marL="73152" marR="54864" marT="18288" marB="18288" anchor="ctr">
                    <a:solidFill>
                      <a:srgbClr val="F2F4F7"/>
                    </a:solidFill>
                  </a:tcPr>
                </a:tc>
                <a:tc>
                  <a:txBody>
                    <a:bodyPr/>
                    <a:lstStyle/>
                    <a:p>
                      <a:r>
                        <a:rPr sz="1100" b="0">
                          <a:solidFill>
                            <a:srgbClr val="0E2A47"/>
                          </a:solidFill>
                          <a:latin typeface="Calibri"/>
                        </a:rPr>
                        <a:t>Done — 64/32/16, all sigmoid</a:t>
                      </a:r>
                    </a:p>
                  </a:txBody>
                  <a:tcPr marL="73152" marR="54864" marT="18288" marB="18288" anchor="ctr">
                    <a:solidFill>
                      <a:srgbClr val="F2F4F7"/>
                    </a:solidFill>
                  </a:tcPr>
                </a:tc>
                <a:extLst>
                  <a:ext uri="{0D108BD9-81ED-4DB2-BD59-A6C34878D82A}">
                    <a16:rowId xmlns:a16="http://schemas.microsoft.com/office/drawing/2014/main" val="10008"/>
                  </a:ext>
                </a:extLst>
              </a:tr>
              <a:tr h="402336">
                <a:tc>
                  <a:txBody>
                    <a:bodyPr/>
                    <a:lstStyle/>
                    <a:p>
                      <a:r>
                        <a:rPr sz="1100" b="0">
                          <a:solidFill>
                            <a:srgbClr val="0E2A47"/>
                          </a:solidFill>
                          <a:latin typeface="Calibri"/>
                        </a:rPr>
                        <a:t>Model learned incrementally (record or mini-batch)</a:t>
                      </a:r>
                    </a:p>
                  </a:txBody>
                  <a:tcPr marL="73152" marR="54864" marT="18288" marB="18288" anchor="ctr">
                    <a:solidFill>
                      <a:srgbClr val="FFFFFF"/>
                    </a:solidFill>
                  </a:tcPr>
                </a:tc>
                <a:tc>
                  <a:txBody>
                    <a:bodyPr/>
                    <a:lstStyle/>
                    <a:p>
                      <a:r>
                        <a:rPr sz="1100" b="0">
                          <a:solidFill>
                            <a:srgbClr val="0E2A47"/>
                          </a:solidFill>
                          <a:latin typeface="Calibri"/>
                        </a:rPr>
                        <a:t>6</a:t>
                      </a:r>
                    </a:p>
                  </a:txBody>
                  <a:tcPr marL="73152" marR="54864" marT="18288" marB="18288" anchor="ctr">
                    <a:solidFill>
                      <a:srgbClr val="FFFFFF"/>
                    </a:solidFill>
                  </a:tcPr>
                </a:tc>
                <a:tc>
                  <a:txBody>
                    <a:bodyPr/>
                    <a:lstStyle/>
                    <a:p>
                      <a:r>
                        <a:rPr sz="1100" b="0">
                          <a:solidFill>
                            <a:srgbClr val="0E2A47"/>
                          </a:solidFill>
                          <a:latin typeface="Calibri"/>
                        </a:rPr>
                        <a:t>Done — train_on_batch, batch = 32</a:t>
                      </a:r>
                    </a:p>
                  </a:txBody>
                  <a:tcPr marL="73152" marR="54864" marT="18288" marB="18288" anchor="ctr">
                    <a:solidFill>
                      <a:srgbClr val="FFFFFF"/>
                    </a:solidFill>
                  </a:tcPr>
                </a:tc>
                <a:extLst>
                  <a:ext uri="{0D108BD9-81ED-4DB2-BD59-A6C34878D82A}">
                    <a16:rowId xmlns:a16="http://schemas.microsoft.com/office/drawing/2014/main" val="10009"/>
                  </a:ext>
                </a:extLst>
              </a:tr>
              <a:tr h="402336">
                <a:tc>
                  <a:txBody>
                    <a:bodyPr/>
                    <a:lstStyle/>
                    <a:p>
                      <a:r>
                        <a:rPr sz="1100" b="0">
                          <a:solidFill>
                            <a:srgbClr val="0E2A47"/>
                          </a:solidFill>
                          <a:latin typeface="Calibri"/>
                        </a:rPr>
                        <a:t>Correct group ID in filename and on slide 1</a:t>
                      </a:r>
                    </a:p>
                  </a:txBody>
                  <a:tcPr marL="73152" marR="54864" marT="18288" marB="18288" anchor="ctr">
                    <a:solidFill>
                      <a:srgbClr val="F2F4F7"/>
                    </a:solidFill>
                  </a:tcPr>
                </a:tc>
                <a:tc>
                  <a:txBody>
                    <a:bodyPr/>
                    <a:lstStyle/>
                    <a:p>
                      <a:r>
                        <a:rPr sz="1100" b="0">
                          <a:solidFill>
                            <a:srgbClr val="0E2A47"/>
                          </a:solidFill>
                          <a:latin typeface="Calibri"/>
                        </a:rPr>
                        <a:t>1</a:t>
                      </a:r>
                    </a:p>
                  </a:txBody>
                  <a:tcPr marL="73152" marR="54864" marT="18288" marB="18288" anchor="ctr">
                    <a:solidFill>
                      <a:srgbClr val="F2F4F7"/>
                    </a:solidFill>
                  </a:tcPr>
                </a:tc>
                <a:tc>
                  <a:txBody>
                    <a:bodyPr/>
                    <a:lstStyle/>
                    <a:p>
                      <a:r>
                        <a:rPr sz="1100" b="0">
                          <a:solidFill>
                            <a:srgbClr val="0E2A47"/>
                          </a:solidFill>
                          <a:latin typeface="Calibri"/>
                        </a:rPr>
                        <a:t>Done — Group 7</a:t>
                      </a:r>
                    </a:p>
                  </a:txBody>
                  <a:tcPr marL="73152" marR="54864" marT="18288" marB="18288" anchor="ctr">
                    <a:solidFill>
                      <a:srgbClr val="F2F4F7"/>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9692640" cy="548640"/>
          </a:xfrm>
          <a:prstGeom prst="rect">
            <a:avLst/>
          </a:prstGeom>
          <a:noFill/>
        </p:spPr>
        <p:txBody>
          <a:bodyPr wrap="square" lIns="27432" tIns="0" rIns="27432" bIns="0">
            <a:spAutoFit/>
          </a:bodyPr>
          <a:lstStyle/>
          <a:p>
            <a:pPr algn="l">
              <a:spcAft>
                <a:spcPts val="600"/>
              </a:spcAft>
            </a:pPr>
            <a:r>
              <a:rPr sz="2700" b="1">
                <a:solidFill>
                  <a:srgbClr val="0E2A47"/>
                </a:solidFill>
                <a:latin typeface="Calibri"/>
              </a:rPr>
              <a:t>The data</a:t>
            </a:r>
          </a:p>
        </p:txBody>
      </p:sp>
      <p:sp>
        <p:nvSpPr>
          <p:cNvPr id="4" name="TextBox 3"/>
          <p:cNvSpPr txBox="1"/>
          <p:nvPr/>
        </p:nvSpPr>
        <p:spPr>
          <a:xfrm>
            <a:off x="530352" y="841248"/>
            <a:ext cx="10241280" cy="365760"/>
          </a:xfrm>
          <a:prstGeom prst="rect">
            <a:avLst/>
          </a:prstGeom>
          <a:noFill/>
        </p:spPr>
        <p:txBody>
          <a:bodyPr wrap="square" lIns="27432" tIns="0" rIns="27432" bIns="0">
            <a:spAutoFit/>
          </a:bodyPr>
          <a:lstStyle/>
          <a:p>
            <a:pPr algn="l">
              <a:spcAft>
                <a:spcPts val="600"/>
              </a:spcAft>
            </a:pPr>
            <a:r>
              <a:rPr sz="1300" b="0">
                <a:solidFill>
                  <a:srgbClr val="5A636B"/>
                </a:solidFill>
                <a:latin typeface="Calibri"/>
              </a:rPr>
              <a:t>pricing.csv — one row = one product-selling-period on the website</a:t>
            </a:r>
          </a:p>
        </p:txBody>
      </p:sp>
      <p:sp>
        <p:nvSpPr>
          <p:cNvPr id="5" name="Rounded Rectangle 4"/>
          <p:cNvSpPr/>
          <p:nvPr/>
        </p:nvSpPr>
        <p:spPr>
          <a:xfrm>
            <a:off x="548640" y="1371600"/>
            <a:ext cx="2606040" cy="105156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548640" y="1371600"/>
            <a:ext cx="64008" cy="1051560"/>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1499616"/>
            <a:ext cx="228600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RECORDS</a:t>
            </a:r>
          </a:p>
        </p:txBody>
      </p:sp>
      <p:sp>
        <p:nvSpPr>
          <p:cNvPr id="8" name="TextBox 7"/>
          <p:cNvSpPr txBox="1"/>
          <p:nvPr/>
        </p:nvSpPr>
        <p:spPr>
          <a:xfrm>
            <a:off x="749808" y="1773936"/>
            <a:ext cx="2286000" cy="457200"/>
          </a:xfrm>
          <a:prstGeom prst="rect">
            <a:avLst/>
          </a:prstGeom>
          <a:noFill/>
        </p:spPr>
        <p:txBody>
          <a:bodyPr wrap="square" lIns="27432" tIns="0" rIns="27432" bIns="0">
            <a:spAutoFit/>
          </a:bodyPr>
          <a:lstStyle/>
          <a:p>
            <a:pPr algn="l">
              <a:spcAft>
                <a:spcPts val="600"/>
              </a:spcAft>
            </a:pPr>
            <a:r>
              <a:rPr sz="2500" b="1">
                <a:solidFill>
                  <a:srgbClr val="1F6FB4"/>
                </a:solidFill>
                <a:latin typeface="Calibri"/>
              </a:rPr>
              <a:t>500,000</a:t>
            </a:r>
          </a:p>
        </p:txBody>
      </p:sp>
      <p:sp>
        <p:nvSpPr>
          <p:cNvPr id="9" name="TextBox 8"/>
          <p:cNvSpPr txBox="1"/>
          <p:nvPr/>
        </p:nvSpPr>
        <p:spPr>
          <a:xfrm>
            <a:off x="749808" y="2002536"/>
            <a:ext cx="228600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no missing values</a:t>
            </a:r>
          </a:p>
        </p:txBody>
      </p:sp>
      <p:sp>
        <p:nvSpPr>
          <p:cNvPr id="10" name="Rounded Rectangle 9"/>
          <p:cNvSpPr/>
          <p:nvPr/>
        </p:nvSpPr>
        <p:spPr>
          <a:xfrm>
            <a:off x="3291840" y="1371600"/>
            <a:ext cx="2606040" cy="105156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3291840" y="1371600"/>
            <a:ext cx="64008" cy="1051560"/>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93008" y="1499616"/>
            <a:ext cx="228600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COLUMNS</a:t>
            </a:r>
          </a:p>
        </p:txBody>
      </p:sp>
      <p:sp>
        <p:nvSpPr>
          <p:cNvPr id="13" name="TextBox 12"/>
          <p:cNvSpPr txBox="1"/>
          <p:nvPr/>
        </p:nvSpPr>
        <p:spPr>
          <a:xfrm>
            <a:off x="3493008" y="1773936"/>
            <a:ext cx="2286000" cy="457200"/>
          </a:xfrm>
          <a:prstGeom prst="rect">
            <a:avLst/>
          </a:prstGeom>
          <a:noFill/>
        </p:spPr>
        <p:txBody>
          <a:bodyPr wrap="square" lIns="27432" tIns="0" rIns="27432" bIns="0">
            <a:spAutoFit/>
          </a:bodyPr>
          <a:lstStyle/>
          <a:p>
            <a:pPr algn="l">
              <a:spcAft>
                <a:spcPts val="600"/>
              </a:spcAft>
            </a:pPr>
            <a:r>
              <a:rPr sz="2500" b="1">
                <a:solidFill>
                  <a:srgbClr val="1F6FB4"/>
                </a:solidFill>
                <a:latin typeface="Calibri"/>
              </a:rPr>
              <a:t>6</a:t>
            </a:r>
          </a:p>
        </p:txBody>
      </p:sp>
      <p:sp>
        <p:nvSpPr>
          <p:cNvPr id="14" name="TextBox 13"/>
          <p:cNvSpPr txBox="1"/>
          <p:nvPr/>
        </p:nvSpPr>
        <p:spPr>
          <a:xfrm>
            <a:off x="3493008" y="2002536"/>
            <a:ext cx="228600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5 inputs + 1 response</a:t>
            </a:r>
          </a:p>
        </p:txBody>
      </p:sp>
      <p:sp>
        <p:nvSpPr>
          <p:cNvPr id="15" name="Rounded Rectangle 14"/>
          <p:cNvSpPr/>
          <p:nvPr/>
        </p:nvSpPr>
        <p:spPr>
          <a:xfrm>
            <a:off x="6035040" y="1371600"/>
            <a:ext cx="2606040" cy="105156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6035040" y="1371600"/>
            <a:ext cx="64008" cy="1051560"/>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36207" y="1499616"/>
            <a:ext cx="228600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FILE SIZE</a:t>
            </a:r>
          </a:p>
        </p:txBody>
      </p:sp>
      <p:sp>
        <p:nvSpPr>
          <p:cNvPr id="18" name="TextBox 17"/>
          <p:cNvSpPr txBox="1"/>
          <p:nvPr/>
        </p:nvSpPr>
        <p:spPr>
          <a:xfrm>
            <a:off x="6236207" y="1773936"/>
            <a:ext cx="2286000" cy="457200"/>
          </a:xfrm>
          <a:prstGeom prst="rect">
            <a:avLst/>
          </a:prstGeom>
          <a:noFill/>
        </p:spPr>
        <p:txBody>
          <a:bodyPr wrap="square" lIns="27432" tIns="0" rIns="27432" bIns="0">
            <a:spAutoFit/>
          </a:bodyPr>
          <a:lstStyle/>
          <a:p>
            <a:pPr algn="l">
              <a:spcAft>
                <a:spcPts val="600"/>
              </a:spcAft>
            </a:pPr>
            <a:r>
              <a:rPr sz="2500" b="1">
                <a:solidFill>
                  <a:srgbClr val="1F6FB4"/>
                </a:solidFill>
                <a:latin typeface="Calibri"/>
              </a:rPr>
              <a:t>18.2 MB</a:t>
            </a:r>
          </a:p>
        </p:txBody>
      </p:sp>
      <p:sp>
        <p:nvSpPr>
          <p:cNvPr id="19" name="TextBox 18"/>
          <p:cNvSpPr txBox="1"/>
          <p:nvPr/>
        </p:nvSpPr>
        <p:spPr>
          <a:xfrm>
            <a:off x="6236207" y="2002536"/>
            <a:ext cx="228600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22.9 MB as float64 in RAM</a:t>
            </a:r>
          </a:p>
        </p:txBody>
      </p:sp>
      <p:sp>
        <p:nvSpPr>
          <p:cNvPr id="20" name="Rounded Rectangle 19"/>
          <p:cNvSpPr/>
          <p:nvPr/>
        </p:nvSpPr>
        <p:spPr>
          <a:xfrm>
            <a:off x="8778240" y="1371600"/>
            <a:ext cx="2834640" cy="105156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8778240" y="1371600"/>
            <a:ext cx="64008" cy="1051560"/>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79408" y="1499616"/>
            <a:ext cx="251460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MEAN QUANTITY</a:t>
            </a:r>
          </a:p>
        </p:txBody>
      </p:sp>
      <p:sp>
        <p:nvSpPr>
          <p:cNvPr id="23" name="TextBox 22"/>
          <p:cNvSpPr txBox="1"/>
          <p:nvPr/>
        </p:nvSpPr>
        <p:spPr>
          <a:xfrm>
            <a:off x="8979408" y="1773936"/>
            <a:ext cx="2514600" cy="457200"/>
          </a:xfrm>
          <a:prstGeom prst="rect">
            <a:avLst/>
          </a:prstGeom>
          <a:noFill/>
        </p:spPr>
        <p:txBody>
          <a:bodyPr wrap="square" lIns="27432" tIns="0" rIns="27432" bIns="0">
            <a:spAutoFit/>
          </a:bodyPr>
          <a:lstStyle/>
          <a:p>
            <a:pPr algn="l">
              <a:spcAft>
                <a:spcPts val="600"/>
              </a:spcAft>
            </a:pPr>
            <a:r>
              <a:rPr sz="2500" b="1">
                <a:solidFill>
                  <a:srgbClr val="1F6FB4"/>
                </a:solidFill>
                <a:latin typeface="Calibri"/>
              </a:rPr>
              <a:t>22.82</a:t>
            </a:r>
          </a:p>
        </p:txBody>
      </p:sp>
      <p:sp>
        <p:nvSpPr>
          <p:cNvPr id="24" name="TextBox 23"/>
          <p:cNvSpPr txBox="1"/>
          <p:nvPr/>
        </p:nvSpPr>
        <p:spPr>
          <a:xfrm>
            <a:off x="8979408" y="2002536"/>
            <a:ext cx="251460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std. dev. 49.79 — highly skewed</a:t>
            </a:r>
          </a:p>
        </p:txBody>
      </p:sp>
      <p:graphicFrame>
        <p:nvGraphicFramePr>
          <p:cNvPr id="25" name="Table 24"/>
          <p:cNvGraphicFramePr>
            <a:graphicFrameLocks noGrp="1"/>
          </p:cNvGraphicFramePr>
          <p:nvPr/>
        </p:nvGraphicFramePr>
        <p:xfrm>
          <a:off x="548640" y="2697480"/>
          <a:ext cx="11064240" cy="256032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5577840">
                  <a:extLst>
                    <a:ext uri="{9D8B030D-6E8A-4147-A177-3AD203B41FA5}">
                      <a16:colId xmlns:a16="http://schemas.microsoft.com/office/drawing/2014/main" val="20003"/>
                    </a:ext>
                  </a:extLst>
                </a:gridCol>
              </a:tblGrid>
              <a:tr h="365760">
                <a:tc>
                  <a:txBody>
                    <a:bodyPr/>
                    <a:lstStyle/>
                    <a:p>
                      <a:r>
                        <a:rPr sz="1150" b="1">
                          <a:solidFill>
                            <a:srgbClr val="FFFFFF"/>
                          </a:solidFill>
                          <a:latin typeface="Calibri"/>
                        </a:rPr>
                        <a:t>Variable</a:t>
                      </a:r>
                    </a:p>
                  </a:txBody>
                  <a:tcPr marL="73152" marR="54864" marT="18288" marB="18288" anchor="ctr">
                    <a:solidFill>
                      <a:srgbClr val="0E2A47"/>
                    </a:solidFill>
                  </a:tcPr>
                </a:tc>
                <a:tc>
                  <a:txBody>
                    <a:bodyPr/>
                    <a:lstStyle/>
                    <a:p>
                      <a:r>
                        <a:rPr sz="1150" b="1">
                          <a:solidFill>
                            <a:srgbClr val="FFFFFF"/>
                          </a:solidFill>
                          <a:latin typeface="Calibri"/>
                        </a:rPr>
                        <a:t>Role</a:t>
                      </a:r>
                    </a:p>
                  </a:txBody>
                  <a:tcPr marL="73152" marR="54864" marT="18288" marB="18288" anchor="ctr">
                    <a:solidFill>
                      <a:srgbClr val="0E2A47"/>
                    </a:solidFill>
                  </a:tcPr>
                </a:tc>
                <a:tc>
                  <a:txBody>
                    <a:bodyPr/>
                    <a:lstStyle/>
                    <a:p>
                      <a:r>
                        <a:rPr sz="1150" b="1">
                          <a:solidFill>
                            <a:srgbClr val="FFFFFF"/>
                          </a:solidFill>
                          <a:latin typeface="Calibri"/>
                        </a:rPr>
                        <a:t>Type</a:t>
                      </a:r>
                    </a:p>
                  </a:txBody>
                  <a:tcPr marL="73152" marR="54864" marT="18288" marB="18288" anchor="ctr">
                    <a:solidFill>
                      <a:srgbClr val="0E2A47"/>
                    </a:solidFill>
                  </a:tcPr>
                </a:tc>
                <a:tc>
                  <a:txBody>
                    <a:bodyPr/>
                    <a:lstStyle/>
                    <a:p>
                      <a:r>
                        <a:rPr sz="1150" b="1">
                          <a:solidFill>
                            <a:srgbClr val="FFFFFF"/>
                          </a:solidFill>
                          <a:latin typeface="Calibri"/>
                        </a:rPr>
                        <a:t>Notes</a:t>
                      </a:r>
                    </a:p>
                  </a:txBody>
                  <a:tcPr marL="73152" marR="54864" marT="18288" marB="18288" anchor="ctr">
                    <a:solidFill>
                      <a:srgbClr val="0E2A47"/>
                    </a:solidFill>
                  </a:tcPr>
                </a:tc>
                <a:extLst>
                  <a:ext uri="{0D108BD9-81ED-4DB2-BD59-A6C34878D82A}">
                    <a16:rowId xmlns:a16="http://schemas.microsoft.com/office/drawing/2014/main" val="10000"/>
                  </a:ext>
                </a:extLst>
              </a:tr>
              <a:tr h="365760">
                <a:tc>
                  <a:txBody>
                    <a:bodyPr/>
                    <a:lstStyle/>
                    <a:p>
                      <a:r>
                        <a:rPr sz="1100" b="0">
                          <a:solidFill>
                            <a:srgbClr val="0E2A47"/>
                          </a:solidFill>
                          <a:latin typeface="Calibri"/>
                        </a:rPr>
                        <a:t>sku</a:t>
                      </a:r>
                    </a:p>
                  </a:txBody>
                  <a:tcPr marL="73152" marR="54864" marT="18288" marB="18288" anchor="ctr">
                    <a:solidFill>
                      <a:srgbClr val="FFFFFF"/>
                    </a:solidFill>
                  </a:tcPr>
                </a:tc>
                <a:tc>
                  <a:txBody>
                    <a:bodyPr/>
                    <a:lstStyle/>
                    <a:p>
                      <a:r>
                        <a:rPr sz="1100" b="0">
                          <a:solidFill>
                            <a:srgbClr val="0E2A47"/>
                          </a:solidFill>
                          <a:latin typeface="Calibri"/>
                        </a:rPr>
                        <a:t>Input</a:t>
                      </a:r>
                    </a:p>
                  </a:txBody>
                  <a:tcPr marL="73152" marR="54864" marT="18288" marB="18288" anchor="ctr">
                    <a:solidFill>
                      <a:srgbClr val="FFFFFF"/>
                    </a:solidFill>
                  </a:tcPr>
                </a:tc>
                <a:tc>
                  <a:txBody>
                    <a:bodyPr/>
                    <a:lstStyle/>
                    <a:p>
                      <a:r>
                        <a:rPr sz="1100" b="0">
                          <a:solidFill>
                            <a:srgbClr val="0E2A47"/>
                          </a:solidFill>
                          <a:latin typeface="Calibri"/>
                        </a:rPr>
                        <a:t>Categorical, integer-encoded</a:t>
                      </a:r>
                    </a:p>
                  </a:txBody>
                  <a:tcPr marL="73152" marR="54864" marT="18288" marB="18288" anchor="ctr">
                    <a:solidFill>
                      <a:srgbClr val="FFFFFF"/>
                    </a:solidFill>
                  </a:tcPr>
                </a:tc>
                <a:tc>
                  <a:txBody>
                    <a:bodyPr/>
                    <a:lstStyle/>
                    <a:p>
                      <a:r>
                        <a:rPr sz="1100" b="0">
                          <a:solidFill>
                            <a:srgbClr val="0E2A47"/>
                          </a:solidFill>
                          <a:latin typeface="Calibri"/>
                        </a:rPr>
                        <a:t>Stock keeping unit; not consecutively encoded</a:t>
                      </a:r>
                    </a:p>
                  </a:txBody>
                  <a:tcPr marL="73152" marR="54864" marT="18288" marB="18288" anchor="ctr">
                    <a:solidFill>
                      <a:srgbClr val="FFFFFF"/>
                    </a:solidFill>
                  </a:tcPr>
                </a:tc>
                <a:extLst>
                  <a:ext uri="{0D108BD9-81ED-4DB2-BD59-A6C34878D82A}">
                    <a16:rowId xmlns:a16="http://schemas.microsoft.com/office/drawing/2014/main" val="10001"/>
                  </a:ext>
                </a:extLst>
              </a:tr>
              <a:tr h="365760">
                <a:tc>
                  <a:txBody>
                    <a:bodyPr/>
                    <a:lstStyle/>
                    <a:p>
                      <a:r>
                        <a:rPr sz="1100" b="0">
                          <a:solidFill>
                            <a:srgbClr val="0E2A47"/>
                          </a:solidFill>
                          <a:latin typeface="Calibri"/>
                        </a:rPr>
                        <a:t>price</a:t>
                      </a:r>
                    </a:p>
                  </a:txBody>
                  <a:tcPr marL="73152" marR="54864" marT="18288" marB="18288" anchor="ctr">
                    <a:solidFill>
                      <a:srgbClr val="F2F4F7"/>
                    </a:solidFill>
                  </a:tcPr>
                </a:tc>
                <a:tc>
                  <a:txBody>
                    <a:bodyPr/>
                    <a:lstStyle/>
                    <a:p>
                      <a:r>
                        <a:rPr sz="1100" b="0">
                          <a:solidFill>
                            <a:srgbClr val="0E2A47"/>
                          </a:solidFill>
                          <a:latin typeface="Calibri"/>
                        </a:rPr>
                        <a:t>Input</a:t>
                      </a:r>
                    </a:p>
                  </a:txBody>
                  <a:tcPr marL="73152" marR="54864" marT="18288" marB="18288" anchor="ctr">
                    <a:solidFill>
                      <a:srgbClr val="F2F4F7"/>
                    </a:solidFill>
                  </a:tcPr>
                </a:tc>
                <a:tc>
                  <a:txBody>
                    <a:bodyPr/>
                    <a:lstStyle/>
                    <a:p>
                      <a:r>
                        <a:rPr sz="1100" b="0">
                          <a:solidFill>
                            <a:srgbClr val="0E2A47"/>
                          </a:solidFill>
                          <a:latin typeface="Calibri"/>
                        </a:rPr>
                        <a:t>Numeric (divided by a constant)</a:t>
                      </a:r>
                    </a:p>
                  </a:txBody>
                  <a:tcPr marL="73152" marR="54864" marT="18288" marB="18288" anchor="ctr">
                    <a:solidFill>
                      <a:srgbClr val="F2F4F7"/>
                    </a:solidFill>
                  </a:tcPr>
                </a:tc>
                <a:tc>
                  <a:txBody>
                    <a:bodyPr/>
                    <a:lstStyle/>
                    <a:p>
                      <a:r>
                        <a:rPr sz="1100" b="0">
                          <a:solidFill>
                            <a:srgbClr val="0E2A47"/>
                          </a:solidFill>
                          <a:latin typeface="Calibri"/>
                        </a:rPr>
                        <a:t>Price shown on the website</a:t>
                      </a:r>
                    </a:p>
                  </a:txBody>
                  <a:tcPr marL="73152" marR="54864" marT="18288" marB="18288" anchor="ctr">
                    <a:solidFill>
                      <a:srgbClr val="F2F4F7"/>
                    </a:solidFill>
                  </a:tcPr>
                </a:tc>
                <a:extLst>
                  <a:ext uri="{0D108BD9-81ED-4DB2-BD59-A6C34878D82A}">
                    <a16:rowId xmlns:a16="http://schemas.microsoft.com/office/drawing/2014/main" val="10002"/>
                  </a:ext>
                </a:extLst>
              </a:tr>
              <a:tr h="365760">
                <a:tc>
                  <a:txBody>
                    <a:bodyPr/>
                    <a:lstStyle/>
                    <a:p>
                      <a:r>
                        <a:rPr sz="1100" b="0">
                          <a:solidFill>
                            <a:srgbClr val="0E2A47"/>
                          </a:solidFill>
                          <a:latin typeface="Calibri"/>
                        </a:rPr>
                        <a:t>order</a:t>
                      </a:r>
                    </a:p>
                  </a:txBody>
                  <a:tcPr marL="73152" marR="54864" marT="18288" marB="18288" anchor="ctr">
                    <a:solidFill>
                      <a:srgbClr val="FFFFFF"/>
                    </a:solidFill>
                  </a:tcPr>
                </a:tc>
                <a:tc>
                  <a:txBody>
                    <a:bodyPr/>
                    <a:lstStyle/>
                    <a:p>
                      <a:r>
                        <a:rPr sz="1100" b="0">
                          <a:solidFill>
                            <a:srgbClr val="0E2A47"/>
                          </a:solidFill>
                          <a:latin typeface="Calibri"/>
                        </a:rPr>
                        <a:t>Input</a:t>
                      </a:r>
                    </a:p>
                  </a:txBody>
                  <a:tcPr marL="73152" marR="54864" marT="18288" marB="18288" anchor="ctr">
                    <a:solidFill>
                      <a:srgbClr val="FFFFFF"/>
                    </a:solidFill>
                  </a:tcPr>
                </a:tc>
                <a:tc>
                  <a:txBody>
                    <a:bodyPr/>
                    <a:lstStyle/>
                    <a:p>
                      <a:r>
                        <a:rPr sz="1100" b="0">
                          <a:solidFill>
                            <a:srgbClr val="0E2A47"/>
                          </a:solidFill>
                          <a:latin typeface="Calibri"/>
                        </a:rPr>
                        <a:t>Numeric / count</a:t>
                      </a:r>
                    </a:p>
                  </a:txBody>
                  <a:tcPr marL="73152" marR="54864" marT="18288" marB="18288" anchor="ctr">
                    <a:solidFill>
                      <a:srgbClr val="FFFFFF"/>
                    </a:solidFill>
                  </a:tcPr>
                </a:tc>
                <a:tc>
                  <a:txBody>
                    <a:bodyPr/>
                    <a:lstStyle/>
                    <a:p>
                      <a:r>
                        <a:rPr sz="1100" b="0">
                          <a:solidFill>
                            <a:srgbClr val="0E2A47"/>
                          </a:solidFill>
                          <a:latin typeface="Calibri"/>
                        </a:rPr>
                        <a:t>nth time the product was in stock and selling</a:t>
                      </a:r>
                    </a:p>
                  </a:txBody>
                  <a:tcPr marL="73152" marR="54864" marT="18288" marB="18288" anchor="ctr">
                    <a:solidFill>
                      <a:srgbClr val="FFFFFF"/>
                    </a:solidFill>
                  </a:tcPr>
                </a:tc>
                <a:extLst>
                  <a:ext uri="{0D108BD9-81ED-4DB2-BD59-A6C34878D82A}">
                    <a16:rowId xmlns:a16="http://schemas.microsoft.com/office/drawing/2014/main" val="10003"/>
                  </a:ext>
                </a:extLst>
              </a:tr>
              <a:tr h="365760">
                <a:tc>
                  <a:txBody>
                    <a:bodyPr/>
                    <a:lstStyle/>
                    <a:p>
                      <a:r>
                        <a:rPr sz="1100" b="0">
                          <a:solidFill>
                            <a:srgbClr val="0E2A47"/>
                          </a:solidFill>
                          <a:latin typeface="Calibri"/>
                        </a:rPr>
                        <a:t>duration</a:t>
                      </a:r>
                    </a:p>
                  </a:txBody>
                  <a:tcPr marL="73152" marR="54864" marT="18288" marB="18288" anchor="ctr">
                    <a:solidFill>
                      <a:srgbClr val="F2F4F7"/>
                    </a:solidFill>
                  </a:tcPr>
                </a:tc>
                <a:tc>
                  <a:txBody>
                    <a:bodyPr/>
                    <a:lstStyle/>
                    <a:p>
                      <a:r>
                        <a:rPr sz="1100" b="0">
                          <a:solidFill>
                            <a:srgbClr val="0E2A47"/>
                          </a:solidFill>
                          <a:latin typeface="Calibri"/>
                        </a:rPr>
                        <a:t>Input</a:t>
                      </a:r>
                    </a:p>
                  </a:txBody>
                  <a:tcPr marL="73152" marR="54864" marT="18288" marB="18288" anchor="ctr">
                    <a:solidFill>
                      <a:srgbClr val="F2F4F7"/>
                    </a:solidFill>
                  </a:tcPr>
                </a:tc>
                <a:tc>
                  <a:txBody>
                    <a:bodyPr/>
                    <a:lstStyle/>
                    <a:p>
                      <a:r>
                        <a:rPr sz="1100" b="0">
                          <a:solidFill>
                            <a:srgbClr val="0E2A47"/>
                          </a:solidFill>
                          <a:latin typeface="Calibri"/>
                        </a:rPr>
                        <a:t>Numeric (divided by a constant)</a:t>
                      </a:r>
                    </a:p>
                  </a:txBody>
                  <a:tcPr marL="73152" marR="54864" marT="18288" marB="18288" anchor="ctr">
                    <a:solidFill>
                      <a:srgbClr val="F2F4F7"/>
                    </a:solidFill>
                  </a:tcPr>
                </a:tc>
                <a:tc>
                  <a:txBody>
                    <a:bodyPr/>
                    <a:lstStyle/>
                    <a:p>
                      <a:r>
                        <a:rPr sz="1100" b="0">
                          <a:solidFill>
                            <a:srgbClr val="0E2A47"/>
                          </a:solidFill>
                          <a:latin typeface="Calibri"/>
                        </a:rPr>
                        <a:t>How long it sold before going out of stock</a:t>
                      </a:r>
                    </a:p>
                  </a:txBody>
                  <a:tcPr marL="73152" marR="54864" marT="18288" marB="18288" anchor="ctr">
                    <a:solidFill>
                      <a:srgbClr val="F2F4F7"/>
                    </a:solidFill>
                  </a:tcPr>
                </a:tc>
                <a:extLst>
                  <a:ext uri="{0D108BD9-81ED-4DB2-BD59-A6C34878D82A}">
                    <a16:rowId xmlns:a16="http://schemas.microsoft.com/office/drawing/2014/main" val="10004"/>
                  </a:ext>
                </a:extLst>
              </a:tr>
              <a:tr h="365760">
                <a:tc>
                  <a:txBody>
                    <a:bodyPr/>
                    <a:lstStyle/>
                    <a:p>
                      <a:r>
                        <a:rPr sz="1100" b="0">
                          <a:solidFill>
                            <a:srgbClr val="0E2A47"/>
                          </a:solidFill>
                          <a:latin typeface="Calibri"/>
                        </a:rPr>
                        <a:t>category</a:t>
                      </a:r>
                    </a:p>
                  </a:txBody>
                  <a:tcPr marL="73152" marR="54864" marT="18288" marB="18288" anchor="ctr">
                    <a:solidFill>
                      <a:srgbClr val="FFFFFF"/>
                    </a:solidFill>
                  </a:tcPr>
                </a:tc>
                <a:tc>
                  <a:txBody>
                    <a:bodyPr/>
                    <a:lstStyle/>
                    <a:p>
                      <a:r>
                        <a:rPr sz="1100" b="0">
                          <a:solidFill>
                            <a:srgbClr val="0E2A47"/>
                          </a:solidFill>
                          <a:latin typeface="Calibri"/>
                        </a:rPr>
                        <a:t>Input</a:t>
                      </a:r>
                    </a:p>
                  </a:txBody>
                  <a:tcPr marL="73152" marR="54864" marT="18288" marB="18288" anchor="ctr">
                    <a:solidFill>
                      <a:srgbClr val="FFFFFF"/>
                    </a:solidFill>
                  </a:tcPr>
                </a:tc>
                <a:tc>
                  <a:txBody>
                    <a:bodyPr/>
                    <a:lstStyle/>
                    <a:p>
                      <a:r>
                        <a:rPr sz="1100" b="0">
                          <a:solidFill>
                            <a:srgbClr val="0E2A47"/>
                          </a:solidFill>
                          <a:latin typeface="Calibri"/>
                        </a:rPr>
                        <a:t>Categorical, integer-encoded</a:t>
                      </a:r>
                    </a:p>
                  </a:txBody>
                  <a:tcPr marL="73152" marR="54864" marT="18288" marB="18288" anchor="ctr">
                    <a:solidFill>
                      <a:srgbClr val="FFFFFF"/>
                    </a:solidFill>
                  </a:tcPr>
                </a:tc>
                <a:tc>
                  <a:txBody>
                    <a:bodyPr/>
                    <a:lstStyle/>
                    <a:p>
                      <a:r>
                        <a:rPr sz="1100" b="0">
                          <a:solidFill>
                            <a:srgbClr val="0E2A47"/>
                          </a:solidFill>
                          <a:latin typeface="Calibri"/>
                        </a:rPr>
                        <a:t>32 distinct categories present</a:t>
                      </a:r>
                    </a:p>
                  </a:txBody>
                  <a:tcPr marL="73152" marR="54864" marT="18288" marB="18288" anchor="ctr">
                    <a:solidFill>
                      <a:srgbClr val="FFFFFF"/>
                    </a:solidFill>
                  </a:tcPr>
                </a:tc>
                <a:extLst>
                  <a:ext uri="{0D108BD9-81ED-4DB2-BD59-A6C34878D82A}">
                    <a16:rowId xmlns:a16="http://schemas.microsoft.com/office/drawing/2014/main" val="10005"/>
                  </a:ext>
                </a:extLst>
              </a:tr>
              <a:tr h="365760">
                <a:tc>
                  <a:txBody>
                    <a:bodyPr/>
                    <a:lstStyle/>
                    <a:p>
                      <a:r>
                        <a:rPr sz="1100" b="0">
                          <a:solidFill>
                            <a:srgbClr val="0E2A47"/>
                          </a:solidFill>
                          <a:latin typeface="Calibri"/>
                        </a:rPr>
                        <a:t>quantity</a:t>
                      </a:r>
                    </a:p>
                  </a:txBody>
                  <a:tcPr marL="73152" marR="54864" marT="18288" marB="18288" anchor="ctr">
                    <a:solidFill>
                      <a:srgbClr val="F2F4F7"/>
                    </a:solidFill>
                  </a:tcPr>
                </a:tc>
                <a:tc>
                  <a:txBody>
                    <a:bodyPr/>
                    <a:lstStyle/>
                    <a:p>
                      <a:r>
                        <a:rPr sz="1100" b="0">
                          <a:solidFill>
                            <a:srgbClr val="0E2A47"/>
                          </a:solidFill>
                          <a:latin typeface="Calibri"/>
                        </a:rPr>
                        <a:t>RESPONSE</a:t>
                      </a:r>
                    </a:p>
                  </a:txBody>
                  <a:tcPr marL="73152" marR="54864" marT="18288" marB="18288" anchor="ctr">
                    <a:solidFill>
                      <a:srgbClr val="F2F4F7"/>
                    </a:solidFill>
                  </a:tcPr>
                </a:tc>
                <a:tc>
                  <a:txBody>
                    <a:bodyPr/>
                    <a:lstStyle/>
                    <a:p>
                      <a:r>
                        <a:rPr sz="1100" b="0">
                          <a:solidFill>
                            <a:srgbClr val="0E2A47"/>
                          </a:solidFill>
                          <a:latin typeface="Calibri"/>
                        </a:rPr>
                        <a:t>Numeric</a:t>
                      </a:r>
                    </a:p>
                  </a:txBody>
                  <a:tcPr marL="73152" marR="54864" marT="18288" marB="18288" anchor="ctr">
                    <a:solidFill>
                      <a:srgbClr val="F2F4F7"/>
                    </a:solidFill>
                  </a:tcPr>
                </a:tc>
                <a:tc>
                  <a:txBody>
                    <a:bodyPr/>
                    <a:lstStyle/>
                    <a:p>
                      <a:r>
                        <a:rPr sz="1100" b="0">
                          <a:solidFill>
                            <a:srgbClr val="0E2A47"/>
                          </a:solidFill>
                          <a:latin typeface="Calibri"/>
                        </a:rPr>
                        <a:t>Total quantity sold — what we predict</a:t>
                      </a:r>
                    </a:p>
                  </a:txBody>
                  <a:tcPr marL="73152" marR="54864" marT="18288" marB="18288" anchor="ctr">
                    <a:solidFill>
                      <a:srgbClr val="F2F4F7"/>
                    </a:solidFill>
                  </a:tcPr>
                </a:tc>
                <a:extLst>
                  <a:ext uri="{0D108BD9-81ED-4DB2-BD59-A6C34878D82A}">
                    <a16:rowId xmlns:a16="http://schemas.microsoft.com/office/drawing/2014/main" val="10006"/>
                  </a:ext>
                </a:extLst>
              </a:tr>
            </a:tbl>
          </a:graphicData>
        </a:graphic>
      </p:graphicFrame>
      <p:sp>
        <p:nvSpPr>
          <p:cNvPr id="26" name="Rounded Rectangle 25"/>
          <p:cNvSpPr/>
          <p:nvPr/>
        </p:nvSpPr>
        <p:spPr>
          <a:xfrm>
            <a:off x="548640" y="5257800"/>
            <a:ext cx="11064240" cy="123444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77240" y="5394960"/>
            <a:ext cx="10607040" cy="1005840"/>
          </a:xfrm>
          <a:prstGeom prst="rect">
            <a:avLst/>
          </a:prstGeom>
          <a:noFill/>
        </p:spPr>
        <p:txBody>
          <a:bodyPr wrap="square" lIns="27432" tIns="0" rIns="27432" bIns="0">
            <a:spAutoFit/>
          </a:bodyPr>
          <a:lstStyle/>
          <a:p>
            <a:pPr algn="l">
              <a:spcAft>
                <a:spcPts val="300"/>
              </a:spcAft>
            </a:pPr>
            <a:r>
              <a:rPr sz="1200" b="0">
                <a:solidFill>
                  <a:srgbClr val="0E2A47"/>
                </a:solidFill>
                <a:latin typeface="Calibri"/>
              </a:rPr>
              <a:t>Two facts that shaped every later decision:</a:t>
            </a:r>
          </a:p>
          <a:p>
            <a:pPr algn="l">
              <a:spcAft>
                <a:spcPts val="300"/>
              </a:spcAft>
            </a:pPr>
            <a:r>
              <a:rPr sz="1200" b="0">
                <a:solidFill>
                  <a:srgbClr val="0E2A47"/>
                </a:solidFill>
                <a:latin typeface="Calibri"/>
              </a:rPr>
              <a:t>·  Response variance is 2,478.8. Predicting the mean for every row yields MSE = 2,478.8 and R² = 0.00 — that is the floor any model must beat.</a:t>
            </a:r>
          </a:p>
          <a:p>
            <a:pPr algn="l">
              <a:spcAft>
                <a:spcPts val="300"/>
              </a:spcAft>
            </a:pPr>
            <a:r>
              <a:rPr sz="1200" b="0">
                <a:solidFill>
                  <a:srgbClr val="0E2A47"/>
                </a:solidFill>
                <a:latin typeface="Calibri"/>
              </a:rPr>
              <a:t>·  pricing.csv is stored sorted by sku. Feeding it to an incremental learner in file order would show the model one sku range at a time, so each update would be biased toward whatever block it is currently reading. train_test_split shuffles before batching, which removes this.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9692640" cy="548640"/>
          </a:xfrm>
          <a:prstGeom prst="rect">
            <a:avLst/>
          </a:prstGeom>
          <a:noFill/>
        </p:spPr>
        <p:txBody>
          <a:bodyPr wrap="square" lIns="27432" tIns="0" rIns="27432" bIns="0">
            <a:spAutoFit/>
          </a:bodyPr>
          <a:lstStyle/>
          <a:p>
            <a:pPr algn="l">
              <a:spcAft>
                <a:spcPts val="600"/>
              </a:spcAft>
            </a:pPr>
            <a:r>
              <a:rPr sz="2700" b="1">
                <a:solidFill>
                  <a:srgbClr val="0E2A47"/>
                </a:solidFill>
                <a:latin typeface="Calibri"/>
              </a:rPr>
              <a:t>Why learn incrementally at all?</a:t>
            </a:r>
          </a:p>
        </p:txBody>
      </p:sp>
      <p:sp>
        <p:nvSpPr>
          <p:cNvPr id="4" name="TextBox 3"/>
          <p:cNvSpPr txBox="1"/>
          <p:nvPr/>
        </p:nvSpPr>
        <p:spPr>
          <a:xfrm>
            <a:off x="530352" y="841248"/>
            <a:ext cx="10241280" cy="365760"/>
          </a:xfrm>
          <a:prstGeom prst="rect">
            <a:avLst/>
          </a:prstGeom>
          <a:noFill/>
        </p:spPr>
        <p:txBody>
          <a:bodyPr wrap="square" lIns="27432" tIns="0" rIns="27432" bIns="0">
            <a:spAutoFit/>
          </a:bodyPr>
          <a:lstStyle/>
          <a:p>
            <a:pPr algn="l">
              <a:spcAft>
                <a:spcPts val="600"/>
              </a:spcAft>
            </a:pPr>
            <a:r>
              <a:rPr sz="1300" b="0">
                <a:solidFill>
                  <a:srgbClr val="5A636B"/>
                </a:solidFill>
                <a:latin typeface="Calibri"/>
              </a:rPr>
              <a:t>The learning objective: training when the data does not fit in RAM</a:t>
            </a:r>
          </a:p>
        </p:txBody>
      </p:sp>
      <p:sp>
        <p:nvSpPr>
          <p:cNvPr id="5" name="Rounded Rectangle 4"/>
          <p:cNvSpPr/>
          <p:nvPr/>
        </p:nvSpPr>
        <p:spPr>
          <a:xfrm>
            <a:off x="548640" y="1371600"/>
            <a:ext cx="5486400" cy="22860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240" y="1508760"/>
            <a:ext cx="5029200" cy="320040"/>
          </a:xfrm>
          <a:prstGeom prst="rect">
            <a:avLst/>
          </a:prstGeom>
          <a:noFill/>
        </p:spPr>
        <p:txBody>
          <a:bodyPr wrap="square" lIns="27432" tIns="0" rIns="27432" bIns="0">
            <a:spAutoFit/>
          </a:bodyPr>
          <a:lstStyle/>
          <a:p>
            <a:pPr algn="l">
              <a:spcAft>
                <a:spcPts val="600"/>
              </a:spcAft>
            </a:pPr>
            <a:r>
              <a:rPr sz="1200" b="1">
                <a:solidFill>
                  <a:srgbClr val="5A636B"/>
                </a:solidFill>
                <a:latin typeface="Calibri"/>
              </a:rPr>
              <a:t>THE CONSTRAINT</a:t>
            </a:r>
          </a:p>
        </p:txBody>
      </p:sp>
      <p:sp>
        <p:nvSpPr>
          <p:cNvPr id="7" name="TextBox 6"/>
          <p:cNvSpPr txBox="1"/>
          <p:nvPr/>
        </p:nvSpPr>
        <p:spPr>
          <a:xfrm>
            <a:off x="777240" y="1874519"/>
            <a:ext cx="5029200" cy="1691640"/>
          </a:xfrm>
          <a:prstGeom prst="rect">
            <a:avLst/>
          </a:prstGeom>
          <a:noFill/>
        </p:spPr>
        <p:txBody>
          <a:bodyPr wrap="square" lIns="27432" tIns="0" rIns="27432" bIns="0">
            <a:spAutoFit/>
          </a:bodyPr>
          <a:lstStyle/>
          <a:p>
            <a:pPr algn="l">
              <a:spcAft>
                <a:spcPts val="400"/>
              </a:spcAft>
            </a:pPr>
            <a:r>
              <a:rPr sz="1250" b="0">
                <a:solidFill>
                  <a:srgbClr val="0E2A47"/>
                </a:solidFill>
                <a:latin typeface="Calibri"/>
              </a:rPr>
              <a:t>Standard model.fit(X, y) needs the entire design matrix resident in memory at once, plus room for the copies that scaling and shuffling create.</a:t>
            </a:r>
          </a:p>
          <a:p>
            <a:pPr algn="l">
              <a:spcAft>
                <a:spcPts val="400"/>
              </a:spcAft>
            </a:pPr>
            <a:endParaRPr sz="1250" b="0">
              <a:solidFill>
                <a:srgbClr val="0E2A47"/>
              </a:solidFill>
              <a:latin typeface="Calibri"/>
            </a:endParaRPr>
          </a:p>
          <a:p>
            <a:pPr algn="l">
              <a:spcAft>
                <a:spcPts val="400"/>
              </a:spcAft>
            </a:pPr>
            <a:r>
              <a:rPr sz="1250" b="0">
                <a:solidFill>
                  <a:srgbClr val="0E2A47"/>
                </a:solidFill>
                <a:latin typeface="Calibri"/>
              </a:rPr>
              <a:t>At 500,000 × 6 float64 that is only ~23 MB — comfortable. At 500 million rows it is ~23 GB, and the identical code crashes on a typical laptop.</a:t>
            </a:r>
          </a:p>
        </p:txBody>
      </p:sp>
      <p:sp>
        <p:nvSpPr>
          <p:cNvPr id="8" name="Rounded Rectangle 7"/>
          <p:cNvSpPr/>
          <p:nvPr/>
        </p:nvSpPr>
        <p:spPr>
          <a:xfrm>
            <a:off x="6309360" y="1371600"/>
            <a:ext cx="5303520" cy="2286000"/>
          </a:xfrm>
          <a:prstGeom prst="roundRect">
            <a:avLst/>
          </a:prstGeom>
          <a:solidFill>
            <a:srgbClr val="E8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537960" y="1508760"/>
            <a:ext cx="4846320" cy="320040"/>
          </a:xfrm>
          <a:prstGeom prst="rect">
            <a:avLst/>
          </a:prstGeom>
          <a:noFill/>
        </p:spPr>
        <p:txBody>
          <a:bodyPr wrap="square" lIns="27432" tIns="0" rIns="27432" bIns="0">
            <a:spAutoFit/>
          </a:bodyPr>
          <a:lstStyle/>
          <a:p>
            <a:pPr algn="l">
              <a:spcAft>
                <a:spcPts val="600"/>
              </a:spcAft>
            </a:pPr>
            <a:r>
              <a:rPr sz="1200" b="1">
                <a:solidFill>
                  <a:srgbClr val="1E7A3C"/>
                </a:solidFill>
                <a:latin typeface="Calibri"/>
              </a:rPr>
              <a:t>THE INCREMENTAL ALTERNATIVE</a:t>
            </a:r>
          </a:p>
        </p:txBody>
      </p:sp>
      <p:sp>
        <p:nvSpPr>
          <p:cNvPr id="10" name="TextBox 9"/>
          <p:cNvSpPr txBox="1"/>
          <p:nvPr/>
        </p:nvSpPr>
        <p:spPr>
          <a:xfrm>
            <a:off x="6537960" y="1874519"/>
            <a:ext cx="4846320" cy="1691640"/>
          </a:xfrm>
          <a:prstGeom prst="rect">
            <a:avLst/>
          </a:prstGeom>
          <a:noFill/>
        </p:spPr>
        <p:txBody>
          <a:bodyPr wrap="square" lIns="27432" tIns="0" rIns="27432" bIns="0">
            <a:spAutoFit/>
          </a:bodyPr>
          <a:lstStyle/>
          <a:p>
            <a:pPr algn="l">
              <a:spcAft>
                <a:spcPts val="400"/>
              </a:spcAft>
            </a:pPr>
            <a:r>
              <a:rPr sz="1250" b="0">
                <a:solidFill>
                  <a:srgbClr val="0E2A47"/>
                </a:solidFill>
                <a:latin typeface="Calibri"/>
              </a:rPr>
              <a:t>Hold one mini-batch at a time, update the weights, discard the batch, repeat.</a:t>
            </a:r>
          </a:p>
          <a:p>
            <a:pPr algn="l">
              <a:spcAft>
                <a:spcPts val="400"/>
              </a:spcAft>
            </a:pPr>
            <a:endParaRPr sz="1250" b="0">
              <a:solidFill>
                <a:srgbClr val="0E2A47"/>
              </a:solidFill>
              <a:latin typeface="Calibri"/>
            </a:endParaRPr>
          </a:p>
          <a:p>
            <a:pPr algn="l">
              <a:spcAft>
                <a:spcPts val="400"/>
              </a:spcAft>
            </a:pPr>
            <a:r>
              <a:rPr sz="1250" b="0">
                <a:solidFill>
                  <a:srgbClr val="0E2A47"/>
                </a:solidFill>
                <a:latin typeface="Calibri"/>
              </a:rPr>
              <a:t>A 32-row batch of 6 float64 columns is 1.5 KB. Memory cost becomes a function of BATCH SIZE, not of DATASET SIZE — so the same code runs on 500 thousand or 500 million rows.</a:t>
            </a:r>
          </a:p>
        </p:txBody>
      </p:sp>
      <p:graphicFrame>
        <p:nvGraphicFramePr>
          <p:cNvPr id="11" name="Table 10"/>
          <p:cNvGraphicFramePr>
            <a:graphicFrameLocks noGrp="1"/>
          </p:cNvGraphicFramePr>
          <p:nvPr/>
        </p:nvGraphicFramePr>
        <p:xfrm>
          <a:off x="548640" y="3886200"/>
          <a:ext cx="11064240" cy="2304288"/>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384048">
                <a:tc>
                  <a:txBody>
                    <a:bodyPr/>
                    <a:lstStyle/>
                    <a:p>
                      <a:endParaRPr/>
                    </a:p>
                  </a:txBody>
                  <a:tcPr marL="73152" marR="54864" marT="18288" marB="18288" anchor="ctr">
                    <a:solidFill>
                      <a:srgbClr val="0E2A47"/>
                    </a:solidFill>
                  </a:tcPr>
                </a:tc>
                <a:tc>
                  <a:txBody>
                    <a:bodyPr/>
                    <a:lstStyle/>
                    <a:p>
                      <a:r>
                        <a:rPr sz="1150" b="1">
                          <a:solidFill>
                            <a:srgbClr val="FFFFFF"/>
                          </a:solidFill>
                          <a:latin typeface="Calibri"/>
                        </a:rPr>
                        <a:t>Full-batch .fit()</a:t>
                      </a:r>
                    </a:p>
                  </a:txBody>
                  <a:tcPr marL="73152" marR="54864" marT="18288" marB="18288" anchor="ctr">
                    <a:solidFill>
                      <a:srgbClr val="0E2A47"/>
                    </a:solidFill>
                  </a:tcPr>
                </a:tc>
                <a:tc>
                  <a:txBody>
                    <a:bodyPr/>
                    <a:lstStyle/>
                    <a:p>
                      <a:r>
                        <a:rPr sz="1150" b="1">
                          <a:solidFill>
                            <a:srgbClr val="FFFFFF"/>
                          </a:solidFill>
                          <a:latin typeface="Calibri"/>
                        </a:rPr>
                        <a:t>Incremental train_on_batch()</a:t>
                      </a:r>
                    </a:p>
                  </a:txBody>
                  <a:tcPr marL="73152" marR="54864" marT="18288" marB="18288" anchor="ctr">
                    <a:solidFill>
                      <a:srgbClr val="0E2A47"/>
                    </a:solidFill>
                  </a:tcPr>
                </a:tc>
                <a:extLst>
                  <a:ext uri="{0D108BD9-81ED-4DB2-BD59-A6C34878D82A}">
                    <a16:rowId xmlns:a16="http://schemas.microsoft.com/office/drawing/2014/main" val="10000"/>
                  </a:ext>
                </a:extLst>
              </a:tr>
              <a:tr h="384048">
                <a:tc>
                  <a:txBody>
                    <a:bodyPr/>
                    <a:lstStyle/>
                    <a:p>
                      <a:r>
                        <a:rPr sz="1100" b="0">
                          <a:solidFill>
                            <a:srgbClr val="0E2A47"/>
                          </a:solidFill>
                          <a:latin typeface="Calibri"/>
                        </a:rPr>
                        <a:t>Peak memory</a:t>
                      </a:r>
                    </a:p>
                  </a:txBody>
                  <a:tcPr marL="73152" marR="54864" marT="18288" marB="18288" anchor="ctr">
                    <a:solidFill>
                      <a:srgbClr val="FFFFFF"/>
                    </a:solidFill>
                  </a:tcPr>
                </a:tc>
                <a:tc>
                  <a:txBody>
                    <a:bodyPr/>
                    <a:lstStyle/>
                    <a:p>
                      <a:r>
                        <a:rPr sz="1100" b="0">
                          <a:solidFill>
                            <a:srgbClr val="0E2A47"/>
                          </a:solidFill>
                          <a:latin typeface="Calibri"/>
                        </a:rPr>
                        <a:t>Scales with dataset size — O(n)</a:t>
                      </a:r>
                    </a:p>
                  </a:txBody>
                  <a:tcPr marL="73152" marR="54864" marT="18288" marB="18288" anchor="ctr">
                    <a:solidFill>
                      <a:srgbClr val="FFFFFF"/>
                    </a:solidFill>
                  </a:tcPr>
                </a:tc>
                <a:tc>
                  <a:txBody>
                    <a:bodyPr/>
                    <a:lstStyle/>
                    <a:p>
                      <a:r>
                        <a:rPr sz="1100" b="0">
                          <a:solidFill>
                            <a:srgbClr val="0E2A47"/>
                          </a:solidFill>
                          <a:latin typeface="Calibri"/>
                        </a:rPr>
                        <a:t>Scales with batch size — O(batch), constant in n</a:t>
                      </a:r>
                    </a:p>
                  </a:txBody>
                  <a:tcPr marL="73152" marR="54864" marT="18288" marB="18288" anchor="ctr">
                    <a:solidFill>
                      <a:srgbClr val="FFFFFF"/>
                    </a:solidFill>
                  </a:tcPr>
                </a:tc>
                <a:extLst>
                  <a:ext uri="{0D108BD9-81ED-4DB2-BD59-A6C34878D82A}">
                    <a16:rowId xmlns:a16="http://schemas.microsoft.com/office/drawing/2014/main" val="10001"/>
                  </a:ext>
                </a:extLst>
              </a:tr>
              <a:tr h="384048">
                <a:tc>
                  <a:txBody>
                    <a:bodyPr/>
                    <a:lstStyle/>
                    <a:p>
                      <a:r>
                        <a:rPr sz="1100" b="0">
                          <a:solidFill>
                            <a:srgbClr val="0E2A47"/>
                          </a:solidFill>
                          <a:latin typeface="Calibri"/>
                        </a:rPr>
                        <a:t>Gradient quality</a:t>
                      </a:r>
                    </a:p>
                  </a:txBody>
                  <a:tcPr marL="73152" marR="54864" marT="18288" marB="18288" anchor="ctr">
                    <a:solidFill>
                      <a:srgbClr val="F2F4F7"/>
                    </a:solidFill>
                  </a:tcPr>
                </a:tc>
                <a:tc>
                  <a:txBody>
                    <a:bodyPr/>
                    <a:lstStyle/>
                    <a:p>
                      <a:r>
                        <a:rPr sz="1100" b="0">
                          <a:solidFill>
                            <a:srgbClr val="0E2A47"/>
                          </a:solidFill>
                          <a:latin typeface="Calibri"/>
                        </a:rPr>
                        <a:t>Exact full-data gradient</a:t>
                      </a:r>
                    </a:p>
                  </a:txBody>
                  <a:tcPr marL="73152" marR="54864" marT="18288" marB="18288" anchor="ctr">
                    <a:solidFill>
                      <a:srgbClr val="F2F4F7"/>
                    </a:solidFill>
                  </a:tcPr>
                </a:tc>
                <a:tc>
                  <a:txBody>
                    <a:bodyPr/>
                    <a:lstStyle/>
                    <a:p>
                      <a:r>
                        <a:rPr sz="1100" b="0">
                          <a:solidFill>
                            <a:srgbClr val="0E2A47"/>
                          </a:solidFill>
                          <a:latin typeface="Calibri"/>
                        </a:rPr>
                        <a:t>Noisy estimate from 32 rows</a:t>
                      </a:r>
                    </a:p>
                  </a:txBody>
                  <a:tcPr marL="73152" marR="54864" marT="18288" marB="18288" anchor="ctr">
                    <a:solidFill>
                      <a:srgbClr val="F2F4F7"/>
                    </a:solidFill>
                  </a:tcPr>
                </a:tc>
                <a:extLst>
                  <a:ext uri="{0D108BD9-81ED-4DB2-BD59-A6C34878D82A}">
                    <a16:rowId xmlns:a16="http://schemas.microsoft.com/office/drawing/2014/main" val="10002"/>
                  </a:ext>
                </a:extLst>
              </a:tr>
              <a:tr h="384048">
                <a:tc>
                  <a:txBody>
                    <a:bodyPr/>
                    <a:lstStyle/>
                    <a:p>
                      <a:r>
                        <a:rPr sz="1100" b="0">
                          <a:solidFill>
                            <a:srgbClr val="0E2A47"/>
                          </a:solidFill>
                          <a:latin typeface="Calibri"/>
                        </a:rPr>
                        <a:t>Passes over data</a:t>
                      </a:r>
                    </a:p>
                  </a:txBody>
                  <a:tcPr marL="73152" marR="54864" marT="18288" marB="18288" anchor="ctr">
                    <a:solidFill>
                      <a:srgbClr val="FFFFFF"/>
                    </a:solidFill>
                  </a:tcPr>
                </a:tc>
                <a:tc>
                  <a:txBody>
                    <a:bodyPr/>
                    <a:lstStyle/>
                    <a:p>
                      <a:r>
                        <a:rPr sz="1100" b="0">
                          <a:solidFill>
                            <a:srgbClr val="0E2A47"/>
                          </a:solidFill>
                          <a:latin typeface="Calibri"/>
                        </a:rPr>
                        <a:t>Many epochs, cheap to repeat</a:t>
                      </a:r>
                    </a:p>
                  </a:txBody>
                  <a:tcPr marL="73152" marR="54864" marT="18288" marB="18288" anchor="ctr">
                    <a:solidFill>
                      <a:srgbClr val="FFFFFF"/>
                    </a:solidFill>
                  </a:tcPr>
                </a:tc>
                <a:tc>
                  <a:txBody>
                    <a:bodyPr/>
                    <a:lstStyle/>
                    <a:p>
                      <a:r>
                        <a:rPr sz="1100" b="0">
                          <a:solidFill>
                            <a:srgbClr val="0E2A47"/>
                          </a:solidFill>
                          <a:latin typeface="Calibri"/>
                        </a:rPr>
                        <a:t>1 pass here — each record seen once</a:t>
                      </a:r>
                    </a:p>
                  </a:txBody>
                  <a:tcPr marL="73152" marR="54864" marT="18288" marB="18288" anchor="ctr">
                    <a:solidFill>
                      <a:srgbClr val="FFFFFF"/>
                    </a:solidFill>
                  </a:tcPr>
                </a:tc>
                <a:extLst>
                  <a:ext uri="{0D108BD9-81ED-4DB2-BD59-A6C34878D82A}">
                    <a16:rowId xmlns:a16="http://schemas.microsoft.com/office/drawing/2014/main" val="10003"/>
                  </a:ext>
                </a:extLst>
              </a:tr>
              <a:tr h="384048">
                <a:tc>
                  <a:txBody>
                    <a:bodyPr/>
                    <a:lstStyle/>
                    <a:p>
                      <a:r>
                        <a:rPr sz="1100" b="0">
                          <a:solidFill>
                            <a:srgbClr val="0E2A47"/>
                          </a:solidFill>
                          <a:latin typeface="Calibri"/>
                        </a:rPr>
                        <a:t>Convergence</a:t>
                      </a:r>
                    </a:p>
                  </a:txBody>
                  <a:tcPr marL="73152" marR="54864" marT="18288" marB="18288" anchor="ctr">
                    <a:solidFill>
                      <a:srgbClr val="F2F4F7"/>
                    </a:solidFill>
                  </a:tcPr>
                </a:tc>
                <a:tc>
                  <a:txBody>
                    <a:bodyPr/>
                    <a:lstStyle/>
                    <a:p>
                      <a:r>
                        <a:rPr sz="1100" b="0">
                          <a:solidFill>
                            <a:srgbClr val="0E2A47"/>
                          </a:solidFill>
                          <a:latin typeface="Calibri"/>
                        </a:rPr>
                        <a:t>Smooth, monotone loss</a:t>
                      </a:r>
                    </a:p>
                  </a:txBody>
                  <a:tcPr marL="73152" marR="54864" marT="18288" marB="18288" anchor="ctr">
                    <a:solidFill>
                      <a:srgbClr val="F2F4F7"/>
                    </a:solidFill>
                  </a:tcPr>
                </a:tc>
                <a:tc>
                  <a:txBody>
                    <a:bodyPr/>
                    <a:lstStyle/>
                    <a:p>
                      <a:r>
                        <a:rPr sz="1100" b="0">
                          <a:solidFill>
                            <a:srgbClr val="0E2A47"/>
                          </a:solidFill>
                          <a:latin typeface="Calibri"/>
                        </a:rPr>
                        <a:t>Noisy; needs a moving average to read (slide 9)</a:t>
                      </a:r>
                    </a:p>
                  </a:txBody>
                  <a:tcPr marL="73152" marR="54864" marT="18288" marB="18288" anchor="ctr">
                    <a:solidFill>
                      <a:srgbClr val="F2F4F7"/>
                    </a:solidFill>
                  </a:tcPr>
                </a:tc>
                <a:extLst>
                  <a:ext uri="{0D108BD9-81ED-4DB2-BD59-A6C34878D82A}">
                    <a16:rowId xmlns:a16="http://schemas.microsoft.com/office/drawing/2014/main" val="10004"/>
                  </a:ext>
                </a:extLst>
              </a:tr>
              <a:tr h="384048">
                <a:tc>
                  <a:txBody>
                    <a:bodyPr/>
                    <a:lstStyle/>
                    <a:p>
                      <a:r>
                        <a:rPr sz="1100" b="0">
                          <a:solidFill>
                            <a:srgbClr val="0E2A47"/>
                          </a:solidFill>
                          <a:latin typeface="Calibri"/>
                        </a:rPr>
                        <a:t>Data order</a:t>
                      </a:r>
                    </a:p>
                  </a:txBody>
                  <a:tcPr marL="73152" marR="54864" marT="18288" marB="18288" anchor="ctr">
                    <a:solidFill>
                      <a:srgbClr val="FFFFFF"/>
                    </a:solidFill>
                  </a:tcPr>
                </a:tc>
                <a:tc>
                  <a:txBody>
                    <a:bodyPr/>
                    <a:lstStyle/>
                    <a:p>
                      <a:r>
                        <a:rPr sz="1100" b="0">
                          <a:solidFill>
                            <a:srgbClr val="0E2A47"/>
                          </a:solidFill>
                          <a:latin typeface="Calibri"/>
                        </a:rPr>
                        <a:t>Irrelevant — shuffled internally</a:t>
                      </a:r>
                    </a:p>
                  </a:txBody>
                  <a:tcPr marL="73152" marR="54864" marT="18288" marB="18288" anchor="ctr">
                    <a:solidFill>
                      <a:srgbClr val="FFFFFF"/>
                    </a:solidFill>
                  </a:tcPr>
                </a:tc>
                <a:tc>
                  <a:txBody>
                    <a:bodyPr/>
                    <a:lstStyle/>
                    <a:p>
                      <a:r>
                        <a:rPr sz="1100" b="0">
                          <a:solidFill>
                            <a:srgbClr val="0E2A47"/>
                          </a:solidFill>
                          <a:latin typeface="Calibri"/>
                        </a:rPr>
                        <a:t>Critical — sorted input biases the updates</a:t>
                      </a:r>
                    </a:p>
                  </a:txBody>
                  <a:tcPr marL="73152" marR="54864"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548640" y="6263640"/>
            <a:ext cx="11064240" cy="365760"/>
          </a:xfrm>
          <a:prstGeom prst="rect">
            <a:avLst/>
          </a:prstGeom>
          <a:noFill/>
        </p:spPr>
        <p:txBody>
          <a:bodyPr wrap="square" lIns="27432" tIns="0" rIns="27432" bIns="0">
            <a:spAutoFit/>
          </a:bodyPr>
          <a:lstStyle/>
          <a:p>
            <a:pPr algn="l">
              <a:spcAft>
                <a:spcPts val="600"/>
              </a:spcAft>
            </a:pPr>
            <a:r>
              <a:rPr sz="1200" b="1">
                <a:solidFill>
                  <a:srgbClr val="B06A00"/>
                </a:solidFill>
                <a:latin typeface="Calibri"/>
              </a:rPr>
              <a:t>Trade-off accepted: we give up gradient precision and epoch count to buy memory independence. The cost shows up as a noisy learning curve and an underfit model — both visible later in this deck.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9692640" cy="548640"/>
          </a:xfrm>
          <a:prstGeom prst="rect">
            <a:avLst/>
          </a:prstGeom>
          <a:noFill/>
        </p:spPr>
        <p:txBody>
          <a:bodyPr wrap="square" lIns="27432" tIns="0" rIns="27432" bIns="0">
            <a:spAutoFit/>
          </a:bodyPr>
          <a:lstStyle/>
          <a:p>
            <a:pPr algn="l">
              <a:spcAft>
                <a:spcPts val="600"/>
              </a:spcAft>
            </a:pPr>
            <a:r>
              <a:rPr sz="2700" b="1">
                <a:solidFill>
                  <a:srgbClr val="0E2A47"/>
                </a:solidFill>
                <a:latin typeface="Calibri"/>
              </a:rPr>
              <a:t>Network architecture</a:t>
            </a:r>
          </a:p>
        </p:txBody>
      </p:sp>
      <p:sp>
        <p:nvSpPr>
          <p:cNvPr id="4" name="TextBox 3"/>
          <p:cNvSpPr txBox="1"/>
          <p:nvPr/>
        </p:nvSpPr>
        <p:spPr>
          <a:xfrm>
            <a:off x="530352" y="841248"/>
            <a:ext cx="10241280" cy="365760"/>
          </a:xfrm>
          <a:prstGeom prst="rect">
            <a:avLst/>
          </a:prstGeom>
          <a:noFill/>
        </p:spPr>
        <p:txBody>
          <a:bodyPr wrap="square" lIns="27432" tIns="0" rIns="27432" bIns="0">
            <a:spAutoFit/>
          </a:bodyPr>
          <a:lstStyle/>
          <a:p>
            <a:pPr algn="l">
              <a:spcAft>
                <a:spcPts val="600"/>
              </a:spcAft>
            </a:pPr>
            <a:r>
              <a:rPr sz="1300" b="0">
                <a:solidFill>
                  <a:srgbClr val="5A636B"/>
                </a:solidFill>
                <a:latin typeface="Calibri"/>
              </a:rPr>
              <a:t>Three hidden layers, sigmoid activation — exactly as specified</a:t>
            </a:r>
          </a:p>
        </p:txBody>
      </p:sp>
      <p:sp>
        <p:nvSpPr>
          <p:cNvPr id="5" name="Rounded Rectangle 4"/>
          <p:cNvSpPr/>
          <p:nvPr/>
        </p:nvSpPr>
        <p:spPr>
          <a:xfrm>
            <a:off x="10378440" y="301752"/>
            <a:ext cx="1371600" cy="329184"/>
          </a:xfrm>
          <a:prstGeom prst="round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50" b="1">
                <a:solidFill>
                  <a:srgbClr val="FFFFFF"/>
                </a:solidFill>
              </a:rPr>
              <a:t>REQUIRED</a:t>
            </a:r>
          </a:p>
        </p:txBody>
      </p:sp>
      <p:sp>
        <p:nvSpPr>
          <p:cNvPr id="6" name="Rounded Rectangle 5"/>
          <p:cNvSpPr/>
          <p:nvPr/>
        </p:nvSpPr>
        <p:spPr>
          <a:xfrm>
            <a:off x="685800" y="1417320"/>
            <a:ext cx="1828800" cy="1600200"/>
          </a:xfrm>
          <a:prstGeom prst="roundRect">
            <a:avLst/>
          </a:prstGeom>
          <a:solidFill>
            <a:srgbClr val="F2F4F7"/>
          </a:solidFill>
          <a:ln w="15875">
            <a:solidFill>
              <a:srgbClr val="5A63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77240" y="1536192"/>
            <a:ext cx="1645920" cy="274320"/>
          </a:xfrm>
          <a:prstGeom prst="rect">
            <a:avLst/>
          </a:prstGeom>
          <a:noFill/>
        </p:spPr>
        <p:txBody>
          <a:bodyPr wrap="square" lIns="27432" tIns="0" rIns="27432" bIns="0">
            <a:spAutoFit/>
          </a:bodyPr>
          <a:lstStyle/>
          <a:p>
            <a:pPr algn="ctr">
              <a:spcAft>
                <a:spcPts val="600"/>
              </a:spcAft>
            </a:pPr>
            <a:r>
              <a:rPr sz="1050" b="1">
                <a:solidFill>
                  <a:srgbClr val="5A636B"/>
                </a:solidFill>
                <a:latin typeface="Calibri"/>
              </a:rPr>
              <a:t>INPUT</a:t>
            </a:r>
          </a:p>
        </p:txBody>
      </p:sp>
      <p:sp>
        <p:nvSpPr>
          <p:cNvPr id="8" name="TextBox 7"/>
          <p:cNvSpPr txBox="1"/>
          <p:nvPr/>
        </p:nvSpPr>
        <p:spPr>
          <a:xfrm>
            <a:off x="777240" y="1828800"/>
            <a:ext cx="1645920" cy="365760"/>
          </a:xfrm>
          <a:prstGeom prst="rect">
            <a:avLst/>
          </a:prstGeom>
          <a:noFill/>
        </p:spPr>
        <p:txBody>
          <a:bodyPr wrap="square" lIns="27432" tIns="0" rIns="27432" bIns="0">
            <a:spAutoFit/>
          </a:bodyPr>
          <a:lstStyle/>
          <a:p>
            <a:pPr algn="ctr">
              <a:spcAft>
                <a:spcPts val="600"/>
              </a:spcAft>
            </a:pPr>
            <a:r>
              <a:rPr sz="1700" b="1">
                <a:solidFill>
                  <a:srgbClr val="5A636B"/>
                </a:solidFill>
                <a:latin typeface="Calibri"/>
              </a:rPr>
              <a:t>5 features</a:t>
            </a:r>
          </a:p>
        </p:txBody>
      </p:sp>
      <p:sp>
        <p:nvSpPr>
          <p:cNvPr id="9" name="TextBox 8"/>
          <p:cNvSpPr txBox="1"/>
          <p:nvPr/>
        </p:nvSpPr>
        <p:spPr>
          <a:xfrm>
            <a:off x="777240" y="2286000"/>
            <a:ext cx="1645920" cy="640080"/>
          </a:xfrm>
          <a:prstGeom prst="rect">
            <a:avLst/>
          </a:prstGeom>
          <a:noFill/>
        </p:spPr>
        <p:txBody>
          <a:bodyPr wrap="square" lIns="27432" tIns="0" rIns="27432" bIns="0">
            <a:spAutoFit/>
          </a:bodyPr>
          <a:lstStyle/>
          <a:p>
            <a:pPr algn="ctr">
              <a:spcAft>
                <a:spcPts val="0"/>
              </a:spcAft>
            </a:pPr>
            <a:r>
              <a:rPr sz="1100" b="0">
                <a:solidFill>
                  <a:srgbClr val="0E2A47"/>
                </a:solidFill>
                <a:latin typeface="Calibri"/>
              </a:rPr>
              <a:t>sku, price, order,</a:t>
            </a:r>
          </a:p>
          <a:p>
            <a:pPr algn="ctr">
              <a:spcAft>
                <a:spcPts val="0"/>
              </a:spcAft>
            </a:pPr>
            <a:r>
              <a:rPr sz="1100" b="0">
                <a:solidFill>
                  <a:srgbClr val="0E2A47"/>
                </a:solidFill>
                <a:latin typeface="Calibri"/>
              </a:rPr>
              <a:t>duration, category</a:t>
            </a:r>
          </a:p>
        </p:txBody>
      </p:sp>
      <p:sp>
        <p:nvSpPr>
          <p:cNvPr id="10" name="TextBox 9"/>
          <p:cNvSpPr txBox="1"/>
          <p:nvPr/>
        </p:nvSpPr>
        <p:spPr>
          <a:xfrm>
            <a:off x="2514600" y="2057400"/>
            <a:ext cx="320040" cy="365760"/>
          </a:xfrm>
          <a:prstGeom prst="rect">
            <a:avLst/>
          </a:prstGeom>
          <a:noFill/>
        </p:spPr>
        <p:txBody>
          <a:bodyPr wrap="square" lIns="27432" tIns="0" rIns="27432" bIns="0">
            <a:spAutoFit/>
          </a:bodyPr>
          <a:lstStyle/>
          <a:p>
            <a:pPr algn="ctr">
              <a:spcAft>
                <a:spcPts val="600"/>
              </a:spcAft>
            </a:pPr>
            <a:r>
              <a:rPr sz="2000" b="1">
                <a:solidFill>
                  <a:srgbClr val="1F6FB4"/>
                </a:solidFill>
                <a:latin typeface="Calibri"/>
              </a:rPr>
              <a:t>→</a:t>
            </a:r>
          </a:p>
        </p:txBody>
      </p:sp>
      <p:sp>
        <p:nvSpPr>
          <p:cNvPr id="11" name="Rounded Rectangle 10"/>
          <p:cNvSpPr/>
          <p:nvPr/>
        </p:nvSpPr>
        <p:spPr>
          <a:xfrm>
            <a:off x="2788920" y="1417320"/>
            <a:ext cx="1828800" cy="1600200"/>
          </a:xfrm>
          <a:prstGeom prst="roundRect">
            <a:avLst/>
          </a:prstGeom>
          <a:solidFill>
            <a:srgbClr val="F2F4F7"/>
          </a:solidFill>
          <a:ln w="15875">
            <a:solidFill>
              <a:srgbClr val="1F6F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880360" y="1536192"/>
            <a:ext cx="1645920" cy="274320"/>
          </a:xfrm>
          <a:prstGeom prst="rect">
            <a:avLst/>
          </a:prstGeom>
          <a:noFill/>
        </p:spPr>
        <p:txBody>
          <a:bodyPr wrap="square" lIns="27432" tIns="0" rIns="27432" bIns="0">
            <a:spAutoFit/>
          </a:bodyPr>
          <a:lstStyle/>
          <a:p>
            <a:pPr algn="ctr">
              <a:spcAft>
                <a:spcPts val="600"/>
              </a:spcAft>
            </a:pPr>
            <a:r>
              <a:rPr sz="1050" b="1">
                <a:solidFill>
                  <a:srgbClr val="5A636B"/>
                </a:solidFill>
                <a:latin typeface="Calibri"/>
              </a:rPr>
              <a:t>HIDDEN 1</a:t>
            </a:r>
          </a:p>
        </p:txBody>
      </p:sp>
      <p:sp>
        <p:nvSpPr>
          <p:cNvPr id="13" name="TextBox 12"/>
          <p:cNvSpPr txBox="1"/>
          <p:nvPr/>
        </p:nvSpPr>
        <p:spPr>
          <a:xfrm>
            <a:off x="2880360" y="1828800"/>
            <a:ext cx="1645920" cy="365760"/>
          </a:xfrm>
          <a:prstGeom prst="rect">
            <a:avLst/>
          </a:prstGeom>
          <a:noFill/>
        </p:spPr>
        <p:txBody>
          <a:bodyPr wrap="square" lIns="27432" tIns="0" rIns="27432" bIns="0">
            <a:spAutoFit/>
          </a:bodyPr>
          <a:lstStyle/>
          <a:p>
            <a:pPr algn="ctr">
              <a:spcAft>
                <a:spcPts val="600"/>
              </a:spcAft>
            </a:pPr>
            <a:r>
              <a:rPr sz="1700" b="1">
                <a:solidFill>
                  <a:srgbClr val="1F6FB4"/>
                </a:solidFill>
                <a:latin typeface="Calibri"/>
              </a:rPr>
              <a:t>64 units</a:t>
            </a:r>
          </a:p>
        </p:txBody>
      </p:sp>
      <p:sp>
        <p:nvSpPr>
          <p:cNvPr id="14" name="TextBox 13"/>
          <p:cNvSpPr txBox="1"/>
          <p:nvPr/>
        </p:nvSpPr>
        <p:spPr>
          <a:xfrm>
            <a:off x="2880360" y="2286000"/>
            <a:ext cx="1645920" cy="640080"/>
          </a:xfrm>
          <a:prstGeom prst="rect">
            <a:avLst/>
          </a:prstGeom>
          <a:noFill/>
        </p:spPr>
        <p:txBody>
          <a:bodyPr wrap="square" lIns="27432" tIns="0" rIns="27432" bIns="0">
            <a:spAutoFit/>
          </a:bodyPr>
          <a:lstStyle/>
          <a:p>
            <a:pPr algn="ctr">
              <a:spcAft>
                <a:spcPts val="0"/>
              </a:spcAft>
            </a:pPr>
            <a:r>
              <a:rPr sz="1100" b="0">
                <a:solidFill>
                  <a:srgbClr val="0E2A47"/>
                </a:solidFill>
                <a:latin typeface="Calibri"/>
              </a:rPr>
              <a:t>sigmoid</a:t>
            </a:r>
          </a:p>
        </p:txBody>
      </p:sp>
      <p:sp>
        <p:nvSpPr>
          <p:cNvPr id="15" name="TextBox 14"/>
          <p:cNvSpPr txBox="1"/>
          <p:nvPr/>
        </p:nvSpPr>
        <p:spPr>
          <a:xfrm>
            <a:off x="4617720" y="2057400"/>
            <a:ext cx="320040" cy="365760"/>
          </a:xfrm>
          <a:prstGeom prst="rect">
            <a:avLst/>
          </a:prstGeom>
          <a:noFill/>
        </p:spPr>
        <p:txBody>
          <a:bodyPr wrap="square" lIns="27432" tIns="0" rIns="27432" bIns="0">
            <a:spAutoFit/>
          </a:bodyPr>
          <a:lstStyle/>
          <a:p>
            <a:pPr algn="ctr">
              <a:spcAft>
                <a:spcPts val="600"/>
              </a:spcAft>
            </a:pPr>
            <a:r>
              <a:rPr sz="2000" b="1">
                <a:solidFill>
                  <a:srgbClr val="1F6FB4"/>
                </a:solidFill>
                <a:latin typeface="Calibri"/>
              </a:rPr>
              <a:t>→</a:t>
            </a:r>
          </a:p>
        </p:txBody>
      </p:sp>
      <p:sp>
        <p:nvSpPr>
          <p:cNvPr id="16" name="Rounded Rectangle 15"/>
          <p:cNvSpPr/>
          <p:nvPr/>
        </p:nvSpPr>
        <p:spPr>
          <a:xfrm>
            <a:off x="4892040" y="1417320"/>
            <a:ext cx="1828800" cy="1600200"/>
          </a:xfrm>
          <a:prstGeom prst="roundRect">
            <a:avLst/>
          </a:prstGeom>
          <a:solidFill>
            <a:srgbClr val="F2F4F7"/>
          </a:solidFill>
          <a:ln w="15875">
            <a:solidFill>
              <a:srgbClr val="1F6F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983479" y="1536192"/>
            <a:ext cx="1645920" cy="274320"/>
          </a:xfrm>
          <a:prstGeom prst="rect">
            <a:avLst/>
          </a:prstGeom>
          <a:noFill/>
        </p:spPr>
        <p:txBody>
          <a:bodyPr wrap="square" lIns="27432" tIns="0" rIns="27432" bIns="0">
            <a:spAutoFit/>
          </a:bodyPr>
          <a:lstStyle/>
          <a:p>
            <a:pPr algn="ctr">
              <a:spcAft>
                <a:spcPts val="600"/>
              </a:spcAft>
            </a:pPr>
            <a:r>
              <a:rPr sz="1050" b="1">
                <a:solidFill>
                  <a:srgbClr val="5A636B"/>
                </a:solidFill>
                <a:latin typeface="Calibri"/>
              </a:rPr>
              <a:t>HIDDEN 2</a:t>
            </a:r>
          </a:p>
        </p:txBody>
      </p:sp>
      <p:sp>
        <p:nvSpPr>
          <p:cNvPr id="18" name="TextBox 17"/>
          <p:cNvSpPr txBox="1"/>
          <p:nvPr/>
        </p:nvSpPr>
        <p:spPr>
          <a:xfrm>
            <a:off x="4983479" y="1828800"/>
            <a:ext cx="1645920" cy="365760"/>
          </a:xfrm>
          <a:prstGeom prst="rect">
            <a:avLst/>
          </a:prstGeom>
          <a:noFill/>
        </p:spPr>
        <p:txBody>
          <a:bodyPr wrap="square" lIns="27432" tIns="0" rIns="27432" bIns="0">
            <a:spAutoFit/>
          </a:bodyPr>
          <a:lstStyle/>
          <a:p>
            <a:pPr algn="ctr">
              <a:spcAft>
                <a:spcPts val="600"/>
              </a:spcAft>
            </a:pPr>
            <a:r>
              <a:rPr sz="1700" b="1">
                <a:solidFill>
                  <a:srgbClr val="1F6FB4"/>
                </a:solidFill>
                <a:latin typeface="Calibri"/>
              </a:rPr>
              <a:t>32 units</a:t>
            </a:r>
          </a:p>
        </p:txBody>
      </p:sp>
      <p:sp>
        <p:nvSpPr>
          <p:cNvPr id="19" name="TextBox 18"/>
          <p:cNvSpPr txBox="1"/>
          <p:nvPr/>
        </p:nvSpPr>
        <p:spPr>
          <a:xfrm>
            <a:off x="4983479" y="2286000"/>
            <a:ext cx="1645920" cy="640080"/>
          </a:xfrm>
          <a:prstGeom prst="rect">
            <a:avLst/>
          </a:prstGeom>
          <a:noFill/>
        </p:spPr>
        <p:txBody>
          <a:bodyPr wrap="square" lIns="27432" tIns="0" rIns="27432" bIns="0">
            <a:spAutoFit/>
          </a:bodyPr>
          <a:lstStyle/>
          <a:p>
            <a:pPr algn="ctr">
              <a:spcAft>
                <a:spcPts val="0"/>
              </a:spcAft>
            </a:pPr>
            <a:r>
              <a:rPr sz="1100" b="0">
                <a:solidFill>
                  <a:srgbClr val="0E2A47"/>
                </a:solidFill>
                <a:latin typeface="Calibri"/>
              </a:rPr>
              <a:t>sigmoid</a:t>
            </a:r>
          </a:p>
        </p:txBody>
      </p:sp>
      <p:sp>
        <p:nvSpPr>
          <p:cNvPr id="20" name="TextBox 19"/>
          <p:cNvSpPr txBox="1"/>
          <p:nvPr/>
        </p:nvSpPr>
        <p:spPr>
          <a:xfrm>
            <a:off x="6720840" y="2057400"/>
            <a:ext cx="320040" cy="365760"/>
          </a:xfrm>
          <a:prstGeom prst="rect">
            <a:avLst/>
          </a:prstGeom>
          <a:noFill/>
        </p:spPr>
        <p:txBody>
          <a:bodyPr wrap="square" lIns="27432" tIns="0" rIns="27432" bIns="0">
            <a:spAutoFit/>
          </a:bodyPr>
          <a:lstStyle/>
          <a:p>
            <a:pPr algn="ctr">
              <a:spcAft>
                <a:spcPts val="600"/>
              </a:spcAft>
            </a:pPr>
            <a:r>
              <a:rPr sz="2000" b="1">
                <a:solidFill>
                  <a:srgbClr val="1F6FB4"/>
                </a:solidFill>
                <a:latin typeface="Calibri"/>
              </a:rPr>
              <a:t>→</a:t>
            </a:r>
          </a:p>
        </p:txBody>
      </p:sp>
      <p:sp>
        <p:nvSpPr>
          <p:cNvPr id="21" name="Rounded Rectangle 20"/>
          <p:cNvSpPr/>
          <p:nvPr/>
        </p:nvSpPr>
        <p:spPr>
          <a:xfrm>
            <a:off x="6995160" y="1417320"/>
            <a:ext cx="1828800" cy="1600200"/>
          </a:xfrm>
          <a:prstGeom prst="roundRect">
            <a:avLst/>
          </a:prstGeom>
          <a:solidFill>
            <a:srgbClr val="F2F4F7"/>
          </a:solidFill>
          <a:ln w="15875">
            <a:solidFill>
              <a:srgbClr val="1F6FB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086600" y="1536192"/>
            <a:ext cx="1645920" cy="274320"/>
          </a:xfrm>
          <a:prstGeom prst="rect">
            <a:avLst/>
          </a:prstGeom>
          <a:noFill/>
        </p:spPr>
        <p:txBody>
          <a:bodyPr wrap="square" lIns="27432" tIns="0" rIns="27432" bIns="0">
            <a:spAutoFit/>
          </a:bodyPr>
          <a:lstStyle/>
          <a:p>
            <a:pPr algn="ctr">
              <a:spcAft>
                <a:spcPts val="600"/>
              </a:spcAft>
            </a:pPr>
            <a:r>
              <a:rPr sz="1050" b="1">
                <a:solidFill>
                  <a:srgbClr val="5A636B"/>
                </a:solidFill>
                <a:latin typeface="Calibri"/>
              </a:rPr>
              <a:t>HIDDEN 3</a:t>
            </a:r>
          </a:p>
        </p:txBody>
      </p:sp>
      <p:sp>
        <p:nvSpPr>
          <p:cNvPr id="23" name="TextBox 22"/>
          <p:cNvSpPr txBox="1"/>
          <p:nvPr/>
        </p:nvSpPr>
        <p:spPr>
          <a:xfrm>
            <a:off x="7086600" y="1828800"/>
            <a:ext cx="1645920" cy="365760"/>
          </a:xfrm>
          <a:prstGeom prst="rect">
            <a:avLst/>
          </a:prstGeom>
          <a:noFill/>
        </p:spPr>
        <p:txBody>
          <a:bodyPr wrap="square" lIns="27432" tIns="0" rIns="27432" bIns="0">
            <a:spAutoFit/>
          </a:bodyPr>
          <a:lstStyle/>
          <a:p>
            <a:pPr algn="ctr">
              <a:spcAft>
                <a:spcPts val="600"/>
              </a:spcAft>
            </a:pPr>
            <a:r>
              <a:rPr sz="1700" b="1">
                <a:solidFill>
                  <a:srgbClr val="1F6FB4"/>
                </a:solidFill>
                <a:latin typeface="Calibri"/>
              </a:rPr>
              <a:t>16 units</a:t>
            </a:r>
          </a:p>
        </p:txBody>
      </p:sp>
      <p:sp>
        <p:nvSpPr>
          <p:cNvPr id="24" name="TextBox 23"/>
          <p:cNvSpPr txBox="1"/>
          <p:nvPr/>
        </p:nvSpPr>
        <p:spPr>
          <a:xfrm>
            <a:off x="7086600" y="2286000"/>
            <a:ext cx="1645920" cy="640080"/>
          </a:xfrm>
          <a:prstGeom prst="rect">
            <a:avLst/>
          </a:prstGeom>
          <a:noFill/>
        </p:spPr>
        <p:txBody>
          <a:bodyPr wrap="square" lIns="27432" tIns="0" rIns="27432" bIns="0">
            <a:spAutoFit/>
          </a:bodyPr>
          <a:lstStyle/>
          <a:p>
            <a:pPr algn="ctr">
              <a:spcAft>
                <a:spcPts val="0"/>
              </a:spcAft>
            </a:pPr>
            <a:r>
              <a:rPr sz="1100" b="0">
                <a:solidFill>
                  <a:srgbClr val="0E2A47"/>
                </a:solidFill>
                <a:latin typeface="Calibri"/>
              </a:rPr>
              <a:t>sigmoid</a:t>
            </a:r>
          </a:p>
        </p:txBody>
      </p:sp>
      <p:sp>
        <p:nvSpPr>
          <p:cNvPr id="25" name="TextBox 24"/>
          <p:cNvSpPr txBox="1"/>
          <p:nvPr/>
        </p:nvSpPr>
        <p:spPr>
          <a:xfrm>
            <a:off x="8823960" y="2057400"/>
            <a:ext cx="320040" cy="365760"/>
          </a:xfrm>
          <a:prstGeom prst="rect">
            <a:avLst/>
          </a:prstGeom>
          <a:noFill/>
        </p:spPr>
        <p:txBody>
          <a:bodyPr wrap="square" lIns="27432" tIns="0" rIns="27432" bIns="0">
            <a:spAutoFit/>
          </a:bodyPr>
          <a:lstStyle/>
          <a:p>
            <a:pPr algn="ctr">
              <a:spcAft>
                <a:spcPts val="600"/>
              </a:spcAft>
            </a:pPr>
            <a:r>
              <a:rPr sz="2000" b="1">
                <a:solidFill>
                  <a:srgbClr val="1F6FB4"/>
                </a:solidFill>
                <a:latin typeface="Calibri"/>
              </a:rPr>
              <a:t>→</a:t>
            </a:r>
          </a:p>
        </p:txBody>
      </p:sp>
      <p:sp>
        <p:nvSpPr>
          <p:cNvPr id="26" name="Rounded Rectangle 25"/>
          <p:cNvSpPr/>
          <p:nvPr/>
        </p:nvSpPr>
        <p:spPr>
          <a:xfrm>
            <a:off x="9098280" y="1417320"/>
            <a:ext cx="1828800" cy="1600200"/>
          </a:xfrm>
          <a:prstGeom prst="roundRect">
            <a:avLst/>
          </a:prstGeom>
          <a:solidFill>
            <a:srgbClr val="F2F4F7"/>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9189719" y="1536192"/>
            <a:ext cx="1645920" cy="274320"/>
          </a:xfrm>
          <a:prstGeom prst="rect">
            <a:avLst/>
          </a:prstGeom>
          <a:noFill/>
        </p:spPr>
        <p:txBody>
          <a:bodyPr wrap="square" lIns="27432" tIns="0" rIns="27432" bIns="0">
            <a:spAutoFit/>
          </a:bodyPr>
          <a:lstStyle/>
          <a:p>
            <a:pPr algn="ctr">
              <a:spcAft>
                <a:spcPts val="600"/>
              </a:spcAft>
            </a:pPr>
            <a:r>
              <a:rPr sz="1050" b="1">
                <a:solidFill>
                  <a:srgbClr val="5A636B"/>
                </a:solidFill>
                <a:latin typeface="Calibri"/>
              </a:rPr>
              <a:t>OUTPUT</a:t>
            </a:r>
          </a:p>
        </p:txBody>
      </p:sp>
      <p:sp>
        <p:nvSpPr>
          <p:cNvPr id="28" name="TextBox 27"/>
          <p:cNvSpPr txBox="1"/>
          <p:nvPr/>
        </p:nvSpPr>
        <p:spPr>
          <a:xfrm>
            <a:off x="9189719" y="1828800"/>
            <a:ext cx="1645920" cy="365760"/>
          </a:xfrm>
          <a:prstGeom prst="rect">
            <a:avLst/>
          </a:prstGeom>
          <a:noFill/>
        </p:spPr>
        <p:txBody>
          <a:bodyPr wrap="square" lIns="27432" tIns="0" rIns="27432" bIns="0">
            <a:spAutoFit/>
          </a:bodyPr>
          <a:lstStyle/>
          <a:p>
            <a:pPr algn="ctr">
              <a:spcAft>
                <a:spcPts val="600"/>
              </a:spcAft>
            </a:pPr>
            <a:r>
              <a:rPr sz="1700" b="1">
                <a:solidFill>
                  <a:srgbClr val="1E7A3C"/>
                </a:solidFill>
                <a:latin typeface="Calibri"/>
              </a:rPr>
              <a:t>1 unit</a:t>
            </a:r>
          </a:p>
        </p:txBody>
      </p:sp>
      <p:sp>
        <p:nvSpPr>
          <p:cNvPr id="29" name="TextBox 28"/>
          <p:cNvSpPr txBox="1"/>
          <p:nvPr/>
        </p:nvSpPr>
        <p:spPr>
          <a:xfrm>
            <a:off x="9189719" y="2286000"/>
            <a:ext cx="1645920" cy="640080"/>
          </a:xfrm>
          <a:prstGeom prst="rect">
            <a:avLst/>
          </a:prstGeom>
          <a:noFill/>
        </p:spPr>
        <p:txBody>
          <a:bodyPr wrap="square" lIns="27432" tIns="0" rIns="27432" bIns="0">
            <a:spAutoFit/>
          </a:bodyPr>
          <a:lstStyle/>
          <a:p>
            <a:pPr algn="ctr">
              <a:spcAft>
                <a:spcPts val="0"/>
              </a:spcAft>
            </a:pPr>
            <a:r>
              <a:rPr sz="1100" b="0">
                <a:solidFill>
                  <a:srgbClr val="0E2A47"/>
                </a:solidFill>
                <a:latin typeface="Calibri"/>
              </a:rPr>
              <a:t>linear</a:t>
            </a:r>
          </a:p>
        </p:txBody>
      </p:sp>
      <p:graphicFrame>
        <p:nvGraphicFramePr>
          <p:cNvPr id="30" name="Table 29"/>
          <p:cNvGraphicFramePr>
            <a:graphicFrameLocks noGrp="1"/>
          </p:cNvGraphicFramePr>
          <p:nvPr/>
        </p:nvGraphicFramePr>
        <p:xfrm>
          <a:off x="685800" y="3246120"/>
          <a:ext cx="5120640" cy="2084832"/>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347472">
                <a:tc>
                  <a:txBody>
                    <a:bodyPr/>
                    <a:lstStyle/>
                    <a:p>
                      <a:r>
                        <a:rPr sz="1150" b="1">
                          <a:solidFill>
                            <a:srgbClr val="FFFFFF"/>
                          </a:solidFill>
                          <a:latin typeface="Calibri"/>
                        </a:rPr>
                        <a:t>Layer</a:t>
                      </a:r>
                    </a:p>
                  </a:txBody>
                  <a:tcPr marL="73152" marR="54864" marT="18288" marB="18288" anchor="ctr">
                    <a:solidFill>
                      <a:srgbClr val="0E2A47"/>
                    </a:solidFill>
                  </a:tcPr>
                </a:tc>
                <a:tc>
                  <a:txBody>
                    <a:bodyPr/>
                    <a:lstStyle/>
                    <a:p>
                      <a:r>
                        <a:rPr sz="1150" b="1">
                          <a:solidFill>
                            <a:srgbClr val="FFFFFF"/>
                          </a:solidFill>
                          <a:latin typeface="Calibri"/>
                        </a:rPr>
                        <a:t>Shape</a:t>
                      </a:r>
                    </a:p>
                  </a:txBody>
                  <a:tcPr marL="73152" marR="54864" marT="18288" marB="18288" anchor="ctr">
                    <a:solidFill>
                      <a:srgbClr val="0E2A47"/>
                    </a:solidFill>
                  </a:tcPr>
                </a:tc>
                <a:tc>
                  <a:txBody>
                    <a:bodyPr/>
                    <a:lstStyle/>
                    <a:p>
                      <a:r>
                        <a:rPr sz="1150" b="1">
                          <a:solidFill>
                            <a:srgbClr val="FFFFFF"/>
                          </a:solidFill>
                          <a:latin typeface="Calibri"/>
                        </a:rPr>
                        <a:t>Parameters</a:t>
                      </a:r>
                    </a:p>
                  </a:txBody>
                  <a:tcPr marL="73152" marR="54864" marT="18288" marB="18288" anchor="ctr">
                    <a:solidFill>
                      <a:srgbClr val="0E2A47"/>
                    </a:solidFill>
                  </a:tcPr>
                </a:tc>
                <a:extLst>
                  <a:ext uri="{0D108BD9-81ED-4DB2-BD59-A6C34878D82A}">
                    <a16:rowId xmlns:a16="http://schemas.microsoft.com/office/drawing/2014/main" val="10000"/>
                  </a:ext>
                </a:extLst>
              </a:tr>
              <a:tr h="347472">
                <a:tc>
                  <a:txBody>
                    <a:bodyPr/>
                    <a:lstStyle/>
                    <a:p>
                      <a:r>
                        <a:rPr sz="1100" b="0">
                          <a:solidFill>
                            <a:srgbClr val="0E2A47"/>
                          </a:solidFill>
                          <a:latin typeface="Calibri"/>
                        </a:rPr>
                        <a:t>Dense 1 (sigmoid)</a:t>
                      </a:r>
                    </a:p>
                  </a:txBody>
                  <a:tcPr marL="73152" marR="54864" marT="18288" marB="18288" anchor="ctr">
                    <a:solidFill>
                      <a:srgbClr val="FFFFFF"/>
                    </a:solidFill>
                  </a:tcPr>
                </a:tc>
                <a:tc>
                  <a:txBody>
                    <a:bodyPr/>
                    <a:lstStyle/>
                    <a:p>
                      <a:r>
                        <a:rPr sz="1100" b="0">
                          <a:solidFill>
                            <a:srgbClr val="0E2A47"/>
                          </a:solidFill>
                          <a:latin typeface="Calibri"/>
                        </a:rPr>
                        <a:t>5 → 64</a:t>
                      </a:r>
                    </a:p>
                  </a:txBody>
                  <a:tcPr marL="73152" marR="54864" marT="18288" marB="18288" anchor="ctr">
                    <a:solidFill>
                      <a:srgbClr val="FFFFFF"/>
                    </a:solidFill>
                  </a:tcPr>
                </a:tc>
                <a:tc>
                  <a:txBody>
                    <a:bodyPr/>
                    <a:lstStyle/>
                    <a:p>
                      <a:r>
                        <a:rPr sz="1100" b="0">
                          <a:solidFill>
                            <a:srgbClr val="0E2A47"/>
                          </a:solidFill>
                          <a:latin typeface="Calibri"/>
                        </a:rPr>
                        <a:t>5×64 + 64 = 384</a:t>
                      </a:r>
                    </a:p>
                  </a:txBody>
                  <a:tcPr marL="73152" marR="54864" marT="18288" marB="18288" anchor="ctr">
                    <a:solidFill>
                      <a:srgbClr val="FFFFFF"/>
                    </a:solidFill>
                  </a:tcPr>
                </a:tc>
                <a:extLst>
                  <a:ext uri="{0D108BD9-81ED-4DB2-BD59-A6C34878D82A}">
                    <a16:rowId xmlns:a16="http://schemas.microsoft.com/office/drawing/2014/main" val="10001"/>
                  </a:ext>
                </a:extLst>
              </a:tr>
              <a:tr h="347472">
                <a:tc>
                  <a:txBody>
                    <a:bodyPr/>
                    <a:lstStyle/>
                    <a:p>
                      <a:r>
                        <a:rPr sz="1100" b="0">
                          <a:solidFill>
                            <a:srgbClr val="0E2A47"/>
                          </a:solidFill>
                          <a:latin typeface="Calibri"/>
                        </a:rPr>
                        <a:t>Dense 2 (sigmoid)</a:t>
                      </a:r>
                    </a:p>
                  </a:txBody>
                  <a:tcPr marL="73152" marR="54864" marT="18288" marB="18288" anchor="ctr">
                    <a:solidFill>
                      <a:srgbClr val="F2F4F7"/>
                    </a:solidFill>
                  </a:tcPr>
                </a:tc>
                <a:tc>
                  <a:txBody>
                    <a:bodyPr/>
                    <a:lstStyle/>
                    <a:p>
                      <a:r>
                        <a:rPr sz="1100" b="0">
                          <a:solidFill>
                            <a:srgbClr val="0E2A47"/>
                          </a:solidFill>
                          <a:latin typeface="Calibri"/>
                        </a:rPr>
                        <a:t>64 → 32</a:t>
                      </a:r>
                    </a:p>
                  </a:txBody>
                  <a:tcPr marL="73152" marR="54864" marT="18288" marB="18288" anchor="ctr">
                    <a:solidFill>
                      <a:srgbClr val="F2F4F7"/>
                    </a:solidFill>
                  </a:tcPr>
                </a:tc>
                <a:tc>
                  <a:txBody>
                    <a:bodyPr/>
                    <a:lstStyle/>
                    <a:p>
                      <a:r>
                        <a:rPr sz="1100" b="0">
                          <a:solidFill>
                            <a:srgbClr val="0E2A47"/>
                          </a:solidFill>
                          <a:latin typeface="Calibri"/>
                        </a:rPr>
                        <a:t>64×32 + 32 = 2,080</a:t>
                      </a:r>
                    </a:p>
                  </a:txBody>
                  <a:tcPr marL="73152" marR="54864" marT="18288" marB="18288" anchor="ctr">
                    <a:solidFill>
                      <a:srgbClr val="F2F4F7"/>
                    </a:solidFill>
                  </a:tcPr>
                </a:tc>
                <a:extLst>
                  <a:ext uri="{0D108BD9-81ED-4DB2-BD59-A6C34878D82A}">
                    <a16:rowId xmlns:a16="http://schemas.microsoft.com/office/drawing/2014/main" val="10002"/>
                  </a:ext>
                </a:extLst>
              </a:tr>
              <a:tr h="347472">
                <a:tc>
                  <a:txBody>
                    <a:bodyPr/>
                    <a:lstStyle/>
                    <a:p>
                      <a:r>
                        <a:rPr sz="1100" b="0">
                          <a:solidFill>
                            <a:srgbClr val="0E2A47"/>
                          </a:solidFill>
                          <a:latin typeface="Calibri"/>
                        </a:rPr>
                        <a:t>Dense 3 (sigmoid)</a:t>
                      </a:r>
                    </a:p>
                  </a:txBody>
                  <a:tcPr marL="73152" marR="54864" marT="18288" marB="18288" anchor="ctr">
                    <a:solidFill>
                      <a:srgbClr val="FFFFFF"/>
                    </a:solidFill>
                  </a:tcPr>
                </a:tc>
                <a:tc>
                  <a:txBody>
                    <a:bodyPr/>
                    <a:lstStyle/>
                    <a:p>
                      <a:r>
                        <a:rPr sz="1100" b="0">
                          <a:solidFill>
                            <a:srgbClr val="0E2A47"/>
                          </a:solidFill>
                          <a:latin typeface="Calibri"/>
                        </a:rPr>
                        <a:t>32 → 16</a:t>
                      </a:r>
                    </a:p>
                  </a:txBody>
                  <a:tcPr marL="73152" marR="54864" marT="18288" marB="18288" anchor="ctr">
                    <a:solidFill>
                      <a:srgbClr val="FFFFFF"/>
                    </a:solidFill>
                  </a:tcPr>
                </a:tc>
                <a:tc>
                  <a:txBody>
                    <a:bodyPr/>
                    <a:lstStyle/>
                    <a:p>
                      <a:r>
                        <a:rPr sz="1100" b="0">
                          <a:solidFill>
                            <a:srgbClr val="0E2A47"/>
                          </a:solidFill>
                          <a:latin typeface="Calibri"/>
                        </a:rPr>
                        <a:t>32×16 + 16 = 528</a:t>
                      </a:r>
                    </a:p>
                  </a:txBody>
                  <a:tcPr marL="73152" marR="54864" marT="18288" marB="18288" anchor="ctr">
                    <a:solidFill>
                      <a:srgbClr val="FFFFFF"/>
                    </a:solidFill>
                  </a:tcPr>
                </a:tc>
                <a:extLst>
                  <a:ext uri="{0D108BD9-81ED-4DB2-BD59-A6C34878D82A}">
                    <a16:rowId xmlns:a16="http://schemas.microsoft.com/office/drawing/2014/main" val="10003"/>
                  </a:ext>
                </a:extLst>
              </a:tr>
              <a:tr h="347472">
                <a:tc>
                  <a:txBody>
                    <a:bodyPr/>
                    <a:lstStyle/>
                    <a:p>
                      <a:r>
                        <a:rPr sz="1100" b="0">
                          <a:solidFill>
                            <a:srgbClr val="0E2A47"/>
                          </a:solidFill>
                          <a:latin typeface="Calibri"/>
                        </a:rPr>
                        <a:t>Dense 4 (linear)</a:t>
                      </a:r>
                    </a:p>
                  </a:txBody>
                  <a:tcPr marL="73152" marR="54864" marT="18288" marB="18288" anchor="ctr">
                    <a:solidFill>
                      <a:srgbClr val="F2F4F7"/>
                    </a:solidFill>
                  </a:tcPr>
                </a:tc>
                <a:tc>
                  <a:txBody>
                    <a:bodyPr/>
                    <a:lstStyle/>
                    <a:p>
                      <a:r>
                        <a:rPr sz="1100" b="0">
                          <a:solidFill>
                            <a:srgbClr val="0E2A47"/>
                          </a:solidFill>
                          <a:latin typeface="Calibri"/>
                        </a:rPr>
                        <a:t>16 → 1</a:t>
                      </a:r>
                    </a:p>
                  </a:txBody>
                  <a:tcPr marL="73152" marR="54864" marT="18288" marB="18288" anchor="ctr">
                    <a:solidFill>
                      <a:srgbClr val="F2F4F7"/>
                    </a:solidFill>
                  </a:tcPr>
                </a:tc>
                <a:tc>
                  <a:txBody>
                    <a:bodyPr/>
                    <a:lstStyle/>
                    <a:p>
                      <a:r>
                        <a:rPr sz="1100" b="0">
                          <a:solidFill>
                            <a:srgbClr val="0E2A47"/>
                          </a:solidFill>
                          <a:latin typeface="Calibri"/>
                        </a:rPr>
                        <a:t>16×1 + 1 = 17</a:t>
                      </a:r>
                    </a:p>
                  </a:txBody>
                  <a:tcPr marL="73152" marR="54864" marT="18288" marB="18288" anchor="ctr">
                    <a:solidFill>
                      <a:srgbClr val="F2F4F7"/>
                    </a:solidFill>
                  </a:tcPr>
                </a:tc>
                <a:extLst>
                  <a:ext uri="{0D108BD9-81ED-4DB2-BD59-A6C34878D82A}">
                    <a16:rowId xmlns:a16="http://schemas.microsoft.com/office/drawing/2014/main" val="10004"/>
                  </a:ext>
                </a:extLst>
              </a:tr>
              <a:tr h="347472">
                <a:tc>
                  <a:txBody>
                    <a:bodyPr/>
                    <a:lstStyle/>
                    <a:p>
                      <a:r>
                        <a:rPr sz="1100" b="0">
                          <a:solidFill>
                            <a:srgbClr val="0E2A47"/>
                          </a:solidFill>
                          <a:latin typeface="Calibri"/>
                        </a:rPr>
                        <a:t>TOTAL</a:t>
                      </a:r>
                    </a:p>
                  </a:txBody>
                  <a:tcPr marL="73152" marR="54864" marT="18288" marB="18288" anchor="ctr">
                    <a:solidFill>
                      <a:srgbClr val="FFFFFF"/>
                    </a:solidFill>
                  </a:tcPr>
                </a:tc>
                <a:tc>
                  <a:txBody>
                    <a:bodyPr/>
                    <a:lstStyle/>
                    <a:p>
                      <a:endParaRPr/>
                    </a:p>
                  </a:txBody>
                  <a:tcPr marL="73152" marR="54864" marT="18288" marB="18288" anchor="ctr">
                    <a:solidFill>
                      <a:srgbClr val="FFFFFF"/>
                    </a:solidFill>
                  </a:tcPr>
                </a:tc>
                <a:tc>
                  <a:txBody>
                    <a:bodyPr/>
                    <a:lstStyle/>
                    <a:p>
                      <a:r>
                        <a:rPr sz="1100" b="0">
                          <a:solidFill>
                            <a:srgbClr val="0E2A47"/>
                          </a:solidFill>
                          <a:latin typeface="Calibri"/>
                        </a:rPr>
                        <a:t>3,009</a:t>
                      </a:r>
                    </a:p>
                  </a:txBody>
                  <a:tcPr marL="73152" marR="54864"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31" name="Rounded Rectangle 30"/>
          <p:cNvSpPr/>
          <p:nvPr/>
        </p:nvSpPr>
        <p:spPr>
          <a:xfrm>
            <a:off x="6172200" y="3246120"/>
            <a:ext cx="5440680" cy="2084831"/>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400800" y="3364992"/>
            <a:ext cx="5029200" cy="274320"/>
          </a:xfrm>
          <a:prstGeom prst="rect">
            <a:avLst/>
          </a:prstGeom>
          <a:noFill/>
        </p:spPr>
        <p:txBody>
          <a:bodyPr wrap="square" lIns="27432" tIns="0" rIns="27432" bIns="0">
            <a:spAutoFit/>
          </a:bodyPr>
          <a:lstStyle/>
          <a:p>
            <a:pPr algn="l">
              <a:spcAft>
                <a:spcPts val="600"/>
              </a:spcAft>
            </a:pPr>
            <a:r>
              <a:rPr sz="1200" b="1">
                <a:solidFill>
                  <a:srgbClr val="5A636B"/>
                </a:solidFill>
                <a:latin typeface="Calibri"/>
              </a:rPr>
              <a:t>DESIGN DECISIONS — AND WHY</a:t>
            </a:r>
          </a:p>
        </p:txBody>
      </p:sp>
      <p:sp>
        <p:nvSpPr>
          <p:cNvPr id="33" name="TextBox 32"/>
          <p:cNvSpPr txBox="1"/>
          <p:nvPr/>
        </p:nvSpPr>
        <p:spPr>
          <a:xfrm>
            <a:off x="6400800" y="3657600"/>
            <a:ext cx="5029200" cy="1600200"/>
          </a:xfrm>
          <a:prstGeom prst="rect">
            <a:avLst/>
          </a:prstGeom>
          <a:noFill/>
        </p:spPr>
        <p:txBody>
          <a:bodyPr wrap="square" lIns="27432" tIns="0" rIns="27432" bIns="0">
            <a:spAutoFit/>
          </a:bodyPr>
          <a:lstStyle/>
          <a:p>
            <a:pPr algn="l">
              <a:spcAft>
                <a:spcPts val="400"/>
              </a:spcAft>
            </a:pPr>
            <a:r>
              <a:rPr sz="1150" b="0">
                <a:solidFill>
                  <a:srgbClr val="0E2A47"/>
                </a:solidFill>
                <a:latin typeface="Calibri"/>
              </a:rPr>
              <a:t>Sigmoid — required by the assignment. It is not what we would choose freely: it saturates and throttles gradients (slide 15).</a:t>
            </a:r>
          </a:p>
          <a:p>
            <a:pPr algn="l">
              <a:spcAft>
                <a:spcPts val="400"/>
              </a:spcAft>
            </a:pPr>
            <a:r>
              <a:rPr sz="1150" b="0">
                <a:solidFill>
                  <a:srgbClr val="0E2A47"/>
                </a:solidFill>
                <a:latin typeface="Calibri"/>
              </a:rPr>
              <a:t>3 hidden layers — required. 64→32→16 tapers so each layer compresses the representation.</a:t>
            </a:r>
          </a:p>
          <a:p>
            <a:pPr algn="l">
              <a:spcAft>
                <a:spcPts val="400"/>
              </a:spcAft>
            </a:pPr>
            <a:r>
              <a:rPr sz="1150" b="0">
                <a:solidFill>
                  <a:srgbClr val="0E2A47"/>
                </a:solidFill>
                <a:latin typeface="Calibri"/>
              </a:rPr>
              <a:t>Linear output — quantity is unbounded and positive; a sigmoid output would cap predictions at 1.</a:t>
            </a:r>
          </a:p>
          <a:p>
            <a:pPr algn="l">
              <a:spcAft>
                <a:spcPts val="400"/>
              </a:spcAft>
            </a:pPr>
            <a:r>
              <a:rPr sz="1150" b="0">
                <a:solidFill>
                  <a:srgbClr val="0E2A47"/>
                </a:solidFill>
                <a:latin typeface="Calibri"/>
              </a:rPr>
              <a:t>Adam, lr = 0.005 — raised from 0.001 once the target was standardised; measured test R² 0.519 → 0.532.</a:t>
            </a:r>
          </a:p>
        </p:txBody>
      </p:sp>
      <p:sp>
        <p:nvSpPr>
          <p:cNvPr id="34" name="TextBox 33"/>
          <p:cNvSpPr txBox="1"/>
          <p:nvPr/>
        </p:nvSpPr>
        <p:spPr>
          <a:xfrm>
            <a:off x="685800" y="5486400"/>
            <a:ext cx="10972800" cy="822960"/>
          </a:xfrm>
          <a:prstGeom prst="rect">
            <a:avLst/>
          </a:prstGeom>
          <a:noFill/>
        </p:spPr>
        <p:txBody>
          <a:bodyPr wrap="square" lIns="27432" tIns="0" rIns="27432" bIns="0">
            <a:spAutoFit/>
          </a:bodyPr>
          <a:lstStyle/>
          <a:p>
            <a:pPr algn="l">
              <a:spcAft>
                <a:spcPts val="300"/>
              </a:spcAft>
            </a:pPr>
            <a:r>
              <a:rPr sz="1200" b="0">
                <a:solidFill>
                  <a:srgbClr val="0E2A47"/>
                </a:solidFill>
                <a:latin typeface="Calibri"/>
              </a:rPr>
              <a:t>Why 3,009 parameters is a small model for 400,000 training rows: roughly 133 records per parameter. Overfitting is therefore very unlikely here — and indeed train and test R² differ by only 0.0007. The risk in this setup is the opposite one, underfitting, which is exactly what the results show.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9692640" cy="548640"/>
          </a:xfrm>
          <a:prstGeom prst="rect">
            <a:avLst/>
          </a:prstGeom>
          <a:noFill/>
        </p:spPr>
        <p:txBody>
          <a:bodyPr wrap="square" lIns="27432" tIns="0" rIns="27432" bIns="0">
            <a:spAutoFit/>
          </a:bodyPr>
          <a:lstStyle/>
          <a:p>
            <a:pPr algn="l">
              <a:spcAft>
                <a:spcPts val="600"/>
              </a:spcAft>
            </a:pPr>
            <a:r>
              <a:rPr sz="2700" b="1">
                <a:solidFill>
                  <a:srgbClr val="0E2A47"/>
                </a:solidFill>
                <a:latin typeface="Calibri"/>
              </a:rPr>
              <a:t>The incremental training loop</a:t>
            </a:r>
          </a:p>
        </p:txBody>
      </p:sp>
      <p:sp>
        <p:nvSpPr>
          <p:cNvPr id="4" name="TextBox 3"/>
          <p:cNvSpPr txBox="1"/>
          <p:nvPr/>
        </p:nvSpPr>
        <p:spPr>
          <a:xfrm>
            <a:off x="530352" y="841248"/>
            <a:ext cx="10241280" cy="365760"/>
          </a:xfrm>
          <a:prstGeom prst="rect">
            <a:avLst/>
          </a:prstGeom>
          <a:noFill/>
        </p:spPr>
        <p:txBody>
          <a:bodyPr wrap="square" lIns="27432" tIns="0" rIns="27432" bIns="0">
            <a:spAutoFit/>
          </a:bodyPr>
          <a:lstStyle/>
          <a:p>
            <a:pPr algn="l">
              <a:spcAft>
                <a:spcPts val="600"/>
              </a:spcAft>
            </a:pPr>
            <a:r>
              <a:rPr sz="1300" b="0">
                <a:solidFill>
                  <a:srgbClr val="5A636B"/>
                </a:solidFill>
                <a:latin typeface="Calibri"/>
              </a:rPr>
              <a:t>Read a mini-batch → update the weights → discard → repeat</a:t>
            </a:r>
          </a:p>
        </p:txBody>
      </p:sp>
      <p:sp>
        <p:nvSpPr>
          <p:cNvPr id="5" name="Rounded Rectangle 4"/>
          <p:cNvSpPr/>
          <p:nvPr/>
        </p:nvSpPr>
        <p:spPr>
          <a:xfrm>
            <a:off x="10378440" y="301752"/>
            <a:ext cx="1371600" cy="329184"/>
          </a:xfrm>
          <a:prstGeom prst="round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50" b="1">
                <a:solidFill>
                  <a:srgbClr val="FFFFFF"/>
                </a:solidFill>
              </a:rPr>
              <a:t>REQUIRED</a:t>
            </a:r>
          </a:p>
        </p:txBody>
      </p:sp>
      <p:sp>
        <p:nvSpPr>
          <p:cNvPr id="6" name="Rounded Rectangle 5"/>
          <p:cNvSpPr/>
          <p:nvPr/>
        </p:nvSpPr>
        <p:spPr>
          <a:xfrm>
            <a:off x="548640" y="1325880"/>
            <a:ext cx="6629400" cy="3703320"/>
          </a:xfrm>
          <a:prstGeom prst="roundRect">
            <a:avLst/>
          </a:prstGeom>
          <a:solidFill>
            <a:srgbClr val="1B2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3232" y="1453895"/>
            <a:ext cx="6355080" cy="3474720"/>
          </a:xfrm>
          <a:prstGeom prst="rect">
            <a:avLst/>
          </a:prstGeom>
          <a:noFill/>
        </p:spPr>
        <p:txBody>
          <a:bodyPr wrap="square">
            <a:spAutoFit/>
          </a:bodyPr>
          <a:lstStyle/>
          <a:p>
            <a:pPr>
              <a:spcAft>
                <a:spcPts val="150"/>
              </a:spcAft>
            </a:pPr>
            <a:r>
              <a:rPr sz="1200">
                <a:solidFill>
                  <a:srgbClr val="7EC8FF"/>
                </a:solidFill>
                <a:latin typeface="Consolas"/>
              </a:rPr>
              <a:t># data_handler.py -- generator: yields one batch at a time</a:t>
            </a:r>
          </a:p>
          <a:p>
            <a:pPr>
              <a:spcAft>
                <a:spcPts val="150"/>
              </a:spcAft>
            </a:pPr>
            <a:r>
              <a:rPr sz="1200">
                <a:solidFill>
                  <a:srgbClr val="ECF1F6"/>
                </a:solidFill>
                <a:latin typeface="Consolas"/>
              </a:rPr>
              <a:t>def create_mini_batches(X, y, batch_size=32):</a:t>
            </a:r>
          </a:p>
          <a:p>
            <a:pPr>
              <a:spcAft>
                <a:spcPts val="150"/>
              </a:spcAft>
            </a:pPr>
            <a:r>
              <a:rPr sz="1200">
                <a:solidFill>
                  <a:srgbClr val="ECF1F6"/>
                </a:solidFill>
                <a:latin typeface="Consolas"/>
              </a:rPr>
              <a:t>    for i in range(0, len(X), batch_size):</a:t>
            </a:r>
          </a:p>
          <a:p>
            <a:pPr>
              <a:spcAft>
                <a:spcPts val="150"/>
              </a:spcAft>
            </a:pPr>
            <a:r>
              <a:rPr sz="1200">
                <a:solidFill>
                  <a:srgbClr val="ECF1F6"/>
                </a:solidFill>
                <a:latin typeface="Consolas"/>
              </a:rPr>
              <a:t>        yield X.iloc[i:i+batch_size].values, \</a:t>
            </a:r>
          </a:p>
          <a:p>
            <a:pPr>
              <a:spcAft>
                <a:spcPts val="150"/>
              </a:spcAft>
            </a:pPr>
            <a:r>
              <a:rPr sz="1200">
                <a:solidFill>
                  <a:srgbClr val="ECF1F6"/>
                </a:solidFill>
                <a:latin typeface="Consolas"/>
              </a:rPr>
              <a:t>              y.iloc[i:i+batch_size].values</a:t>
            </a:r>
          </a:p>
          <a:p>
            <a:pPr>
              <a:spcAft>
                <a:spcPts val="150"/>
              </a:spcAft>
            </a:pPr>
            <a:endParaRPr sz="1200">
              <a:solidFill>
                <a:srgbClr val="ECF1F6"/>
              </a:solidFill>
              <a:latin typeface="Consolas"/>
            </a:endParaRPr>
          </a:p>
          <a:p>
            <a:pPr>
              <a:spcAft>
                <a:spcPts val="150"/>
              </a:spcAft>
            </a:pPr>
            <a:r>
              <a:rPr sz="1200">
                <a:solidFill>
                  <a:srgbClr val="7EC8FF"/>
                </a:solidFill>
                <a:latin typeface="Consolas"/>
              </a:rPr>
              <a:t># main.py -- the incremental loop</a:t>
            </a:r>
          </a:p>
          <a:p>
            <a:pPr>
              <a:spcAft>
                <a:spcPts val="150"/>
              </a:spcAft>
            </a:pPr>
            <a:r>
              <a:rPr sz="1200">
                <a:solidFill>
                  <a:srgbClr val="ECF1F6"/>
                </a:solidFill>
                <a:latin typeface="Consolas"/>
              </a:rPr>
              <a:t>model = build_model()</a:t>
            </a:r>
          </a:p>
          <a:p>
            <a:pPr>
              <a:spcAft>
                <a:spcPts val="150"/>
              </a:spcAft>
            </a:pPr>
            <a:r>
              <a:rPr sz="1200">
                <a:solidFill>
                  <a:srgbClr val="ECF1F6"/>
                </a:solidFill>
                <a:latin typeface="Consolas"/>
              </a:rPr>
              <a:t>y_scaled, y_mean, y_std = scale_target(y_train)   # standardise y</a:t>
            </a:r>
          </a:p>
          <a:p>
            <a:pPr>
              <a:spcAft>
                <a:spcPts val="150"/>
              </a:spcAft>
            </a:pPr>
            <a:r>
              <a:rPr sz="1200">
                <a:solidFill>
                  <a:srgbClr val="ECF1F6"/>
                </a:solidFill>
                <a:latin typeface="Consolas"/>
              </a:rPr>
              <a:t>mse_history = []</a:t>
            </a:r>
          </a:p>
          <a:p>
            <a:pPr>
              <a:spcAft>
                <a:spcPts val="150"/>
              </a:spcAft>
            </a:pPr>
            <a:endParaRPr sz="1200">
              <a:solidFill>
                <a:srgbClr val="ECF1F6"/>
              </a:solidFill>
              <a:latin typeface="Consolas"/>
            </a:endParaRPr>
          </a:p>
          <a:p>
            <a:pPr>
              <a:spcAft>
                <a:spcPts val="150"/>
              </a:spcAft>
            </a:pPr>
            <a:r>
              <a:rPr sz="1200">
                <a:solidFill>
                  <a:srgbClr val="ECF1F6"/>
                </a:solidFill>
                <a:latin typeface="Consolas"/>
              </a:rPr>
              <a:t>for X_batch, y_batch in create_mini_batches(X_train, y_scaled):</a:t>
            </a:r>
          </a:p>
          <a:p>
            <a:pPr>
              <a:spcAft>
                <a:spcPts val="150"/>
              </a:spcAft>
            </a:pPr>
            <a:r>
              <a:rPr sz="1200">
                <a:solidFill>
                  <a:srgbClr val="ECF1F6"/>
                </a:solidFill>
                <a:latin typeface="Consolas"/>
              </a:rPr>
              <a:t>    loss = model.train_on_batch(X_batch, y_batch)  # ONE update</a:t>
            </a:r>
          </a:p>
          <a:p>
            <a:pPr>
              <a:spcAft>
                <a:spcPts val="150"/>
              </a:spcAft>
            </a:pPr>
            <a:r>
              <a:rPr sz="1200">
                <a:solidFill>
                  <a:srgbClr val="ECF1F6"/>
                </a:solidFill>
                <a:latin typeface="Consolas"/>
              </a:rPr>
              <a:t>    mse_history.append(loss)                       # standardised units</a:t>
            </a:r>
          </a:p>
          <a:p>
            <a:pPr>
              <a:spcAft>
                <a:spcPts val="150"/>
              </a:spcAft>
            </a:pPr>
            <a:r>
              <a:rPr sz="1200">
                <a:solidFill>
                  <a:srgbClr val="ECF1F6"/>
                </a:solidFill>
                <a:latin typeface="Consolas"/>
              </a:rPr>
              <a:t>    tracker.log('batch', batch=batch_count)        # log RAM</a:t>
            </a:r>
          </a:p>
          <a:p>
            <a:pPr>
              <a:spcAft>
                <a:spcPts val="150"/>
              </a:spcAft>
            </a:pPr>
            <a:endParaRPr sz="1200">
              <a:solidFill>
                <a:srgbClr val="ECF1F6"/>
              </a:solidFill>
              <a:latin typeface="Consolas"/>
            </a:endParaRPr>
          </a:p>
          <a:p>
            <a:pPr>
              <a:spcAft>
                <a:spcPts val="150"/>
              </a:spcAft>
            </a:pPr>
            <a:r>
              <a:rPr sz="1200">
                <a:solidFill>
                  <a:srgbClr val="7EC8FF"/>
                </a:solidFill>
                <a:latin typeface="Consolas"/>
              </a:rPr>
              <a:t># back to quantity units: MSE scales with the square of sigma</a:t>
            </a:r>
          </a:p>
          <a:p>
            <a:pPr>
              <a:spcAft>
                <a:spcPts val="150"/>
              </a:spcAft>
            </a:pPr>
            <a:r>
              <a:rPr sz="1200">
                <a:solidFill>
                  <a:srgbClr val="ECF1F6"/>
                </a:solidFill>
                <a:latin typeface="Consolas"/>
              </a:rPr>
              <a:t>mse_history = [m * y_std**2 for m in mse_history]</a:t>
            </a:r>
          </a:p>
          <a:p>
            <a:pPr>
              <a:spcAft>
                <a:spcPts val="150"/>
              </a:spcAft>
            </a:pPr>
            <a:endParaRPr sz="1200">
              <a:solidFill>
                <a:srgbClr val="ECF1F6"/>
              </a:solidFill>
              <a:latin typeface="Consolas"/>
            </a:endParaRPr>
          </a:p>
          <a:p>
            <a:pPr>
              <a:spcAft>
                <a:spcPts val="150"/>
              </a:spcAft>
            </a:pPr>
            <a:r>
              <a:rPr sz="1200">
                <a:solidFill>
                  <a:srgbClr val="7EC8FF"/>
                </a:solidFill>
                <a:latin typeface="Consolas"/>
              </a:rPr>
              <a:t># 12,500 iterations x 32 rows = 400,000 records learned</a:t>
            </a:r>
          </a:p>
        </p:txBody>
      </p:sp>
      <p:sp>
        <p:nvSpPr>
          <p:cNvPr id="8" name="Rounded Rectangle 7"/>
          <p:cNvSpPr/>
          <p:nvPr/>
        </p:nvSpPr>
        <p:spPr>
          <a:xfrm>
            <a:off x="7452360" y="1325880"/>
            <a:ext cx="4160520" cy="370332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680960" y="1463040"/>
            <a:ext cx="3749039"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WHY THIS IS GENUINELY INCREMENTAL</a:t>
            </a:r>
          </a:p>
        </p:txBody>
      </p:sp>
      <p:sp>
        <p:nvSpPr>
          <p:cNvPr id="10" name="TextBox 9"/>
          <p:cNvSpPr txBox="1"/>
          <p:nvPr/>
        </p:nvSpPr>
        <p:spPr>
          <a:xfrm>
            <a:off x="7680960" y="1783080"/>
            <a:ext cx="3749039" cy="3108960"/>
          </a:xfrm>
          <a:prstGeom prst="rect">
            <a:avLst/>
          </a:prstGeom>
          <a:noFill/>
        </p:spPr>
        <p:txBody>
          <a:bodyPr wrap="square" lIns="27432" tIns="0" rIns="27432" bIns="0">
            <a:spAutoFit/>
          </a:bodyPr>
          <a:lstStyle/>
          <a:p>
            <a:pPr algn="l">
              <a:spcAft>
                <a:spcPts val="500"/>
              </a:spcAft>
            </a:pPr>
            <a:r>
              <a:rPr sz="1150" b="0">
                <a:solidFill>
                  <a:srgbClr val="0E2A47"/>
                </a:solidFill>
                <a:latin typeface="Calibri"/>
              </a:rPr>
              <a:t>train_on_batch() performs exactly one forward pass, one backward pass and one weight update on the rows handed to it — then returns. It keeps no history of previous batches.</a:t>
            </a:r>
          </a:p>
          <a:p>
            <a:pPr algn="l">
              <a:spcAft>
                <a:spcPts val="500"/>
              </a:spcAft>
            </a:pPr>
            <a:endParaRPr sz="1150" b="0">
              <a:solidFill>
                <a:srgbClr val="0E2A47"/>
              </a:solidFill>
              <a:latin typeface="Calibri"/>
            </a:endParaRPr>
          </a:p>
          <a:p>
            <a:pPr algn="l">
              <a:spcAft>
                <a:spcPts val="500"/>
              </a:spcAft>
            </a:pPr>
            <a:r>
              <a:rPr sz="1150" b="0">
                <a:solidFill>
                  <a:srgbClr val="0E2A47"/>
                </a:solidFill>
                <a:latin typeface="Calibri"/>
              </a:rPr>
              <a:t>Contrast with .fit(X, y), which owns the whole array and runs its own internal loop.</a:t>
            </a:r>
          </a:p>
          <a:p>
            <a:pPr algn="l">
              <a:spcAft>
                <a:spcPts val="500"/>
              </a:spcAft>
            </a:pPr>
            <a:endParaRPr sz="1150" b="0">
              <a:solidFill>
                <a:srgbClr val="0E2A47"/>
              </a:solidFill>
              <a:latin typeface="Calibri"/>
            </a:endParaRPr>
          </a:p>
          <a:p>
            <a:pPr algn="l">
              <a:spcAft>
                <a:spcPts val="500"/>
              </a:spcAft>
            </a:pPr>
            <a:r>
              <a:rPr sz="1150" b="0">
                <a:solidFill>
                  <a:srgbClr val="0E2A47"/>
                </a:solidFill>
                <a:latin typeface="Calibri"/>
              </a:rPr>
              <a:t>Because create_mini_batches is a GENERATOR, it holds one 32-row slice at a time rather than materialising a list of 12,500 batches.</a:t>
            </a:r>
          </a:p>
          <a:p>
            <a:pPr algn="l">
              <a:spcAft>
                <a:spcPts val="500"/>
              </a:spcAft>
            </a:pPr>
            <a:endParaRPr sz="1150" b="0">
              <a:solidFill>
                <a:srgbClr val="0E2A47"/>
              </a:solidFill>
              <a:latin typeface="Calibri"/>
            </a:endParaRPr>
          </a:p>
          <a:p>
            <a:pPr algn="l">
              <a:spcAft>
                <a:spcPts val="500"/>
              </a:spcAft>
            </a:pPr>
            <a:r>
              <a:rPr sz="1150" b="0">
                <a:solidFill>
                  <a:srgbClr val="0E2A47"/>
                </a:solidFill>
                <a:latin typeface="Calibri"/>
              </a:rPr>
              <a:t>The model carries learning forward through its weights alone — never by re-reading old data.</a:t>
            </a:r>
          </a:p>
        </p:txBody>
      </p:sp>
      <p:graphicFrame>
        <p:nvGraphicFramePr>
          <p:cNvPr id="11" name="Table 10"/>
          <p:cNvGraphicFramePr>
            <a:graphicFrameLocks noGrp="1"/>
          </p:cNvGraphicFramePr>
          <p:nvPr/>
        </p:nvGraphicFramePr>
        <p:xfrm>
          <a:off x="548640" y="5257800"/>
          <a:ext cx="11064240" cy="768096"/>
        </p:xfrm>
        <a:graphic>
          <a:graphicData uri="http://schemas.openxmlformats.org/drawingml/2006/table">
            <a:tbl>
              <a:tblPr firstRow="1" bandRow="1">
                <a:tableStyleId>{5C22544A-7EE6-4342-B048-85BDC9FD1C3A}</a:tableStyleId>
              </a:tblPr>
              <a:tblGrid>
                <a:gridCol w="2212848">
                  <a:extLst>
                    <a:ext uri="{9D8B030D-6E8A-4147-A177-3AD203B41FA5}">
                      <a16:colId xmlns:a16="http://schemas.microsoft.com/office/drawing/2014/main" val="20000"/>
                    </a:ext>
                  </a:extLst>
                </a:gridCol>
                <a:gridCol w="2212848">
                  <a:extLst>
                    <a:ext uri="{9D8B030D-6E8A-4147-A177-3AD203B41FA5}">
                      <a16:colId xmlns:a16="http://schemas.microsoft.com/office/drawing/2014/main" val="20001"/>
                    </a:ext>
                  </a:extLst>
                </a:gridCol>
                <a:gridCol w="2212848">
                  <a:extLst>
                    <a:ext uri="{9D8B030D-6E8A-4147-A177-3AD203B41FA5}">
                      <a16:colId xmlns:a16="http://schemas.microsoft.com/office/drawing/2014/main" val="20002"/>
                    </a:ext>
                  </a:extLst>
                </a:gridCol>
                <a:gridCol w="2212848">
                  <a:extLst>
                    <a:ext uri="{9D8B030D-6E8A-4147-A177-3AD203B41FA5}">
                      <a16:colId xmlns:a16="http://schemas.microsoft.com/office/drawing/2014/main" val="20003"/>
                    </a:ext>
                  </a:extLst>
                </a:gridCol>
                <a:gridCol w="2212848">
                  <a:extLst>
                    <a:ext uri="{9D8B030D-6E8A-4147-A177-3AD203B41FA5}">
                      <a16:colId xmlns:a16="http://schemas.microsoft.com/office/drawing/2014/main" val="20004"/>
                    </a:ext>
                  </a:extLst>
                </a:gridCol>
              </a:tblGrid>
              <a:tr h="384048">
                <a:tc>
                  <a:txBody>
                    <a:bodyPr/>
                    <a:lstStyle/>
                    <a:p>
                      <a:r>
                        <a:rPr sz="1150" b="1">
                          <a:solidFill>
                            <a:srgbClr val="FFFFFF"/>
                          </a:solidFill>
                          <a:latin typeface="Calibri"/>
                        </a:rPr>
                        <a:t>Training records</a:t>
                      </a:r>
                    </a:p>
                  </a:txBody>
                  <a:tcPr marL="73152" marR="54864" marT="18288" marB="18288" anchor="ctr">
                    <a:solidFill>
                      <a:srgbClr val="0E2A47"/>
                    </a:solidFill>
                  </a:tcPr>
                </a:tc>
                <a:tc>
                  <a:txBody>
                    <a:bodyPr/>
                    <a:lstStyle/>
                    <a:p>
                      <a:r>
                        <a:rPr sz="1150" b="1">
                          <a:solidFill>
                            <a:srgbClr val="FFFFFF"/>
                          </a:solidFill>
                          <a:latin typeface="Calibri"/>
                        </a:rPr>
                        <a:t>Batch size</a:t>
                      </a:r>
                    </a:p>
                  </a:txBody>
                  <a:tcPr marL="73152" marR="54864" marT="18288" marB="18288" anchor="ctr">
                    <a:solidFill>
                      <a:srgbClr val="0E2A47"/>
                    </a:solidFill>
                  </a:tcPr>
                </a:tc>
                <a:tc>
                  <a:txBody>
                    <a:bodyPr/>
                    <a:lstStyle/>
                    <a:p>
                      <a:r>
                        <a:rPr sz="1150" b="1">
                          <a:solidFill>
                            <a:srgbClr val="FFFFFF"/>
                          </a:solidFill>
                          <a:latin typeface="Calibri"/>
                        </a:rPr>
                        <a:t>Updates (batches)</a:t>
                      </a:r>
                    </a:p>
                  </a:txBody>
                  <a:tcPr marL="73152" marR="54864" marT="18288" marB="18288" anchor="ctr">
                    <a:solidFill>
                      <a:srgbClr val="0E2A47"/>
                    </a:solidFill>
                  </a:tcPr>
                </a:tc>
                <a:tc>
                  <a:txBody>
                    <a:bodyPr/>
                    <a:lstStyle/>
                    <a:p>
                      <a:r>
                        <a:rPr sz="1150" b="1">
                          <a:solidFill>
                            <a:srgbClr val="FFFFFF"/>
                          </a:solidFill>
                          <a:latin typeface="Calibri"/>
                        </a:rPr>
                        <a:t>Epochs</a:t>
                      </a:r>
                    </a:p>
                  </a:txBody>
                  <a:tcPr marL="73152" marR="54864" marT="18288" marB="18288" anchor="ctr">
                    <a:solidFill>
                      <a:srgbClr val="0E2A47"/>
                    </a:solidFill>
                  </a:tcPr>
                </a:tc>
                <a:tc>
                  <a:txBody>
                    <a:bodyPr/>
                    <a:lstStyle/>
                    <a:p>
                      <a:r>
                        <a:rPr sz="1150" b="1">
                          <a:solidFill>
                            <a:srgbClr val="FFFFFF"/>
                          </a:solidFill>
                          <a:latin typeface="Calibri"/>
                        </a:rPr>
                        <a:t>Records per update</a:t>
                      </a:r>
                    </a:p>
                  </a:txBody>
                  <a:tcPr marL="73152" marR="54864" marT="18288" marB="18288" anchor="ctr">
                    <a:solidFill>
                      <a:srgbClr val="0E2A47"/>
                    </a:solidFill>
                  </a:tcPr>
                </a:tc>
                <a:extLst>
                  <a:ext uri="{0D108BD9-81ED-4DB2-BD59-A6C34878D82A}">
                    <a16:rowId xmlns:a16="http://schemas.microsoft.com/office/drawing/2014/main" val="10000"/>
                  </a:ext>
                </a:extLst>
              </a:tr>
              <a:tr h="384048">
                <a:tc>
                  <a:txBody>
                    <a:bodyPr/>
                    <a:lstStyle/>
                    <a:p>
                      <a:r>
                        <a:rPr sz="1500" b="0">
                          <a:solidFill>
                            <a:srgbClr val="0E2A47"/>
                          </a:solidFill>
                          <a:latin typeface="Calibri"/>
                        </a:rPr>
                        <a:t>400,000</a:t>
                      </a:r>
                    </a:p>
                  </a:txBody>
                  <a:tcPr marL="73152" marR="54864" marT="18288" marB="18288" anchor="ctr">
                    <a:solidFill>
                      <a:srgbClr val="FFFFFF"/>
                    </a:solidFill>
                  </a:tcPr>
                </a:tc>
                <a:tc>
                  <a:txBody>
                    <a:bodyPr/>
                    <a:lstStyle/>
                    <a:p>
                      <a:r>
                        <a:rPr sz="1500" b="0">
                          <a:solidFill>
                            <a:srgbClr val="0E2A47"/>
                          </a:solidFill>
                          <a:latin typeface="Calibri"/>
                        </a:rPr>
                        <a:t>32</a:t>
                      </a:r>
                    </a:p>
                  </a:txBody>
                  <a:tcPr marL="73152" marR="54864" marT="18288" marB="18288" anchor="ctr">
                    <a:solidFill>
                      <a:srgbClr val="FFFFFF"/>
                    </a:solidFill>
                  </a:tcPr>
                </a:tc>
                <a:tc>
                  <a:txBody>
                    <a:bodyPr/>
                    <a:lstStyle/>
                    <a:p>
                      <a:r>
                        <a:rPr sz="1500" b="0">
                          <a:solidFill>
                            <a:srgbClr val="0E2A47"/>
                          </a:solidFill>
                          <a:latin typeface="Calibri"/>
                        </a:rPr>
                        <a:t>12,500</a:t>
                      </a:r>
                    </a:p>
                  </a:txBody>
                  <a:tcPr marL="73152" marR="54864" marT="18288" marB="18288" anchor="ctr">
                    <a:solidFill>
                      <a:srgbClr val="FFFFFF"/>
                    </a:solidFill>
                  </a:tcPr>
                </a:tc>
                <a:tc>
                  <a:txBody>
                    <a:bodyPr/>
                    <a:lstStyle/>
                    <a:p>
                      <a:r>
                        <a:rPr sz="1500" b="0">
                          <a:solidFill>
                            <a:srgbClr val="0E2A47"/>
                          </a:solidFill>
                          <a:latin typeface="Calibri"/>
                        </a:rPr>
                        <a:t>1</a:t>
                      </a:r>
                    </a:p>
                  </a:txBody>
                  <a:tcPr marL="73152" marR="54864" marT="18288" marB="18288" anchor="ctr">
                    <a:solidFill>
                      <a:srgbClr val="FFFFFF"/>
                    </a:solidFill>
                  </a:tcPr>
                </a:tc>
                <a:tc>
                  <a:txBody>
                    <a:bodyPr/>
                    <a:lstStyle/>
                    <a:p>
                      <a:r>
                        <a:rPr sz="1500" b="0">
                          <a:solidFill>
                            <a:srgbClr val="0E2A47"/>
                          </a:solidFill>
                          <a:latin typeface="Calibri"/>
                        </a:rPr>
                        <a:t>32</a:t>
                      </a:r>
                    </a:p>
                  </a:txBody>
                  <a:tcPr marL="73152" marR="54864" marT="18288" marB="18288" anchor="ctr">
                    <a:solidFill>
                      <a:srgbClr val="FFFFFF"/>
                    </a:solidFill>
                  </a:tcPr>
                </a:tc>
                <a:extLst>
                  <a:ext uri="{0D108BD9-81ED-4DB2-BD59-A6C34878D82A}">
                    <a16:rowId xmlns:a16="http://schemas.microsoft.com/office/drawing/2014/main" val="10001"/>
                  </a:ext>
                </a:extLst>
              </a:tr>
            </a:tbl>
          </a:graphicData>
        </a:graphic>
      </p:graphicFrame>
      <p:sp>
        <p:nvSpPr>
          <p:cNvPr id="12" name="TextBox 11"/>
          <p:cNvSpPr txBox="1"/>
          <p:nvPr/>
        </p:nvSpPr>
        <p:spPr>
          <a:xfrm>
            <a:off x="548640" y="6126480"/>
            <a:ext cx="11064240" cy="457200"/>
          </a:xfrm>
          <a:prstGeom prst="rect">
            <a:avLst/>
          </a:prstGeom>
          <a:noFill/>
        </p:spPr>
        <p:txBody>
          <a:bodyPr wrap="square" lIns="27432" tIns="0" rIns="27432" bIns="0">
            <a:spAutoFit/>
          </a:bodyPr>
          <a:lstStyle/>
          <a:p>
            <a:pPr algn="l">
              <a:spcAft>
                <a:spcPts val="300"/>
              </a:spcAft>
            </a:pPr>
            <a:r>
              <a:rPr sz="1200" b="1">
                <a:solidFill>
                  <a:srgbClr val="B06A00"/>
                </a:solidFill>
                <a:latin typeface="Calibri"/>
              </a:rPr>
              <a:t>Honest limitation: the CSV is read once with pd.read_csv() before batching, so ingestion is not yet chunked — only the LEARNING is incremental. On data truly larger than RAM, this read would be replaced by pd.read_csv(..., chunksize=32) and the loop would be unchanged. See slide 15.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9692640" cy="548640"/>
          </a:xfrm>
          <a:prstGeom prst="rect">
            <a:avLst/>
          </a:prstGeom>
          <a:noFill/>
        </p:spPr>
        <p:txBody>
          <a:bodyPr wrap="square" lIns="27432" tIns="0" rIns="27432" bIns="0">
            <a:spAutoFit/>
          </a:bodyPr>
          <a:lstStyle/>
          <a:p>
            <a:pPr algn="l">
              <a:spcAft>
                <a:spcPts val="600"/>
              </a:spcAft>
            </a:pPr>
            <a:r>
              <a:rPr sz="2700" b="1">
                <a:solidFill>
                  <a:srgbClr val="0E2A47"/>
                </a:solidFill>
                <a:latin typeface="Calibri"/>
              </a:rPr>
              <a:t>Train / test split and preventing leakage</a:t>
            </a:r>
          </a:p>
        </p:txBody>
      </p:sp>
      <p:sp>
        <p:nvSpPr>
          <p:cNvPr id="4" name="TextBox 3"/>
          <p:cNvSpPr txBox="1"/>
          <p:nvPr/>
        </p:nvSpPr>
        <p:spPr>
          <a:xfrm>
            <a:off x="530352" y="841248"/>
            <a:ext cx="10241280" cy="365760"/>
          </a:xfrm>
          <a:prstGeom prst="rect">
            <a:avLst/>
          </a:prstGeom>
          <a:noFill/>
        </p:spPr>
        <p:txBody>
          <a:bodyPr wrap="square" lIns="27432" tIns="0" rIns="27432" bIns="0">
            <a:spAutoFit/>
          </a:bodyPr>
          <a:lstStyle/>
          <a:p>
            <a:pPr algn="l">
              <a:spcAft>
                <a:spcPts val="600"/>
              </a:spcAft>
            </a:pPr>
            <a:r>
              <a:rPr sz="1300" b="0">
                <a:solidFill>
                  <a:srgbClr val="5A636B"/>
                </a:solidFill>
                <a:latin typeface="Calibri"/>
              </a:rPr>
              <a:t>The test set was never used for training or tuning</a:t>
            </a:r>
          </a:p>
        </p:txBody>
      </p:sp>
      <p:sp>
        <p:nvSpPr>
          <p:cNvPr id="5" name="Rounded Rectangle 4"/>
          <p:cNvSpPr/>
          <p:nvPr/>
        </p:nvSpPr>
        <p:spPr>
          <a:xfrm>
            <a:off x="548640" y="1371600"/>
            <a:ext cx="3566160" cy="105156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548640" y="1371600"/>
            <a:ext cx="64008" cy="1051560"/>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1499616"/>
            <a:ext cx="324612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TRAINING RECORDS</a:t>
            </a:r>
          </a:p>
        </p:txBody>
      </p:sp>
      <p:sp>
        <p:nvSpPr>
          <p:cNvPr id="8" name="TextBox 7"/>
          <p:cNvSpPr txBox="1"/>
          <p:nvPr/>
        </p:nvSpPr>
        <p:spPr>
          <a:xfrm>
            <a:off x="749808" y="1773936"/>
            <a:ext cx="3246120" cy="457200"/>
          </a:xfrm>
          <a:prstGeom prst="rect">
            <a:avLst/>
          </a:prstGeom>
          <a:noFill/>
        </p:spPr>
        <p:txBody>
          <a:bodyPr wrap="square" lIns="27432" tIns="0" rIns="27432" bIns="0">
            <a:spAutoFit/>
          </a:bodyPr>
          <a:lstStyle/>
          <a:p>
            <a:pPr algn="l">
              <a:spcAft>
                <a:spcPts val="600"/>
              </a:spcAft>
            </a:pPr>
            <a:r>
              <a:rPr sz="2500" b="1">
                <a:solidFill>
                  <a:srgbClr val="1F6FB4"/>
                </a:solidFill>
                <a:latin typeface="Calibri"/>
              </a:rPr>
              <a:t>400,000</a:t>
            </a:r>
          </a:p>
        </p:txBody>
      </p:sp>
      <p:sp>
        <p:nvSpPr>
          <p:cNvPr id="9" name="TextBox 8"/>
          <p:cNvSpPr txBox="1"/>
          <p:nvPr/>
        </p:nvSpPr>
        <p:spPr>
          <a:xfrm>
            <a:off x="749808" y="2002536"/>
            <a:ext cx="324612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80% — used for weight updates</a:t>
            </a:r>
          </a:p>
        </p:txBody>
      </p:sp>
      <p:sp>
        <p:nvSpPr>
          <p:cNvPr id="10" name="Rounded Rectangle 9"/>
          <p:cNvSpPr/>
          <p:nvPr/>
        </p:nvSpPr>
        <p:spPr>
          <a:xfrm>
            <a:off x="4297680" y="1371600"/>
            <a:ext cx="3566160" cy="105156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4297680" y="1371600"/>
            <a:ext cx="64008" cy="1051560"/>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98848" y="1499616"/>
            <a:ext cx="324612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TEST RECORDS</a:t>
            </a:r>
          </a:p>
        </p:txBody>
      </p:sp>
      <p:sp>
        <p:nvSpPr>
          <p:cNvPr id="13" name="TextBox 12"/>
          <p:cNvSpPr txBox="1"/>
          <p:nvPr/>
        </p:nvSpPr>
        <p:spPr>
          <a:xfrm>
            <a:off x="4498848" y="1773936"/>
            <a:ext cx="3246120" cy="457200"/>
          </a:xfrm>
          <a:prstGeom prst="rect">
            <a:avLst/>
          </a:prstGeom>
          <a:noFill/>
        </p:spPr>
        <p:txBody>
          <a:bodyPr wrap="square" lIns="27432" tIns="0" rIns="27432" bIns="0">
            <a:spAutoFit/>
          </a:bodyPr>
          <a:lstStyle/>
          <a:p>
            <a:pPr algn="l">
              <a:spcAft>
                <a:spcPts val="600"/>
              </a:spcAft>
            </a:pPr>
            <a:r>
              <a:rPr sz="2500" b="1">
                <a:solidFill>
                  <a:srgbClr val="1F6FB4"/>
                </a:solidFill>
                <a:latin typeface="Calibri"/>
              </a:rPr>
              <a:t>100,000</a:t>
            </a:r>
          </a:p>
        </p:txBody>
      </p:sp>
      <p:sp>
        <p:nvSpPr>
          <p:cNvPr id="14" name="TextBox 13"/>
          <p:cNvSpPr txBox="1"/>
          <p:nvPr/>
        </p:nvSpPr>
        <p:spPr>
          <a:xfrm>
            <a:off x="4498848" y="2002536"/>
            <a:ext cx="324612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20% — scored once, at the end</a:t>
            </a:r>
          </a:p>
        </p:txBody>
      </p:sp>
      <p:sp>
        <p:nvSpPr>
          <p:cNvPr id="15" name="Rounded Rectangle 14"/>
          <p:cNvSpPr/>
          <p:nvPr/>
        </p:nvSpPr>
        <p:spPr>
          <a:xfrm>
            <a:off x="8046720" y="1371600"/>
            <a:ext cx="3566160" cy="105156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046720" y="1371600"/>
            <a:ext cx="64008" cy="1051560"/>
          </a:xfrm>
          <a:prstGeom prst="rect">
            <a:avLst/>
          </a:prstGeom>
          <a:solidFill>
            <a:srgbClr val="5A6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1499616"/>
            <a:ext cx="324612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RANDOM SEED</a:t>
            </a:r>
          </a:p>
        </p:txBody>
      </p:sp>
      <p:sp>
        <p:nvSpPr>
          <p:cNvPr id="18" name="TextBox 17"/>
          <p:cNvSpPr txBox="1"/>
          <p:nvPr/>
        </p:nvSpPr>
        <p:spPr>
          <a:xfrm>
            <a:off x="8247888" y="1773936"/>
            <a:ext cx="3246120" cy="457200"/>
          </a:xfrm>
          <a:prstGeom prst="rect">
            <a:avLst/>
          </a:prstGeom>
          <a:noFill/>
        </p:spPr>
        <p:txBody>
          <a:bodyPr wrap="square" lIns="27432" tIns="0" rIns="27432" bIns="0">
            <a:spAutoFit/>
          </a:bodyPr>
          <a:lstStyle/>
          <a:p>
            <a:pPr algn="l">
              <a:spcAft>
                <a:spcPts val="600"/>
              </a:spcAft>
            </a:pPr>
            <a:r>
              <a:rPr sz="2500" b="1">
                <a:solidFill>
                  <a:srgbClr val="5A636B"/>
                </a:solidFill>
                <a:latin typeface="Calibri"/>
              </a:rPr>
              <a:t>42</a:t>
            </a:r>
          </a:p>
        </p:txBody>
      </p:sp>
      <p:sp>
        <p:nvSpPr>
          <p:cNvPr id="19" name="TextBox 18"/>
          <p:cNvSpPr txBox="1"/>
          <p:nvPr/>
        </p:nvSpPr>
        <p:spPr>
          <a:xfrm>
            <a:off x="8247888" y="2002536"/>
            <a:ext cx="324612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split is reproducible</a:t>
            </a:r>
          </a:p>
        </p:txBody>
      </p:sp>
      <p:sp>
        <p:nvSpPr>
          <p:cNvPr id="20" name="Rounded Rectangle 19"/>
          <p:cNvSpPr/>
          <p:nvPr/>
        </p:nvSpPr>
        <p:spPr>
          <a:xfrm>
            <a:off x="548640" y="2697480"/>
            <a:ext cx="6629400" cy="1783080"/>
          </a:xfrm>
          <a:prstGeom prst="roundRect">
            <a:avLst/>
          </a:prstGeom>
          <a:solidFill>
            <a:srgbClr val="1B25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13232" y="2825496"/>
            <a:ext cx="6355080" cy="1554480"/>
          </a:xfrm>
          <a:prstGeom prst="rect">
            <a:avLst/>
          </a:prstGeom>
          <a:noFill/>
        </p:spPr>
        <p:txBody>
          <a:bodyPr wrap="square">
            <a:spAutoFit/>
          </a:bodyPr>
          <a:lstStyle/>
          <a:p>
            <a:pPr>
              <a:spcAft>
                <a:spcPts val="150"/>
              </a:spcAft>
            </a:pPr>
            <a:r>
              <a:rPr sz="1250">
                <a:solidFill>
                  <a:srgbClr val="ECF1F6"/>
                </a:solidFill>
                <a:latin typeface="Consolas"/>
              </a:rPr>
              <a:t>X_train, X_test, y_train, y_test = train_test_split(</a:t>
            </a:r>
          </a:p>
          <a:p>
            <a:pPr>
              <a:spcAft>
                <a:spcPts val="150"/>
              </a:spcAft>
            </a:pPr>
            <a:r>
              <a:rPr sz="1250">
                <a:solidFill>
                  <a:srgbClr val="ECF1F6"/>
                </a:solidFill>
                <a:latin typeface="Consolas"/>
              </a:rPr>
              <a:t>        X, y, test_size=0.2, random_state=42)</a:t>
            </a:r>
          </a:p>
          <a:p>
            <a:pPr>
              <a:spcAft>
                <a:spcPts val="150"/>
              </a:spcAft>
            </a:pPr>
            <a:endParaRPr sz="1250">
              <a:solidFill>
                <a:srgbClr val="ECF1F6"/>
              </a:solidFill>
              <a:latin typeface="Consolas"/>
            </a:endParaRPr>
          </a:p>
          <a:p>
            <a:pPr>
              <a:spcAft>
                <a:spcPts val="150"/>
              </a:spcAft>
            </a:pPr>
            <a:r>
              <a:rPr sz="1250">
                <a:solidFill>
                  <a:srgbClr val="ECF1F6"/>
                </a:solidFill>
                <a:latin typeface="Consolas"/>
              </a:rPr>
              <a:t>scaler = StandardScaler()</a:t>
            </a:r>
          </a:p>
          <a:p>
            <a:pPr>
              <a:spcAft>
                <a:spcPts val="150"/>
              </a:spcAft>
            </a:pPr>
            <a:r>
              <a:rPr sz="1250">
                <a:solidFill>
                  <a:srgbClr val="ECF1F6"/>
                </a:solidFill>
                <a:latin typeface="Consolas"/>
              </a:rPr>
              <a:t>X_train = scaler.fit_transform(X_train)   # FIT on train only</a:t>
            </a:r>
          </a:p>
          <a:p>
            <a:pPr>
              <a:spcAft>
                <a:spcPts val="150"/>
              </a:spcAft>
            </a:pPr>
            <a:r>
              <a:rPr sz="1250">
                <a:solidFill>
                  <a:srgbClr val="ECF1F6"/>
                </a:solidFill>
                <a:latin typeface="Consolas"/>
              </a:rPr>
              <a:t>X_test  = scaler.transform(X_test)        # TRANSFORM test</a:t>
            </a:r>
          </a:p>
        </p:txBody>
      </p:sp>
      <p:sp>
        <p:nvSpPr>
          <p:cNvPr id="22" name="Rounded Rectangle 21"/>
          <p:cNvSpPr/>
          <p:nvPr/>
        </p:nvSpPr>
        <p:spPr>
          <a:xfrm>
            <a:off x="7452360" y="2697480"/>
            <a:ext cx="4160520" cy="1783080"/>
          </a:xfrm>
          <a:prstGeom prst="roundRect">
            <a:avLst/>
          </a:prstGeom>
          <a:solidFill>
            <a:srgbClr val="E8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680960" y="2834640"/>
            <a:ext cx="3749039" cy="274320"/>
          </a:xfrm>
          <a:prstGeom prst="rect">
            <a:avLst/>
          </a:prstGeom>
          <a:noFill/>
        </p:spPr>
        <p:txBody>
          <a:bodyPr wrap="square" lIns="27432" tIns="0" rIns="27432" bIns="0">
            <a:spAutoFit/>
          </a:bodyPr>
          <a:lstStyle/>
          <a:p>
            <a:pPr algn="l">
              <a:spcAft>
                <a:spcPts val="600"/>
              </a:spcAft>
            </a:pPr>
            <a:r>
              <a:rPr sz="1150" b="1">
                <a:solidFill>
                  <a:srgbClr val="1E7A3C"/>
                </a:solidFill>
                <a:latin typeface="Calibri"/>
              </a:rPr>
              <a:t>THE ONE LINE THAT MATTERS</a:t>
            </a:r>
          </a:p>
        </p:txBody>
      </p:sp>
      <p:sp>
        <p:nvSpPr>
          <p:cNvPr id="24" name="TextBox 23"/>
          <p:cNvSpPr txBox="1"/>
          <p:nvPr/>
        </p:nvSpPr>
        <p:spPr>
          <a:xfrm>
            <a:off x="7680960" y="3154680"/>
            <a:ext cx="3749039" cy="1234440"/>
          </a:xfrm>
          <a:prstGeom prst="rect">
            <a:avLst/>
          </a:prstGeom>
          <a:noFill/>
        </p:spPr>
        <p:txBody>
          <a:bodyPr wrap="square" lIns="27432" tIns="0" rIns="27432" bIns="0">
            <a:spAutoFit/>
          </a:bodyPr>
          <a:lstStyle/>
          <a:p>
            <a:pPr algn="l">
              <a:spcAft>
                <a:spcPts val="400"/>
              </a:spcAft>
            </a:pPr>
            <a:r>
              <a:rPr sz="1150" b="0">
                <a:solidFill>
                  <a:srgbClr val="0E2A47"/>
                </a:solidFill>
                <a:latin typeface="Calibri"/>
              </a:rPr>
              <a:t>fit_transform on train, transform on test.</a:t>
            </a:r>
          </a:p>
          <a:p>
            <a:pPr algn="l">
              <a:spcAft>
                <a:spcPts val="400"/>
              </a:spcAft>
            </a:pPr>
            <a:endParaRPr sz="1150" b="0">
              <a:solidFill>
                <a:srgbClr val="0E2A47"/>
              </a:solidFill>
              <a:latin typeface="Calibri"/>
            </a:endParaRPr>
          </a:p>
          <a:p>
            <a:pPr algn="l">
              <a:spcAft>
                <a:spcPts val="400"/>
              </a:spcAft>
            </a:pPr>
            <a:r>
              <a:rPr sz="1150" b="0">
                <a:solidFill>
                  <a:srgbClr val="0E2A47"/>
                </a:solidFill>
                <a:latin typeface="Calibri"/>
              </a:rPr>
              <a:t>Calling fit on the combined data would let the test set's mean and standard deviation leak into the training inputs — inflating the score for reasons that have nothing to do with the model.</a:t>
            </a:r>
          </a:p>
        </p:txBody>
      </p:sp>
      <p:graphicFrame>
        <p:nvGraphicFramePr>
          <p:cNvPr id="25" name="Table 24"/>
          <p:cNvGraphicFramePr>
            <a:graphicFrameLocks noGrp="1"/>
          </p:cNvGraphicFramePr>
          <p:nvPr/>
        </p:nvGraphicFramePr>
        <p:xfrm>
          <a:off x="548640" y="4709160"/>
          <a:ext cx="11064240" cy="192024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84048">
                <a:tc>
                  <a:txBody>
                    <a:bodyPr/>
                    <a:lstStyle/>
                    <a:p>
                      <a:r>
                        <a:rPr sz="1150" b="1">
                          <a:solidFill>
                            <a:srgbClr val="FFFFFF"/>
                          </a:solidFill>
                          <a:latin typeface="Calibri"/>
                        </a:rPr>
                        <a:t>Leakage risk</a:t>
                      </a:r>
                    </a:p>
                  </a:txBody>
                  <a:tcPr marL="73152" marR="54864" marT="18288" marB="18288" anchor="ctr">
                    <a:solidFill>
                      <a:srgbClr val="0E2A47"/>
                    </a:solidFill>
                  </a:tcPr>
                </a:tc>
                <a:tc>
                  <a:txBody>
                    <a:bodyPr/>
                    <a:lstStyle/>
                    <a:p>
                      <a:r>
                        <a:rPr sz="1150" b="1">
                          <a:solidFill>
                            <a:srgbClr val="FFFFFF"/>
                          </a:solidFill>
                          <a:latin typeface="Calibri"/>
                        </a:rPr>
                        <a:t>How we handled it</a:t>
                      </a:r>
                    </a:p>
                  </a:txBody>
                  <a:tcPr marL="73152" marR="54864" marT="18288" marB="18288" anchor="ctr">
                    <a:solidFill>
                      <a:srgbClr val="0E2A47"/>
                    </a:solidFill>
                  </a:tcPr>
                </a:tc>
                <a:tc>
                  <a:txBody>
                    <a:bodyPr/>
                    <a:lstStyle/>
                    <a:p>
                      <a:r>
                        <a:rPr sz="1150" b="1">
                          <a:solidFill>
                            <a:srgbClr val="FFFFFF"/>
                          </a:solidFill>
                          <a:latin typeface="Calibri"/>
                        </a:rPr>
                        <a:t>Verified</a:t>
                      </a:r>
                    </a:p>
                  </a:txBody>
                  <a:tcPr marL="73152" marR="54864" marT="18288" marB="18288" anchor="ctr">
                    <a:solidFill>
                      <a:srgbClr val="0E2A47"/>
                    </a:solidFill>
                  </a:tcPr>
                </a:tc>
                <a:extLst>
                  <a:ext uri="{0D108BD9-81ED-4DB2-BD59-A6C34878D82A}">
                    <a16:rowId xmlns:a16="http://schemas.microsoft.com/office/drawing/2014/main" val="10000"/>
                  </a:ext>
                </a:extLst>
              </a:tr>
              <a:tr h="384048">
                <a:tc>
                  <a:txBody>
                    <a:bodyPr/>
                    <a:lstStyle/>
                    <a:p>
                      <a:r>
                        <a:rPr sz="1100" b="0">
                          <a:solidFill>
                            <a:srgbClr val="0E2A47"/>
                          </a:solidFill>
                          <a:latin typeface="Calibri"/>
                        </a:rPr>
                        <a:t>Scaler fitted on test data</a:t>
                      </a:r>
                    </a:p>
                  </a:txBody>
                  <a:tcPr marL="73152" marR="54864" marT="18288" marB="18288" anchor="ctr">
                    <a:solidFill>
                      <a:srgbClr val="FFFFFF"/>
                    </a:solidFill>
                  </a:tcPr>
                </a:tc>
                <a:tc>
                  <a:txBody>
                    <a:bodyPr/>
                    <a:lstStyle/>
                    <a:p>
                      <a:r>
                        <a:rPr sz="1100" b="0">
                          <a:solidFill>
                            <a:srgbClr val="0E2A47"/>
                          </a:solidFill>
                          <a:latin typeface="Calibri"/>
                        </a:rPr>
                        <a:t>StandardScaler fitted on the 400,000 training rows only</a:t>
                      </a:r>
                    </a:p>
                  </a:txBody>
                  <a:tcPr marL="73152" marR="54864" marT="18288" marB="18288" anchor="ctr">
                    <a:solidFill>
                      <a:srgbClr val="FFFFFF"/>
                    </a:solidFill>
                  </a:tcPr>
                </a:tc>
                <a:tc>
                  <a:txBody>
                    <a:bodyPr/>
                    <a:lstStyle/>
                    <a:p>
                      <a:r>
                        <a:rPr sz="1100" b="0">
                          <a:solidFill>
                            <a:srgbClr val="0E2A47"/>
                          </a:solidFill>
                          <a:latin typeface="Calibri"/>
                        </a:rPr>
                        <a:t>Yes — code inspected</a:t>
                      </a:r>
                    </a:p>
                  </a:txBody>
                  <a:tcPr marL="73152" marR="54864" marT="18288" marB="18288" anchor="ctr">
                    <a:solidFill>
                      <a:srgbClr val="FFFFFF"/>
                    </a:solidFill>
                  </a:tcPr>
                </a:tc>
                <a:extLst>
                  <a:ext uri="{0D108BD9-81ED-4DB2-BD59-A6C34878D82A}">
                    <a16:rowId xmlns:a16="http://schemas.microsoft.com/office/drawing/2014/main" val="10001"/>
                  </a:ext>
                </a:extLst>
              </a:tr>
              <a:tr h="384048">
                <a:tc>
                  <a:txBody>
                    <a:bodyPr/>
                    <a:lstStyle/>
                    <a:p>
                      <a:r>
                        <a:rPr sz="1100" b="0">
                          <a:solidFill>
                            <a:srgbClr val="0E2A47"/>
                          </a:solidFill>
                          <a:latin typeface="Calibri"/>
                        </a:rPr>
                        <a:t>Test rows appearing in training</a:t>
                      </a:r>
                    </a:p>
                  </a:txBody>
                  <a:tcPr marL="73152" marR="54864" marT="18288" marB="18288" anchor="ctr">
                    <a:solidFill>
                      <a:srgbClr val="F2F4F7"/>
                    </a:solidFill>
                  </a:tcPr>
                </a:tc>
                <a:tc>
                  <a:txBody>
                    <a:bodyPr/>
                    <a:lstStyle/>
                    <a:p>
                      <a:r>
                        <a:rPr sz="1100" b="0">
                          <a:solidFill>
                            <a:srgbClr val="0E2A47"/>
                          </a:solidFill>
                          <a:latin typeface="Calibri"/>
                        </a:rPr>
                        <a:t>Single train_test_split; disjoint index sets</a:t>
                      </a:r>
                    </a:p>
                  </a:txBody>
                  <a:tcPr marL="73152" marR="54864" marT="18288" marB="18288" anchor="ctr">
                    <a:solidFill>
                      <a:srgbClr val="F2F4F7"/>
                    </a:solidFill>
                  </a:tcPr>
                </a:tc>
                <a:tc>
                  <a:txBody>
                    <a:bodyPr/>
                    <a:lstStyle/>
                    <a:p>
                      <a:r>
                        <a:rPr sz="1100" b="0">
                          <a:solidFill>
                            <a:srgbClr val="0E2A47"/>
                          </a:solidFill>
                          <a:latin typeface="Calibri"/>
                        </a:rPr>
                        <a:t>Yes</a:t>
                      </a:r>
                    </a:p>
                  </a:txBody>
                  <a:tcPr marL="73152" marR="54864" marT="18288" marB="18288" anchor="ctr">
                    <a:solidFill>
                      <a:srgbClr val="F2F4F7"/>
                    </a:solidFill>
                  </a:tcPr>
                </a:tc>
                <a:extLst>
                  <a:ext uri="{0D108BD9-81ED-4DB2-BD59-A6C34878D82A}">
                    <a16:rowId xmlns:a16="http://schemas.microsoft.com/office/drawing/2014/main" val="10002"/>
                  </a:ext>
                </a:extLst>
              </a:tr>
              <a:tr h="384048">
                <a:tc>
                  <a:txBody>
                    <a:bodyPr/>
                    <a:lstStyle/>
                    <a:p>
                      <a:r>
                        <a:rPr sz="1100" b="0">
                          <a:solidFill>
                            <a:srgbClr val="0E2A47"/>
                          </a:solidFill>
                          <a:latin typeface="Calibri"/>
                        </a:rPr>
                        <a:t>Tuning against the test set</a:t>
                      </a:r>
                    </a:p>
                  </a:txBody>
                  <a:tcPr marL="73152" marR="54864" marT="18288" marB="18288" anchor="ctr">
                    <a:solidFill>
                      <a:srgbClr val="FFFFFF"/>
                    </a:solidFill>
                  </a:tcPr>
                </a:tc>
                <a:tc>
                  <a:txBody>
                    <a:bodyPr/>
                    <a:lstStyle/>
                    <a:p>
                      <a:r>
                        <a:rPr sz="1100" b="0">
                          <a:solidFill>
                            <a:srgbClr val="0E2A47"/>
                          </a:solidFill>
                          <a:latin typeface="Calibri"/>
                        </a:rPr>
                        <a:t>One run, no hyperparameter search against test R²</a:t>
                      </a:r>
                    </a:p>
                  </a:txBody>
                  <a:tcPr marL="73152" marR="54864" marT="18288" marB="18288" anchor="ctr">
                    <a:solidFill>
                      <a:srgbClr val="FFFFFF"/>
                    </a:solidFill>
                  </a:tcPr>
                </a:tc>
                <a:tc>
                  <a:txBody>
                    <a:bodyPr/>
                    <a:lstStyle/>
                    <a:p>
                      <a:r>
                        <a:rPr sz="1100" b="0">
                          <a:solidFill>
                            <a:srgbClr val="0E2A47"/>
                          </a:solidFill>
                          <a:latin typeface="Calibri"/>
                        </a:rPr>
                        <a:t>Yes</a:t>
                      </a:r>
                    </a:p>
                  </a:txBody>
                  <a:tcPr marL="73152" marR="54864" marT="18288" marB="18288" anchor="ctr">
                    <a:solidFill>
                      <a:srgbClr val="FFFFFF"/>
                    </a:solidFill>
                  </a:tcPr>
                </a:tc>
                <a:extLst>
                  <a:ext uri="{0D108BD9-81ED-4DB2-BD59-A6C34878D82A}">
                    <a16:rowId xmlns:a16="http://schemas.microsoft.com/office/drawing/2014/main" val="10003"/>
                  </a:ext>
                </a:extLst>
              </a:tr>
              <a:tr h="384048">
                <a:tc>
                  <a:txBody>
                    <a:bodyPr/>
                    <a:lstStyle/>
                    <a:p>
                      <a:r>
                        <a:rPr sz="1100" b="0">
                          <a:solidFill>
                            <a:srgbClr val="0E2A47"/>
                          </a:solidFill>
                          <a:latin typeface="Calibri"/>
                        </a:rPr>
                        <a:t>Shuffling</a:t>
                      </a:r>
                    </a:p>
                  </a:txBody>
                  <a:tcPr marL="73152" marR="54864" marT="18288" marB="18288" anchor="ctr">
                    <a:solidFill>
                      <a:srgbClr val="F2F4F7"/>
                    </a:solidFill>
                  </a:tcPr>
                </a:tc>
                <a:tc>
                  <a:txBody>
                    <a:bodyPr/>
                    <a:lstStyle/>
                    <a:p>
                      <a:r>
                        <a:rPr sz="1100" b="0">
                          <a:solidFill>
                            <a:srgbClr val="0E2A47"/>
                          </a:solidFill>
                          <a:latin typeface="Calibri"/>
                        </a:rPr>
                        <a:t>train_test_split shuffles, breaking the sku ordering</a:t>
                      </a:r>
                    </a:p>
                  </a:txBody>
                  <a:tcPr marL="73152" marR="54864" marT="18288" marB="18288" anchor="ctr">
                    <a:solidFill>
                      <a:srgbClr val="F2F4F7"/>
                    </a:solidFill>
                  </a:tcPr>
                </a:tc>
                <a:tc>
                  <a:txBody>
                    <a:bodyPr/>
                    <a:lstStyle/>
                    <a:p>
                      <a:r>
                        <a:rPr sz="1100" b="0">
                          <a:solidFill>
                            <a:srgbClr val="0E2A47"/>
                          </a:solidFill>
                          <a:latin typeface="Calibri"/>
                        </a:rPr>
                        <a:t>Yes</a:t>
                      </a:r>
                    </a:p>
                  </a:txBody>
                  <a:tcPr marL="73152" marR="54864" marT="18288" marB="18288" anchor="ctr">
                    <a:solidFill>
                      <a:srgbClr val="F2F4F7"/>
                    </a:solidFill>
                  </a:tcPr>
                </a:tc>
                <a:extLst>
                  <a:ext uri="{0D108BD9-81ED-4DB2-BD59-A6C34878D82A}">
                    <a16:rowId xmlns:a16="http://schemas.microsoft.com/office/drawing/2014/main" val="10004"/>
                  </a:ext>
                </a:extLst>
              </a:tr>
            </a:tbl>
          </a:graphicData>
        </a:graphic>
      </p:graphicFrame>
      <p:sp>
        <p:nvSpPr>
          <p:cNvPr id="26" name="TextBox 25"/>
          <p:cNvSpPr txBox="1"/>
          <p:nvPr/>
        </p:nvSpPr>
        <p:spPr>
          <a:xfrm>
            <a:off x="548640" y="6400800"/>
            <a:ext cx="11064240" cy="365760"/>
          </a:xfrm>
          <a:prstGeom prst="rect">
            <a:avLst/>
          </a:prstGeom>
          <a:noFill/>
        </p:spPr>
        <p:txBody>
          <a:bodyPr wrap="square" lIns="27432" tIns="0" rIns="27432" bIns="0">
            <a:spAutoFit/>
          </a:bodyPr>
          <a:lstStyle/>
          <a:p>
            <a:pPr algn="l">
              <a:spcAft>
                <a:spcPts val="600"/>
              </a:spcAft>
            </a:pPr>
            <a:r>
              <a:rPr sz="1150" b="0">
                <a:solidFill>
                  <a:srgbClr val="5A636B"/>
                </a:solidFill>
                <a:latin typeface="Calibri"/>
              </a:rPr>
              <a:t>Note: we standardise the integer-encoded categoricals (sku, category) along with the numerics. This is a simplification — it imposes an ordering on codes that have none. Discussed on slide 15.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9692640" cy="548640"/>
          </a:xfrm>
          <a:prstGeom prst="rect">
            <a:avLst/>
          </a:prstGeom>
          <a:noFill/>
        </p:spPr>
        <p:txBody>
          <a:bodyPr wrap="square" lIns="27432" tIns="0" rIns="27432" bIns="0">
            <a:spAutoFit/>
          </a:bodyPr>
          <a:lstStyle/>
          <a:p>
            <a:pPr algn="l">
              <a:spcAft>
                <a:spcPts val="600"/>
              </a:spcAft>
            </a:pPr>
            <a:r>
              <a:rPr sz="2700" b="1">
                <a:solidFill>
                  <a:srgbClr val="0E2A47"/>
                </a:solidFill>
                <a:latin typeface="Calibri"/>
              </a:rPr>
              <a:t>Results: R² on training and test sets</a:t>
            </a:r>
          </a:p>
        </p:txBody>
      </p:sp>
      <p:sp>
        <p:nvSpPr>
          <p:cNvPr id="4" name="TextBox 3"/>
          <p:cNvSpPr txBox="1"/>
          <p:nvPr/>
        </p:nvSpPr>
        <p:spPr>
          <a:xfrm>
            <a:off x="530352" y="841248"/>
            <a:ext cx="10241280" cy="365760"/>
          </a:xfrm>
          <a:prstGeom prst="rect">
            <a:avLst/>
          </a:prstGeom>
          <a:noFill/>
        </p:spPr>
        <p:txBody>
          <a:bodyPr wrap="square" lIns="27432" tIns="0" rIns="27432" bIns="0">
            <a:spAutoFit/>
          </a:bodyPr>
          <a:lstStyle/>
          <a:p>
            <a:pPr algn="l">
              <a:spcAft>
                <a:spcPts val="600"/>
              </a:spcAft>
            </a:pPr>
            <a:r>
              <a:rPr sz="1300" b="0">
                <a:solidFill>
                  <a:srgbClr val="5A636B"/>
                </a:solidFill>
                <a:latin typeface="Calibri"/>
              </a:rPr>
              <a:t>The primary required metric</a:t>
            </a:r>
          </a:p>
        </p:txBody>
      </p:sp>
      <p:sp>
        <p:nvSpPr>
          <p:cNvPr id="5" name="Rounded Rectangle 4"/>
          <p:cNvSpPr/>
          <p:nvPr/>
        </p:nvSpPr>
        <p:spPr>
          <a:xfrm>
            <a:off x="10378440" y="301752"/>
            <a:ext cx="1371600" cy="329184"/>
          </a:xfrm>
          <a:prstGeom prst="round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50" b="1">
                <a:solidFill>
                  <a:srgbClr val="FFFFFF"/>
                </a:solidFill>
              </a:rPr>
              <a:t>REQUIRED</a:t>
            </a:r>
          </a:p>
        </p:txBody>
      </p:sp>
      <p:sp>
        <p:nvSpPr>
          <p:cNvPr id="6" name="TextBox 5"/>
          <p:cNvSpPr txBox="1"/>
          <p:nvPr/>
        </p:nvSpPr>
        <p:spPr>
          <a:xfrm>
            <a:off x="548640" y="1280160"/>
            <a:ext cx="11064240" cy="411480"/>
          </a:xfrm>
          <a:prstGeom prst="rect">
            <a:avLst/>
          </a:prstGeom>
          <a:noFill/>
        </p:spPr>
        <p:txBody>
          <a:bodyPr wrap="square" lIns="27432" tIns="0" rIns="27432" bIns="0">
            <a:spAutoFit/>
          </a:bodyPr>
          <a:lstStyle/>
          <a:p>
            <a:pPr algn="ctr">
              <a:spcAft>
                <a:spcPts val="600"/>
              </a:spcAft>
            </a:pPr>
            <a:r>
              <a:rPr sz="1500" b="1">
                <a:solidFill>
                  <a:srgbClr val="0E2A47"/>
                </a:solidFill>
                <a:latin typeface="Calibri"/>
              </a:rPr>
              <a:t>R²  =  1  −  Σ(yᵢ − ŷᵢ)²  /  Σ(yᵢ − ȳ)²        — the share of variance in quantity the model explains</a:t>
            </a:r>
          </a:p>
        </p:txBody>
      </p:sp>
      <p:sp>
        <p:nvSpPr>
          <p:cNvPr id="7" name="Rounded Rectangle 6"/>
          <p:cNvSpPr/>
          <p:nvPr/>
        </p:nvSpPr>
        <p:spPr>
          <a:xfrm>
            <a:off x="548640" y="1828800"/>
            <a:ext cx="2651760" cy="118872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548640" y="1828800"/>
            <a:ext cx="64008" cy="1188720"/>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1956816"/>
            <a:ext cx="233172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TRAINING R²</a:t>
            </a:r>
          </a:p>
        </p:txBody>
      </p:sp>
      <p:sp>
        <p:nvSpPr>
          <p:cNvPr id="10" name="TextBox 9"/>
          <p:cNvSpPr txBox="1"/>
          <p:nvPr/>
        </p:nvSpPr>
        <p:spPr>
          <a:xfrm>
            <a:off x="749808" y="2231136"/>
            <a:ext cx="2331720" cy="457200"/>
          </a:xfrm>
          <a:prstGeom prst="rect">
            <a:avLst/>
          </a:prstGeom>
          <a:noFill/>
        </p:spPr>
        <p:txBody>
          <a:bodyPr wrap="square" lIns="27432" tIns="0" rIns="27432" bIns="0">
            <a:spAutoFit/>
          </a:bodyPr>
          <a:lstStyle/>
          <a:p>
            <a:pPr algn="l">
              <a:spcAft>
                <a:spcPts val="600"/>
              </a:spcAft>
            </a:pPr>
            <a:r>
              <a:rPr sz="2500" b="1">
                <a:solidFill>
                  <a:srgbClr val="1F6FB4"/>
                </a:solidFill>
                <a:latin typeface="Calibri"/>
              </a:rPr>
              <a:t>0.5362</a:t>
            </a:r>
          </a:p>
        </p:txBody>
      </p:sp>
      <p:sp>
        <p:nvSpPr>
          <p:cNvPr id="11" name="TextBox 10"/>
          <p:cNvSpPr txBox="1"/>
          <p:nvPr/>
        </p:nvSpPr>
        <p:spPr>
          <a:xfrm>
            <a:off x="749808" y="2596896"/>
            <a:ext cx="233172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400,000 records</a:t>
            </a:r>
          </a:p>
        </p:txBody>
      </p:sp>
      <p:sp>
        <p:nvSpPr>
          <p:cNvPr id="12" name="Rounded Rectangle 11"/>
          <p:cNvSpPr/>
          <p:nvPr/>
        </p:nvSpPr>
        <p:spPr>
          <a:xfrm>
            <a:off x="3337560" y="1828800"/>
            <a:ext cx="2651760" cy="118872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3337560" y="1828800"/>
            <a:ext cx="64008" cy="1188720"/>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38728" y="1956816"/>
            <a:ext cx="233172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TEST R²</a:t>
            </a:r>
          </a:p>
        </p:txBody>
      </p:sp>
      <p:sp>
        <p:nvSpPr>
          <p:cNvPr id="15" name="TextBox 14"/>
          <p:cNvSpPr txBox="1"/>
          <p:nvPr/>
        </p:nvSpPr>
        <p:spPr>
          <a:xfrm>
            <a:off x="3538728" y="2231136"/>
            <a:ext cx="2331720" cy="457200"/>
          </a:xfrm>
          <a:prstGeom prst="rect">
            <a:avLst/>
          </a:prstGeom>
          <a:noFill/>
        </p:spPr>
        <p:txBody>
          <a:bodyPr wrap="square" lIns="27432" tIns="0" rIns="27432" bIns="0">
            <a:spAutoFit/>
          </a:bodyPr>
          <a:lstStyle/>
          <a:p>
            <a:pPr algn="l">
              <a:spcAft>
                <a:spcPts val="600"/>
              </a:spcAft>
            </a:pPr>
            <a:r>
              <a:rPr sz="2500" b="1">
                <a:solidFill>
                  <a:srgbClr val="1E7A3C"/>
                </a:solidFill>
                <a:latin typeface="Calibri"/>
              </a:rPr>
              <a:t>0.5356</a:t>
            </a:r>
          </a:p>
        </p:txBody>
      </p:sp>
      <p:sp>
        <p:nvSpPr>
          <p:cNvPr id="16" name="TextBox 15"/>
          <p:cNvSpPr txBox="1"/>
          <p:nvPr/>
        </p:nvSpPr>
        <p:spPr>
          <a:xfrm>
            <a:off x="3538728" y="2596896"/>
            <a:ext cx="233172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100,000 unseen records</a:t>
            </a:r>
          </a:p>
        </p:txBody>
      </p:sp>
      <p:sp>
        <p:nvSpPr>
          <p:cNvPr id="17" name="Rounded Rectangle 16"/>
          <p:cNvSpPr/>
          <p:nvPr/>
        </p:nvSpPr>
        <p:spPr>
          <a:xfrm>
            <a:off x="6126480" y="1828800"/>
            <a:ext cx="2651760" cy="118872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126480" y="1828800"/>
            <a:ext cx="64008" cy="1188720"/>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27648" y="1956816"/>
            <a:ext cx="233172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TEST MSE</a:t>
            </a:r>
          </a:p>
        </p:txBody>
      </p:sp>
      <p:sp>
        <p:nvSpPr>
          <p:cNvPr id="20" name="TextBox 19"/>
          <p:cNvSpPr txBox="1"/>
          <p:nvPr/>
        </p:nvSpPr>
        <p:spPr>
          <a:xfrm>
            <a:off x="6327648" y="2231136"/>
            <a:ext cx="2331720" cy="457200"/>
          </a:xfrm>
          <a:prstGeom prst="rect">
            <a:avLst/>
          </a:prstGeom>
          <a:noFill/>
        </p:spPr>
        <p:txBody>
          <a:bodyPr wrap="square" lIns="27432" tIns="0" rIns="27432" bIns="0">
            <a:spAutoFit/>
          </a:bodyPr>
          <a:lstStyle/>
          <a:p>
            <a:pPr algn="l">
              <a:spcAft>
                <a:spcPts val="600"/>
              </a:spcAft>
            </a:pPr>
            <a:r>
              <a:rPr sz="2500" b="1">
                <a:solidFill>
                  <a:srgbClr val="1F6FB4"/>
                </a:solidFill>
                <a:latin typeface="Calibri"/>
              </a:rPr>
              <a:t>1,151.2</a:t>
            </a:r>
          </a:p>
        </p:txBody>
      </p:sp>
      <p:sp>
        <p:nvSpPr>
          <p:cNvPr id="21" name="TextBox 20"/>
          <p:cNvSpPr txBox="1"/>
          <p:nvPr/>
        </p:nvSpPr>
        <p:spPr>
          <a:xfrm>
            <a:off x="6327648" y="2596896"/>
            <a:ext cx="233172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RMSE = 33.93 units</a:t>
            </a:r>
          </a:p>
        </p:txBody>
      </p:sp>
      <p:sp>
        <p:nvSpPr>
          <p:cNvPr id="22" name="Rounded Rectangle 21"/>
          <p:cNvSpPr/>
          <p:nvPr/>
        </p:nvSpPr>
        <p:spPr>
          <a:xfrm>
            <a:off x="8915400" y="1828800"/>
            <a:ext cx="2697480" cy="118872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8915400" y="1828800"/>
            <a:ext cx="64008" cy="1188720"/>
          </a:xfrm>
          <a:prstGeom prst="rect">
            <a:avLst/>
          </a:prstGeom>
          <a:solidFill>
            <a:srgbClr val="5A6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16568" y="1956816"/>
            <a:ext cx="237744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TRAIN − TEST GAP</a:t>
            </a:r>
          </a:p>
        </p:txBody>
      </p:sp>
      <p:sp>
        <p:nvSpPr>
          <p:cNvPr id="25" name="TextBox 24"/>
          <p:cNvSpPr txBox="1"/>
          <p:nvPr/>
        </p:nvSpPr>
        <p:spPr>
          <a:xfrm>
            <a:off x="9116568" y="2231136"/>
            <a:ext cx="2377440" cy="457200"/>
          </a:xfrm>
          <a:prstGeom prst="rect">
            <a:avLst/>
          </a:prstGeom>
          <a:noFill/>
        </p:spPr>
        <p:txBody>
          <a:bodyPr wrap="square" lIns="27432" tIns="0" rIns="27432" bIns="0">
            <a:spAutoFit/>
          </a:bodyPr>
          <a:lstStyle/>
          <a:p>
            <a:pPr algn="l">
              <a:spcAft>
                <a:spcPts val="600"/>
              </a:spcAft>
            </a:pPr>
            <a:r>
              <a:rPr sz="2500" b="1">
                <a:solidFill>
                  <a:srgbClr val="5A636B"/>
                </a:solidFill>
                <a:latin typeface="Calibri"/>
              </a:rPr>
              <a:t>0.0007</a:t>
            </a:r>
          </a:p>
        </p:txBody>
      </p:sp>
      <p:sp>
        <p:nvSpPr>
          <p:cNvPr id="26" name="TextBox 25"/>
          <p:cNvSpPr txBox="1"/>
          <p:nvPr/>
        </p:nvSpPr>
        <p:spPr>
          <a:xfrm>
            <a:off x="9116568" y="2596896"/>
            <a:ext cx="237744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essentially zero</a:t>
            </a:r>
          </a:p>
        </p:txBody>
      </p:sp>
      <p:graphicFrame>
        <p:nvGraphicFramePr>
          <p:cNvPr id="27" name="Table 26"/>
          <p:cNvGraphicFramePr>
            <a:graphicFrameLocks noGrp="1"/>
          </p:cNvGraphicFramePr>
          <p:nvPr/>
        </p:nvGraphicFramePr>
        <p:xfrm>
          <a:off x="548640" y="3291840"/>
          <a:ext cx="11064240" cy="1609344"/>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402336">
                <a:tc>
                  <a:txBody>
                    <a:bodyPr/>
                    <a:lstStyle/>
                    <a:p>
                      <a:r>
                        <a:rPr sz="1150" b="1">
                          <a:solidFill>
                            <a:srgbClr val="FFFFFF"/>
                          </a:solidFill>
                          <a:latin typeface="Calibri"/>
                        </a:rPr>
                        <a:t>Benchmark</a:t>
                      </a:r>
                    </a:p>
                  </a:txBody>
                  <a:tcPr marL="73152" marR="54864" marT="18288" marB="18288" anchor="ctr">
                    <a:solidFill>
                      <a:srgbClr val="0E2A47"/>
                    </a:solidFill>
                  </a:tcPr>
                </a:tc>
                <a:tc>
                  <a:txBody>
                    <a:bodyPr/>
                    <a:lstStyle/>
                    <a:p>
                      <a:r>
                        <a:rPr sz="1150" b="1">
                          <a:solidFill>
                            <a:srgbClr val="FFFFFF"/>
                          </a:solidFill>
                          <a:latin typeface="Calibri"/>
                        </a:rPr>
                        <a:t>Test R²</a:t>
                      </a:r>
                    </a:p>
                  </a:txBody>
                  <a:tcPr marL="73152" marR="54864" marT="18288" marB="18288" anchor="ctr">
                    <a:solidFill>
                      <a:srgbClr val="0E2A47"/>
                    </a:solidFill>
                  </a:tcPr>
                </a:tc>
                <a:tc>
                  <a:txBody>
                    <a:bodyPr/>
                    <a:lstStyle/>
                    <a:p>
                      <a:r>
                        <a:rPr sz="1150" b="1">
                          <a:solidFill>
                            <a:srgbClr val="FFFFFF"/>
                          </a:solidFill>
                          <a:latin typeface="Calibri"/>
                        </a:rPr>
                        <a:t>Test MSE</a:t>
                      </a:r>
                    </a:p>
                  </a:txBody>
                  <a:tcPr marL="73152" marR="54864" marT="18288" marB="18288" anchor="ctr">
                    <a:solidFill>
                      <a:srgbClr val="0E2A47"/>
                    </a:solidFill>
                  </a:tcPr>
                </a:tc>
                <a:tc>
                  <a:txBody>
                    <a:bodyPr/>
                    <a:lstStyle/>
                    <a:p>
                      <a:r>
                        <a:rPr sz="1150" b="1">
                          <a:solidFill>
                            <a:srgbClr val="FFFFFF"/>
                          </a:solidFill>
                          <a:latin typeface="Calibri"/>
                        </a:rPr>
                        <a:t>Reading</a:t>
                      </a:r>
                    </a:p>
                  </a:txBody>
                  <a:tcPr marL="73152" marR="54864" marT="18288" marB="18288" anchor="ctr">
                    <a:solidFill>
                      <a:srgbClr val="0E2A47"/>
                    </a:solidFill>
                  </a:tcPr>
                </a:tc>
                <a:extLst>
                  <a:ext uri="{0D108BD9-81ED-4DB2-BD59-A6C34878D82A}">
                    <a16:rowId xmlns:a16="http://schemas.microsoft.com/office/drawing/2014/main" val="10000"/>
                  </a:ext>
                </a:extLst>
              </a:tr>
              <a:tr h="402336">
                <a:tc>
                  <a:txBody>
                    <a:bodyPr/>
                    <a:lstStyle/>
                    <a:p>
                      <a:r>
                        <a:rPr sz="1100" b="0">
                          <a:solidFill>
                            <a:srgbClr val="0E2A47"/>
                          </a:solidFill>
                          <a:latin typeface="Calibri"/>
                        </a:rPr>
                        <a:t>Predict the mean every time</a:t>
                      </a:r>
                    </a:p>
                  </a:txBody>
                  <a:tcPr marL="73152" marR="54864" marT="18288" marB="18288" anchor="ctr">
                    <a:solidFill>
                      <a:srgbClr val="FFFFFF"/>
                    </a:solidFill>
                  </a:tcPr>
                </a:tc>
                <a:tc>
                  <a:txBody>
                    <a:bodyPr/>
                    <a:lstStyle/>
                    <a:p>
                      <a:r>
                        <a:rPr sz="1100" b="0">
                          <a:solidFill>
                            <a:srgbClr val="0E2A47"/>
                          </a:solidFill>
                          <a:latin typeface="Calibri"/>
                        </a:rPr>
                        <a:t>0.0000</a:t>
                      </a:r>
                    </a:p>
                  </a:txBody>
                  <a:tcPr marL="73152" marR="54864" marT="18288" marB="18288" anchor="ctr">
                    <a:solidFill>
                      <a:srgbClr val="FFFFFF"/>
                    </a:solidFill>
                  </a:tcPr>
                </a:tc>
                <a:tc>
                  <a:txBody>
                    <a:bodyPr/>
                    <a:lstStyle/>
                    <a:p>
                      <a:r>
                        <a:rPr sz="1100" b="0">
                          <a:solidFill>
                            <a:srgbClr val="0E2A47"/>
                          </a:solidFill>
                          <a:latin typeface="Calibri"/>
                        </a:rPr>
                        <a:t>2,478.8</a:t>
                      </a:r>
                    </a:p>
                  </a:txBody>
                  <a:tcPr marL="73152" marR="54864" marT="18288" marB="18288" anchor="ctr">
                    <a:solidFill>
                      <a:srgbClr val="FFFFFF"/>
                    </a:solidFill>
                  </a:tcPr>
                </a:tc>
                <a:tc>
                  <a:txBody>
                    <a:bodyPr/>
                    <a:lstStyle/>
                    <a:p>
                      <a:r>
                        <a:rPr sz="1100" b="0">
                          <a:solidFill>
                            <a:srgbClr val="0E2A47"/>
                          </a:solidFill>
                          <a:latin typeface="Calibri"/>
                        </a:rPr>
                        <a:t>The floor — zero information used</a:t>
                      </a:r>
                    </a:p>
                  </a:txBody>
                  <a:tcPr marL="73152" marR="54864" marT="18288" marB="18288" anchor="ctr">
                    <a:solidFill>
                      <a:srgbClr val="FFFFFF"/>
                    </a:solidFill>
                  </a:tcPr>
                </a:tc>
                <a:extLst>
                  <a:ext uri="{0D108BD9-81ED-4DB2-BD59-A6C34878D82A}">
                    <a16:rowId xmlns:a16="http://schemas.microsoft.com/office/drawing/2014/main" val="10001"/>
                  </a:ext>
                </a:extLst>
              </a:tr>
              <a:tr h="402336">
                <a:tc>
                  <a:txBody>
                    <a:bodyPr/>
                    <a:lstStyle/>
                    <a:p>
                      <a:r>
                        <a:rPr sz="1100" b="0">
                          <a:solidFill>
                            <a:srgbClr val="0E2A47"/>
                          </a:solidFill>
                          <a:latin typeface="Calibri"/>
                        </a:rPr>
                        <a:t>Linear regression, same split</a:t>
                      </a:r>
                    </a:p>
                  </a:txBody>
                  <a:tcPr marL="73152" marR="54864" marT="18288" marB="18288" anchor="ctr">
                    <a:solidFill>
                      <a:srgbClr val="F2F4F7"/>
                    </a:solidFill>
                  </a:tcPr>
                </a:tc>
                <a:tc>
                  <a:txBody>
                    <a:bodyPr/>
                    <a:lstStyle/>
                    <a:p>
                      <a:r>
                        <a:rPr sz="1100" b="0">
                          <a:solidFill>
                            <a:srgbClr val="0E2A47"/>
                          </a:solidFill>
                          <a:latin typeface="Calibri"/>
                        </a:rPr>
                        <a:t>0.3744</a:t>
                      </a:r>
                    </a:p>
                  </a:txBody>
                  <a:tcPr marL="73152" marR="54864" marT="18288" marB="18288" anchor="ctr">
                    <a:solidFill>
                      <a:srgbClr val="F2F4F7"/>
                    </a:solidFill>
                  </a:tcPr>
                </a:tc>
                <a:tc>
                  <a:txBody>
                    <a:bodyPr/>
                    <a:lstStyle/>
                    <a:p>
                      <a:r>
                        <a:rPr sz="1100" b="0">
                          <a:solidFill>
                            <a:srgbClr val="0E2A47"/>
                          </a:solidFill>
                          <a:latin typeface="Calibri"/>
                        </a:rPr>
                        <a:t>1,550.7</a:t>
                      </a:r>
                    </a:p>
                  </a:txBody>
                  <a:tcPr marL="73152" marR="54864" marT="18288" marB="18288" anchor="ctr">
                    <a:solidFill>
                      <a:srgbClr val="F2F4F7"/>
                    </a:solidFill>
                  </a:tcPr>
                </a:tc>
                <a:tc>
                  <a:txBody>
                    <a:bodyPr/>
                    <a:lstStyle/>
                    <a:p>
                      <a:r>
                        <a:rPr sz="1100" b="0">
                          <a:solidFill>
                            <a:srgbClr val="0E2A47"/>
                          </a:solidFill>
                          <a:latin typeface="Calibri"/>
                        </a:rPr>
                        <a:t>What a straight line achieves</a:t>
                      </a:r>
                    </a:p>
                  </a:txBody>
                  <a:tcPr marL="73152" marR="54864" marT="18288" marB="18288" anchor="ctr">
                    <a:solidFill>
                      <a:srgbClr val="F2F4F7"/>
                    </a:solidFill>
                  </a:tcPr>
                </a:tc>
                <a:extLst>
                  <a:ext uri="{0D108BD9-81ED-4DB2-BD59-A6C34878D82A}">
                    <a16:rowId xmlns:a16="http://schemas.microsoft.com/office/drawing/2014/main" val="10002"/>
                  </a:ext>
                </a:extLst>
              </a:tr>
              <a:tr h="402336">
                <a:tc>
                  <a:txBody>
                    <a:bodyPr/>
                    <a:lstStyle/>
                    <a:p>
                      <a:r>
                        <a:rPr sz="1100" b="0">
                          <a:solidFill>
                            <a:srgbClr val="0E2A47"/>
                          </a:solidFill>
                          <a:latin typeface="Calibri"/>
                        </a:rPr>
                        <a:t>Our neural network</a:t>
                      </a:r>
                    </a:p>
                  </a:txBody>
                  <a:tcPr marL="73152" marR="54864" marT="18288" marB="18288" anchor="ctr">
                    <a:solidFill>
                      <a:srgbClr val="FFFFFF"/>
                    </a:solidFill>
                  </a:tcPr>
                </a:tc>
                <a:tc>
                  <a:txBody>
                    <a:bodyPr/>
                    <a:lstStyle/>
                    <a:p>
                      <a:r>
                        <a:rPr sz="1100" b="0">
                          <a:solidFill>
                            <a:srgbClr val="0E2A47"/>
                          </a:solidFill>
                          <a:latin typeface="Calibri"/>
                        </a:rPr>
                        <a:t>0.5356</a:t>
                      </a:r>
                    </a:p>
                  </a:txBody>
                  <a:tcPr marL="73152" marR="54864" marT="18288" marB="18288" anchor="ctr">
                    <a:solidFill>
                      <a:srgbClr val="FFFFFF"/>
                    </a:solidFill>
                  </a:tcPr>
                </a:tc>
                <a:tc>
                  <a:txBody>
                    <a:bodyPr/>
                    <a:lstStyle/>
                    <a:p>
                      <a:r>
                        <a:rPr sz="1100" b="0">
                          <a:solidFill>
                            <a:srgbClr val="0E2A47"/>
                          </a:solidFill>
                          <a:latin typeface="Calibri"/>
                        </a:rPr>
                        <a:t>1,151.2</a:t>
                      </a:r>
                    </a:p>
                  </a:txBody>
                  <a:tcPr marL="73152" marR="54864" marT="18288" marB="18288" anchor="ctr">
                    <a:solidFill>
                      <a:srgbClr val="FFFFFF"/>
                    </a:solidFill>
                  </a:tcPr>
                </a:tc>
                <a:tc>
                  <a:txBody>
                    <a:bodyPr/>
                    <a:lstStyle/>
                    <a:p>
                      <a:r>
                        <a:rPr sz="1100" b="0">
                          <a:solidFill>
                            <a:srgbClr val="0E2A47"/>
                          </a:solidFill>
                          <a:latin typeface="Calibri"/>
                        </a:rPr>
                        <a:t>+0.16 R² over linear — the nonlinearity is earning its keep</a:t>
                      </a:r>
                    </a:p>
                  </a:txBody>
                  <a:tcPr marL="73152"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28" name="Rounded Rectangle 27"/>
          <p:cNvSpPr/>
          <p:nvPr/>
        </p:nvSpPr>
        <p:spPr>
          <a:xfrm>
            <a:off x="548640" y="5029200"/>
            <a:ext cx="5440680" cy="1463040"/>
          </a:xfrm>
          <a:prstGeom prst="roundRect">
            <a:avLst/>
          </a:prstGeom>
          <a:solidFill>
            <a:srgbClr val="E8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777240" y="5166360"/>
            <a:ext cx="4983480" cy="274320"/>
          </a:xfrm>
          <a:prstGeom prst="rect">
            <a:avLst/>
          </a:prstGeom>
          <a:noFill/>
        </p:spPr>
        <p:txBody>
          <a:bodyPr wrap="square" lIns="27432" tIns="0" rIns="27432" bIns="0">
            <a:spAutoFit/>
          </a:bodyPr>
          <a:lstStyle/>
          <a:p>
            <a:pPr algn="l">
              <a:spcAft>
                <a:spcPts val="600"/>
              </a:spcAft>
            </a:pPr>
            <a:r>
              <a:rPr sz="1200" b="1">
                <a:solidFill>
                  <a:srgbClr val="1E7A3C"/>
                </a:solidFill>
                <a:latin typeface="Calibri"/>
              </a:rPr>
              <a:t>WHAT WENT RIGHT</a:t>
            </a:r>
          </a:p>
        </p:txBody>
      </p:sp>
      <p:sp>
        <p:nvSpPr>
          <p:cNvPr id="30" name="TextBox 29"/>
          <p:cNvSpPr txBox="1"/>
          <p:nvPr/>
        </p:nvSpPr>
        <p:spPr>
          <a:xfrm>
            <a:off x="777240" y="5468112"/>
            <a:ext cx="4983480" cy="960120"/>
          </a:xfrm>
          <a:prstGeom prst="rect">
            <a:avLst/>
          </a:prstGeom>
          <a:noFill/>
        </p:spPr>
        <p:txBody>
          <a:bodyPr wrap="square" lIns="27432" tIns="0" rIns="27432" bIns="0">
            <a:spAutoFit/>
          </a:bodyPr>
          <a:lstStyle/>
          <a:p>
            <a:pPr algn="l">
              <a:spcAft>
                <a:spcPts val="300"/>
              </a:spcAft>
            </a:pPr>
            <a:r>
              <a:rPr sz="1200" b="0">
                <a:solidFill>
                  <a:srgbClr val="0E2A47"/>
                </a:solidFill>
                <a:latin typeface="Calibri"/>
              </a:rPr>
              <a:t>The model explains 53.6% of the variance in quantity sold, beating linear regression by a wide margin on an identical split. Test MSE is 54% below the predict-the-mean floor.</a:t>
            </a:r>
          </a:p>
        </p:txBody>
      </p:sp>
      <p:sp>
        <p:nvSpPr>
          <p:cNvPr id="31" name="Rounded Rectangle 30"/>
          <p:cNvSpPr/>
          <p:nvPr/>
        </p:nvSpPr>
        <p:spPr>
          <a:xfrm>
            <a:off x="6172200" y="5029200"/>
            <a:ext cx="5440680" cy="1463040"/>
          </a:xfrm>
          <a:prstGeom prst="roundRect">
            <a:avLst/>
          </a:prstGeom>
          <a:solidFill>
            <a:srgbClr val="FF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400800" y="5166360"/>
            <a:ext cx="4983480" cy="274320"/>
          </a:xfrm>
          <a:prstGeom prst="rect">
            <a:avLst/>
          </a:prstGeom>
          <a:noFill/>
        </p:spPr>
        <p:txBody>
          <a:bodyPr wrap="square" lIns="27432" tIns="0" rIns="27432" bIns="0">
            <a:spAutoFit/>
          </a:bodyPr>
          <a:lstStyle/>
          <a:p>
            <a:pPr algn="l">
              <a:spcAft>
                <a:spcPts val="600"/>
              </a:spcAft>
            </a:pPr>
            <a:r>
              <a:rPr sz="1200" b="1">
                <a:solidFill>
                  <a:srgbClr val="B06A00"/>
                </a:solidFill>
                <a:latin typeface="Calibri"/>
              </a:rPr>
              <a:t>HOW WE READ THE ZERO GAP</a:t>
            </a:r>
          </a:p>
        </p:txBody>
      </p:sp>
      <p:sp>
        <p:nvSpPr>
          <p:cNvPr id="33" name="TextBox 32"/>
          <p:cNvSpPr txBox="1"/>
          <p:nvPr/>
        </p:nvSpPr>
        <p:spPr>
          <a:xfrm>
            <a:off x="6400800" y="5468112"/>
            <a:ext cx="4983480" cy="960120"/>
          </a:xfrm>
          <a:prstGeom prst="rect">
            <a:avLst/>
          </a:prstGeom>
          <a:noFill/>
        </p:spPr>
        <p:txBody>
          <a:bodyPr wrap="square" lIns="27432" tIns="0" rIns="27432" bIns="0">
            <a:spAutoFit/>
          </a:bodyPr>
          <a:lstStyle/>
          <a:p>
            <a:pPr algn="l">
              <a:spcAft>
                <a:spcPts val="300"/>
              </a:spcAft>
            </a:pPr>
            <a:r>
              <a:rPr sz="1200" b="0">
                <a:solidFill>
                  <a:srgbClr val="0E2A47"/>
                </a:solidFill>
                <a:latin typeface="Calibri"/>
              </a:rPr>
              <a:t>Train ≈ test means no overfitting — but with 3,009 parameters on 400,000 rows and a single pass, it also means the model has capacity left unused. This is a well-generalising underfit, not a tuned optimum.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9692640" cy="548640"/>
          </a:xfrm>
          <a:prstGeom prst="rect">
            <a:avLst/>
          </a:prstGeom>
          <a:noFill/>
        </p:spPr>
        <p:txBody>
          <a:bodyPr wrap="square" lIns="27432" tIns="0" rIns="27432" bIns="0">
            <a:spAutoFit/>
          </a:bodyPr>
          <a:lstStyle/>
          <a:p>
            <a:pPr algn="l">
              <a:spcAft>
                <a:spcPts val="600"/>
              </a:spcAft>
            </a:pPr>
            <a:r>
              <a:rPr sz="2700" b="1">
                <a:solidFill>
                  <a:srgbClr val="0E2A47"/>
                </a:solidFill>
                <a:latin typeface="Calibri"/>
              </a:rPr>
              <a:t>Learning curve</a:t>
            </a:r>
          </a:p>
        </p:txBody>
      </p:sp>
      <p:sp>
        <p:nvSpPr>
          <p:cNvPr id="4" name="TextBox 3"/>
          <p:cNvSpPr txBox="1"/>
          <p:nvPr/>
        </p:nvSpPr>
        <p:spPr>
          <a:xfrm>
            <a:off x="530352" y="841248"/>
            <a:ext cx="10241280" cy="365760"/>
          </a:xfrm>
          <a:prstGeom prst="rect">
            <a:avLst/>
          </a:prstGeom>
          <a:noFill/>
        </p:spPr>
        <p:txBody>
          <a:bodyPr wrap="square" lIns="27432" tIns="0" rIns="27432" bIns="0">
            <a:spAutoFit/>
          </a:bodyPr>
          <a:lstStyle/>
          <a:p>
            <a:pPr algn="l">
              <a:spcAft>
                <a:spcPts val="600"/>
              </a:spcAft>
            </a:pPr>
            <a:r>
              <a:rPr sz="1300" b="0">
                <a:solidFill>
                  <a:srgbClr val="5A636B"/>
                </a:solidFill>
                <a:latin typeface="Calibri"/>
              </a:rPr>
              <a:t>Instances learned (x) vs. moving average of MSE (y)</a:t>
            </a:r>
          </a:p>
        </p:txBody>
      </p:sp>
      <p:sp>
        <p:nvSpPr>
          <p:cNvPr id="5" name="Rounded Rectangle 4"/>
          <p:cNvSpPr/>
          <p:nvPr/>
        </p:nvSpPr>
        <p:spPr>
          <a:xfrm>
            <a:off x="10378440" y="301752"/>
            <a:ext cx="1371600" cy="329184"/>
          </a:xfrm>
          <a:prstGeom prst="round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50" b="1">
                <a:solidFill>
                  <a:srgbClr val="FFFFFF"/>
                </a:solidFill>
              </a:rPr>
              <a:t>REQUIRED</a:t>
            </a:r>
          </a:p>
        </p:txBody>
      </p:sp>
      <p:pic>
        <p:nvPicPr>
          <p:cNvPr id="6" name="Picture 5" descr="learning_curve.png"/>
          <p:cNvPicPr>
            <a:picLocks noChangeAspect="1"/>
          </p:cNvPicPr>
          <p:nvPr/>
        </p:nvPicPr>
        <p:blipFill>
          <a:blip r:embed="rId3"/>
          <a:stretch>
            <a:fillRect/>
          </a:stretch>
        </p:blipFill>
        <p:spPr>
          <a:xfrm>
            <a:off x="457200" y="1346368"/>
            <a:ext cx="7635240" cy="4622462"/>
          </a:xfrm>
          <a:prstGeom prst="rect">
            <a:avLst/>
          </a:prstGeom>
        </p:spPr>
      </p:pic>
      <p:sp>
        <p:nvSpPr>
          <p:cNvPr id="7" name="Rounded Rectangle 6"/>
          <p:cNvSpPr/>
          <p:nvPr/>
        </p:nvSpPr>
        <p:spPr>
          <a:xfrm>
            <a:off x="8321040" y="1234440"/>
            <a:ext cx="3337560" cy="484632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522208" y="1371600"/>
            <a:ext cx="297180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HOW TO READ IT</a:t>
            </a:r>
          </a:p>
        </p:txBody>
      </p:sp>
      <p:sp>
        <p:nvSpPr>
          <p:cNvPr id="9" name="TextBox 8"/>
          <p:cNvSpPr txBox="1"/>
          <p:nvPr/>
        </p:nvSpPr>
        <p:spPr>
          <a:xfrm>
            <a:off x="8522208" y="1691640"/>
            <a:ext cx="2971800" cy="4206240"/>
          </a:xfrm>
          <a:prstGeom prst="rect">
            <a:avLst/>
          </a:prstGeom>
          <a:noFill/>
        </p:spPr>
        <p:txBody>
          <a:bodyPr wrap="square" lIns="27432" tIns="0" rIns="27432" bIns="0">
            <a:spAutoFit/>
          </a:bodyPr>
          <a:lstStyle/>
          <a:p>
            <a:pPr algn="l">
              <a:spcAft>
                <a:spcPts val="500"/>
              </a:spcAft>
            </a:pPr>
            <a:r>
              <a:rPr sz="1150" b="0">
                <a:solidFill>
                  <a:srgbClr val="0E2A47"/>
                </a:solidFill>
                <a:latin typeface="Calibri"/>
              </a:rPr>
              <a:t>x-axis: cumulative records seen, 0 → 400,000 (batch number × 32).</a:t>
            </a:r>
          </a:p>
          <a:p>
            <a:pPr algn="l">
              <a:spcAft>
                <a:spcPts val="500"/>
              </a:spcAft>
            </a:pPr>
            <a:endParaRPr sz="1150" b="0">
              <a:solidFill>
                <a:srgbClr val="0E2A47"/>
              </a:solidFill>
              <a:latin typeface="Calibri"/>
            </a:endParaRPr>
          </a:p>
          <a:p>
            <a:pPr algn="l">
              <a:spcAft>
                <a:spcPts val="500"/>
              </a:spcAft>
            </a:pPr>
            <a:r>
              <a:rPr sz="1150" b="0">
                <a:solidFill>
                  <a:srgbClr val="0E2A47"/>
                </a:solidFill>
                <a:latin typeface="Calibri"/>
              </a:rPr>
              <a:t>Grey line: 100-batch moving average — the required curve.</a:t>
            </a:r>
          </a:p>
          <a:p>
            <a:pPr algn="l">
              <a:spcAft>
                <a:spcPts val="500"/>
              </a:spcAft>
            </a:pPr>
            <a:endParaRPr sz="1150" b="0">
              <a:solidFill>
                <a:srgbClr val="0E2A47"/>
              </a:solidFill>
              <a:latin typeface="Calibri"/>
            </a:endParaRPr>
          </a:p>
          <a:p>
            <a:pPr algn="l">
              <a:spcAft>
                <a:spcPts val="500"/>
              </a:spcAft>
            </a:pPr>
            <a:r>
              <a:rPr sz="1150" b="0">
                <a:solidFill>
                  <a:srgbClr val="0E2A47"/>
                </a:solidFill>
                <a:latin typeface="Calibri"/>
              </a:rPr>
              <a:t>Blue line: 1,000-batch average, added to make the trend legible.</a:t>
            </a:r>
          </a:p>
          <a:p>
            <a:pPr algn="l">
              <a:spcAft>
                <a:spcPts val="500"/>
              </a:spcAft>
            </a:pPr>
            <a:endParaRPr sz="1150" b="0">
              <a:solidFill>
                <a:srgbClr val="0E2A47"/>
              </a:solidFill>
              <a:latin typeface="Calibri"/>
            </a:endParaRPr>
          </a:p>
          <a:p>
            <a:pPr algn="l">
              <a:spcAft>
                <a:spcPts val="500"/>
              </a:spcAft>
            </a:pPr>
            <a:r>
              <a:rPr sz="1150" b="0">
                <a:solidFill>
                  <a:srgbClr val="0E2A47"/>
                </a:solidFill>
                <a:latin typeface="Calibri"/>
              </a:rPr>
              <a:t>Smoothed MSE falls from 1,513 early to 1,233 late — a 19% reduction, so learning is real but modest.</a:t>
            </a:r>
          </a:p>
          <a:p>
            <a:pPr algn="l">
              <a:spcAft>
                <a:spcPts val="500"/>
              </a:spcAft>
            </a:pPr>
            <a:endParaRPr sz="1150" b="0">
              <a:solidFill>
                <a:srgbClr val="0E2A47"/>
              </a:solidFill>
              <a:latin typeface="Calibri"/>
            </a:endParaRPr>
          </a:p>
          <a:p>
            <a:pPr algn="l">
              <a:spcAft>
                <a:spcPts val="500"/>
              </a:spcAft>
            </a:pPr>
            <a:r>
              <a:rPr sz="1150" b="0">
                <a:solidFill>
                  <a:srgbClr val="0E2A47"/>
                </a:solidFill>
                <a:latin typeface="Calibri"/>
              </a:rPr>
              <a:t>The curve is noisy because each point is a 32-row gradient estimate. Single batches range from under 300 to over 5,000 MSE depending on whether they happen to contain high-quantity outliers.</a:t>
            </a:r>
          </a:p>
          <a:p>
            <a:pPr algn="l">
              <a:spcAft>
                <a:spcPts val="500"/>
              </a:spcAft>
            </a:pPr>
            <a:endParaRPr sz="1150" b="0">
              <a:solidFill>
                <a:srgbClr val="0E2A47"/>
              </a:solidFill>
              <a:latin typeface="Calibri"/>
            </a:endParaRPr>
          </a:p>
          <a:p>
            <a:pPr algn="l">
              <a:spcAft>
                <a:spcPts val="500"/>
              </a:spcAft>
            </a:pPr>
            <a:r>
              <a:rPr sz="1150" b="0">
                <a:solidFill>
                  <a:srgbClr val="0E2A47"/>
                </a:solidFill>
                <a:latin typeface="Calibri"/>
              </a:rPr>
              <a:t>It flattens rather than converging to a low floor — the signature of one epoch plus sigmoid-throttled gradients.</a:t>
            </a:r>
          </a:p>
        </p:txBody>
      </p:sp>
      <p:sp>
        <p:nvSpPr>
          <p:cNvPr id="10" name="TextBox 9"/>
          <p:cNvSpPr txBox="1"/>
          <p:nvPr/>
        </p:nvSpPr>
        <p:spPr>
          <a:xfrm>
            <a:off x="457200" y="6172200"/>
            <a:ext cx="7635240" cy="457200"/>
          </a:xfrm>
          <a:prstGeom prst="rect">
            <a:avLst/>
          </a:prstGeom>
          <a:noFill/>
        </p:spPr>
        <p:txBody>
          <a:bodyPr wrap="square" lIns="27432" tIns="0" rIns="27432" bIns="0">
            <a:spAutoFit/>
          </a:bodyPr>
          <a:lstStyle/>
          <a:p>
            <a:pPr algn="l">
              <a:spcAft>
                <a:spcPts val="200"/>
              </a:spcAft>
            </a:pPr>
            <a:r>
              <a:rPr sz="1150" b="0">
                <a:solidFill>
                  <a:srgbClr val="0E2A47"/>
                </a:solidFill>
                <a:latin typeface="Calibri"/>
              </a:rPr>
              <a:t>Mean MSE by phase — first third 1,437.6  →  middle third 1,232.7  →  final third 1,286.7. Most of the learning happens in the first ~150,000 records.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9692640" cy="548640"/>
          </a:xfrm>
          <a:prstGeom prst="rect">
            <a:avLst/>
          </a:prstGeom>
          <a:noFill/>
        </p:spPr>
        <p:txBody>
          <a:bodyPr wrap="square" lIns="27432" tIns="0" rIns="27432" bIns="0">
            <a:spAutoFit/>
          </a:bodyPr>
          <a:lstStyle/>
          <a:p>
            <a:pPr algn="l">
              <a:spcAft>
                <a:spcPts val="600"/>
              </a:spcAft>
            </a:pPr>
            <a:r>
              <a:rPr sz="2700" b="1">
                <a:solidFill>
                  <a:srgbClr val="0E2A47"/>
                </a:solidFill>
                <a:latin typeface="Calibri"/>
              </a:rPr>
              <a:t>Variable importance</a:t>
            </a:r>
          </a:p>
        </p:txBody>
      </p:sp>
      <p:sp>
        <p:nvSpPr>
          <p:cNvPr id="4" name="TextBox 3"/>
          <p:cNvSpPr txBox="1"/>
          <p:nvPr/>
        </p:nvSpPr>
        <p:spPr>
          <a:xfrm>
            <a:off x="530352" y="841248"/>
            <a:ext cx="10241280" cy="365760"/>
          </a:xfrm>
          <a:prstGeom prst="rect">
            <a:avLst/>
          </a:prstGeom>
          <a:noFill/>
        </p:spPr>
        <p:txBody>
          <a:bodyPr wrap="square" lIns="27432" tIns="0" rIns="27432" bIns="0">
            <a:spAutoFit/>
          </a:bodyPr>
          <a:lstStyle/>
          <a:p>
            <a:pPr algn="l">
              <a:spcAft>
                <a:spcPts val="600"/>
              </a:spcAft>
            </a:pPr>
            <a:r>
              <a:rPr sz="1300" b="0">
                <a:solidFill>
                  <a:srgbClr val="5A636B"/>
                </a:solidFill>
                <a:latin typeface="Calibri"/>
              </a:rPr>
              <a:t>Permutation importance — drop in test R² when a feature is shuffled</a:t>
            </a:r>
          </a:p>
        </p:txBody>
      </p:sp>
      <p:sp>
        <p:nvSpPr>
          <p:cNvPr id="5" name="Rounded Rectangle 4"/>
          <p:cNvSpPr/>
          <p:nvPr/>
        </p:nvSpPr>
        <p:spPr>
          <a:xfrm>
            <a:off x="10378440" y="301752"/>
            <a:ext cx="1371600" cy="329184"/>
          </a:xfrm>
          <a:prstGeom prst="round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50" b="1">
                <a:solidFill>
                  <a:srgbClr val="FFFFFF"/>
                </a:solidFill>
              </a:rPr>
              <a:t>REQUIRED</a:t>
            </a:r>
          </a:p>
        </p:txBody>
      </p:sp>
      <p:pic>
        <p:nvPicPr>
          <p:cNvPr id="6" name="Picture 5" descr="variable_importance.png"/>
          <p:cNvPicPr>
            <a:picLocks noChangeAspect="1"/>
          </p:cNvPicPr>
          <p:nvPr/>
        </p:nvPicPr>
        <p:blipFill>
          <a:blip r:embed="rId3"/>
          <a:stretch>
            <a:fillRect/>
          </a:stretch>
        </p:blipFill>
        <p:spPr>
          <a:xfrm>
            <a:off x="457200" y="1321017"/>
            <a:ext cx="7635240" cy="4444564"/>
          </a:xfrm>
          <a:prstGeom prst="rect">
            <a:avLst/>
          </a:prstGeom>
        </p:spPr>
      </p:pic>
      <p:sp>
        <p:nvSpPr>
          <p:cNvPr id="7" name="Rounded Rectangle 6"/>
          <p:cNvSpPr/>
          <p:nvPr/>
        </p:nvSpPr>
        <p:spPr>
          <a:xfrm>
            <a:off x="8321040" y="1234440"/>
            <a:ext cx="3337560" cy="466344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522208" y="1371600"/>
            <a:ext cx="297180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METHOD &amp; READING</a:t>
            </a:r>
          </a:p>
        </p:txBody>
      </p:sp>
      <p:sp>
        <p:nvSpPr>
          <p:cNvPr id="9" name="TextBox 8"/>
          <p:cNvSpPr txBox="1"/>
          <p:nvPr/>
        </p:nvSpPr>
        <p:spPr>
          <a:xfrm>
            <a:off x="8522208" y="1691640"/>
            <a:ext cx="2971800" cy="4023360"/>
          </a:xfrm>
          <a:prstGeom prst="rect">
            <a:avLst/>
          </a:prstGeom>
          <a:noFill/>
        </p:spPr>
        <p:txBody>
          <a:bodyPr wrap="square" lIns="27432" tIns="0" rIns="27432" bIns="0">
            <a:spAutoFit/>
          </a:bodyPr>
          <a:lstStyle/>
          <a:p>
            <a:pPr algn="l">
              <a:spcAft>
                <a:spcPts val="500"/>
              </a:spcAft>
            </a:pPr>
            <a:r>
              <a:rPr sz="1150" b="0">
                <a:solidFill>
                  <a:srgbClr val="0E2A47"/>
                </a:solidFill>
                <a:latin typeface="Calibri"/>
              </a:rPr>
              <a:t>Method: randomly shuffle one feature in the test set, re-score, and measure how far test R² falls. A large fall means the model relied on that feature. Averaged over 5 shuffles; error bars are ±1 sd.</a:t>
            </a:r>
          </a:p>
          <a:p>
            <a:pPr algn="l">
              <a:spcAft>
                <a:spcPts val="500"/>
              </a:spcAft>
            </a:pPr>
            <a:endParaRPr sz="1150" b="0">
              <a:solidFill>
                <a:srgbClr val="0E2A47"/>
              </a:solidFill>
              <a:latin typeface="Calibri"/>
            </a:endParaRPr>
          </a:p>
          <a:p>
            <a:pPr algn="l">
              <a:spcAft>
                <a:spcPts val="500"/>
              </a:spcAft>
            </a:pPr>
            <a:r>
              <a:rPr sz="1150" b="0">
                <a:solidFill>
                  <a:srgbClr val="0E2A47"/>
                </a:solidFill>
                <a:latin typeface="Calibri"/>
              </a:rPr>
              <a:t>duration  0.9705</a:t>
            </a:r>
          </a:p>
          <a:p>
            <a:pPr algn="l">
              <a:spcAft>
                <a:spcPts val="500"/>
              </a:spcAft>
            </a:pPr>
            <a:r>
              <a:rPr sz="1150" b="0">
                <a:solidFill>
                  <a:srgbClr val="0E2A47"/>
                </a:solidFill>
                <a:latin typeface="Calibri"/>
              </a:rPr>
              <a:t>price  0.3784</a:t>
            </a:r>
          </a:p>
          <a:p>
            <a:pPr algn="l">
              <a:spcAft>
                <a:spcPts val="500"/>
              </a:spcAft>
            </a:pPr>
            <a:r>
              <a:rPr sz="1150" b="0">
                <a:solidFill>
                  <a:srgbClr val="0E2A47"/>
                </a:solidFill>
                <a:latin typeface="Calibri"/>
              </a:rPr>
              <a:t>category  0.0192</a:t>
            </a:r>
          </a:p>
          <a:p>
            <a:pPr algn="l">
              <a:spcAft>
                <a:spcPts val="500"/>
              </a:spcAft>
            </a:pPr>
            <a:r>
              <a:rPr sz="1150" b="0">
                <a:solidFill>
                  <a:srgbClr val="0E2A47"/>
                </a:solidFill>
                <a:latin typeface="Calibri"/>
              </a:rPr>
              <a:t>order  0.0120</a:t>
            </a:r>
          </a:p>
          <a:p>
            <a:pPr algn="l">
              <a:spcAft>
                <a:spcPts val="500"/>
              </a:spcAft>
            </a:pPr>
            <a:r>
              <a:rPr sz="1150" b="0">
                <a:solidFill>
                  <a:srgbClr val="0E2A47"/>
                </a:solidFill>
                <a:latin typeface="Calibri"/>
              </a:rPr>
              <a:t>sku  0.0029</a:t>
            </a:r>
          </a:p>
          <a:p>
            <a:pPr algn="l">
              <a:spcAft>
                <a:spcPts val="500"/>
              </a:spcAft>
            </a:pPr>
            <a:endParaRPr sz="1150" b="0">
              <a:solidFill>
                <a:srgbClr val="0E2A47"/>
              </a:solidFill>
              <a:latin typeface="Calibri"/>
            </a:endParaRPr>
          </a:p>
          <a:p>
            <a:pPr algn="l">
              <a:spcAft>
                <a:spcPts val="500"/>
              </a:spcAft>
            </a:pPr>
            <a:r>
              <a:rPr sz="1150" b="0">
                <a:solidFill>
                  <a:srgbClr val="0E2A47"/>
                </a:solidFill>
                <a:latin typeface="Calibri"/>
              </a:rPr>
              <a:t>Two features carry essentially all the signal. duration alone accounts for a 0.97 R² collapse — destroy it and the model becomes worse than predicting the mean.</a:t>
            </a:r>
          </a:p>
        </p:txBody>
      </p:sp>
      <p:sp>
        <p:nvSpPr>
          <p:cNvPr id="10" name="TextBox 9"/>
          <p:cNvSpPr txBox="1"/>
          <p:nvPr/>
        </p:nvSpPr>
        <p:spPr>
          <a:xfrm>
            <a:off x="457200" y="5943600"/>
            <a:ext cx="7635240" cy="731520"/>
          </a:xfrm>
          <a:prstGeom prst="rect">
            <a:avLst/>
          </a:prstGeom>
          <a:noFill/>
        </p:spPr>
        <p:txBody>
          <a:bodyPr wrap="square" lIns="27432" tIns="0" rIns="27432" bIns="0">
            <a:spAutoFit/>
          </a:bodyPr>
          <a:lstStyle/>
          <a:p>
            <a:pPr algn="l">
              <a:spcAft>
                <a:spcPts val="200"/>
              </a:spcAft>
            </a:pPr>
            <a:r>
              <a:rPr sz="1150" b="0">
                <a:solidFill>
                  <a:srgbClr val="0E2A47"/>
                </a:solidFill>
                <a:latin typeface="Calibri"/>
              </a:rPr>
              <a:t>Does this make business sense? Yes. duration is how long the product was available to sell, so it is close to an exposure measure — more shelf time, more units sold. price is the classic demand driver. That the two dominate is a sign the model learned something real, not an artefact.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9692640" cy="548640"/>
          </a:xfrm>
          <a:prstGeom prst="rect">
            <a:avLst/>
          </a:prstGeom>
          <a:noFill/>
        </p:spPr>
        <p:txBody>
          <a:bodyPr wrap="square" lIns="27432" tIns="0" rIns="27432" bIns="0">
            <a:spAutoFit/>
          </a:bodyPr>
          <a:lstStyle/>
          <a:p>
            <a:pPr algn="l">
              <a:spcAft>
                <a:spcPts val="600"/>
              </a:spcAft>
            </a:pPr>
            <a:r>
              <a:rPr sz="2700" b="1">
                <a:solidFill>
                  <a:srgbClr val="0E2A47"/>
                </a:solidFill>
                <a:latin typeface="Calibri"/>
              </a:rPr>
              <a:t>RAM usage</a:t>
            </a:r>
          </a:p>
        </p:txBody>
      </p:sp>
      <p:sp>
        <p:nvSpPr>
          <p:cNvPr id="4" name="TextBox 3"/>
          <p:cNvSpPr txBox="1"/>
          <p:nvPr/>
        </p:nvSpPr>
        <p:spPr>
          <a:xfrm>
            <a:off x="530352" y="841248"/>
            <a:ext cx="10241280" cy="365760"/>
          </a:xfrm>
          <a:prstGeom prst="rect">
            <a:avLst/>
          </a:prstGeom>
          <a:noFill/>
        </p:spPr>
        <p:txBody>
          <a:bodyPr wrap="square" lIns="27432" tIns="0" rIns="27432" bIns="0">
            <a:spAutoFit/>
          </a:bodyPr>
          <a:lstStyle/>
          <a:p>
            <a:pPr algn="l">
              <a:spcAft>
                <a:spcPts val="600"/>
              </a:spcAft>
            </a:pPr>
            <a:r>
              <a:rPr sz="1300" b="0">
                <a:solidFill>
                  <a:srgbClr val="5A636B"/>
                </a:solidFill>
                <a:latin typeface="Calibri"/>
              </a:rPr>
              <a:t>Measured with psutil at every one of 12,500 updates</a:t>
            </a:r>
          </a:p>
        </p:txBody>
      </p:sp>
      <p:sp>
        <p:nvSpPr>
          <p:cNvPr id="5" name="Rounded Rectangle 4"/>
          <p:cNvSpPr/>
          <p:nvPr/>
        </p:nvSpPr>
        <p:spPr>
          <a:xfrm>
            <a:off x="10378440" y="301752"/>
            <a:ext cx="1371600" cy="329184"/>
          </a:xfrm>
          <a:prstGeom prst="round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50" b="1">
                <a:solidFill>
                  <a:srgbClr val="FFFFFF"/>
                </a:solidFill>
              </a:rPr>
              <a:t>REQUIRED</a:t>
            </a:r>
          </a:p>
        </p:txBody>
      </p:sp>
      <p:sp>
        <p:nvSpPr>
          <p:cNvPr id="6" name="Rounded Rectangle 5"/>
          <p:cNvSpPr/>
          <p:nvPr/>
        </p:nvSpPr>
        <p:spPr>
          <a:xfrm>
            <a:off x="548640" y="1371600"/>
            <a:ext cx="2651760" cy="109728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8640" y="1371600"/>
            <a:ext cx="64008" cy="1097280"/>
          </a:xfrm>
          <a:prstGeom prst="rect">
            <a:avLst/>
          </a:prstGeom>
          <a:solidFill>
            <a:srgbClr val="5A6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499616"/>
            <a:ext cx="233172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PROCESS AT START</a:t>
            </a:r>
          </a:p>
        </p:txBody>
      </p:sp>
      <p:sp>
        <p:nvSpPr>
          <p:cNvPr id="9" name="TextBox 8"/>
          <p:cNvSpPr txBox="1"/>
          <p:nvPr/>
        </p:nvSpPr>
        <p:spPr>
          <a:xfrm>
            <a:off x="749808" y="1773936"/>
            <a:ext cx="2331720" cy="457200"/>
          </a:xfrm>
          <a:prstGeom prst="rect">
            <a:avLst/>
          </a:prstGeom>
          <a:noFill/>
        </p:spPr>
        <p:txBody>
          <a:bodyPr wrap="square" lIns="27432" tIns="0" rIns="27432" bIns="0">
            <a:spAutoFit/>
          </a:bodyPr>
          <a:lstStyle/>
          <a:p>
            <a:pPr algn="l">
              <a:spcAft>
                <a:spcPts val="600"/>
              </a:spcAft>
            </a:pPr>
            <a:r>
              <a:rPr sz="2500" b="1">
                <a:solidFill>
                  <a:srgbClr val="5A636B"/>
                </a:solidFill>
                <a:latin typeface="Calibri"/>
              </a:rPr>
              <a:t>346.4 MB</a:t>
            </a:r>
          </a:p>
        </p:txBody>
      </p:sp>
      <p:sp>
        <p:nvSpPr>
          <p:cNvPr id="10" name="TextBox 9"/>
          <p:cNvSpPr txBox="1"/>
          <p:nvPr/>
        </p:nvSpPr>
        <p:spPr>
          <a:xfrm>
            <a:off x="749808" y="2048256"/>
            <a:ext cx="233172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Python + TensorFlow loaded</a:t>
            </a:r>
          </a:p>
        </p:txBody>
      </p:sp>
      <p:sp>
        <p:nvSpPr>
          <p:cNvPr id="11" name="Rounded Rectangle 10"/>
          <p:cNvSpPr/>
          <p:nvPr/>
        </p:nvSpPr>
        <p:spPr>
          <a:xfrm>
            <a:off x="3337560" y="1371600"/>
            <a:ext cx="2651760" cy="109728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3337560" y="1371600"/>
            <a:ext cx="64008" cy="1097280"/>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38728" y="1499616"/>
            <a:ext cx="233172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AFTER LOADING DATA</a:t>
            </a:r>
          </a:p>
        </p:txBody>
      </p:sp>
      <p:sp>
        <p:nvSpPr>
          <p:cNvPr id="14" name="TextBox 13"/>
          <p:cNvSpPr txBox="1"/>
          <p:nvPr/>
        </p:nvSpPr>
        <p:spPr>
          <a:xfrm>
            <a:off x="3538728" y="1773936"/>
            <a:ext cx="2331720" cy="457200"/>
          </a:xfrm>
          <a:prstGeom prst="rect">
            <a:avLst/>
          </a:prstGeom>
          <a:noFill/>
        </p:spPr>
        <p:txBody>
          <a:bodyPr wrap="square" lIns="27432" tIns="0" rIns="27432" bIns="0">
            <a:spAutoFit/>
          </a:bodyPr>
          <a:lstStyle/>
          <a:p>
            <a:pPr algn="l">
              <a:spcAft>
                <a:spcPts val="600"/>
              </a:spcAft>
            </a:pPr>
            <a:r>
              <a:rPr sz="2500" b="1">
                <a:solidFill>
                  <a:srgbClr val="1F6FB4"/>
                </a:solidFill>
                <a:latin typeface="Calibri"/>
              </a:rPr>
              <a:t>383.7 MB</a:t>
            </a:r>
          </a:p>
        </p:txBody>
      </p:sp>
      <p:sp>
        <p:nvSpPr>
          <p:cNvPr id="15" name="TextBox 14"/>
          <p:cNvSpPr txBox="1"/>
          <p:nvPr/>
        </p:nvSpPr>
        <p:spPr>
          <a:xfrm>
            <a:off x="3538728" y="2048256"/>
            <a:ext cx="233172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+37.4 MB for 500,000 rows</a:t>
            </a:r>
          </a:p>
        </p:txBody>
      </p:sp>
      <p:sp>
        <p:nvSpPr>
          <p:cNvPr id="16" name="Rounded Rectangle 15"/>
          <p:cNvSpPr/>
          <p:nvPr/>
        </p:nvSpPr>
        <p:spPr>
          <a:xfrm>
            <a:off x="6126480" y="1371600"/>
            <a:ext cx="2651760" cy="109728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6126480" y="1371600"/>
            <a:ext cx="64008" cy="1097280"/>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27648" y="1499616"/>
            <a:ext cx="233172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PEAK DURING TRAINING</a:t>
            </a:r>
          </a:p>
        </p:txBody>
      </p:sp>
      <p:sp>
        <p:nvSpPr>
          <p:cNvPr id="19" name="TextBox 18"/>
          <p:cNvSpPr txBox="1"/>
          <p:nvPr/>
        </p:nvSpPr>
        <p:spPr>
          <a:xfrm>
            <a:off x="6327648" y="1773936"/>
            <a:ext cx="2331720" cy="457200"/>
          </a:xfrm>
          <a:prstGeom prst="rect">
            <a:avLst/>
          </a:prstGeom>
          <a:noFill/>
        </p:spPr>
        <p:txBody>
          <a:bodyPr wrap="square" lIns="27432" tIns="0" rIns="27432" bIns="0">
            <a:spAutoFit/>
          </a:bodyPr>
          <a:lstStyle/>
          <a:p>
            <a:pPr algn="l">
              <a:spcAft>
                <a:spcPts val="600"/>
              </a:spcAft>
            </a:pPr>
            <a:r>
              <a:rPr sz="2500" b="1">
                <a:solidFill>
                  <a:srgbClr val="1E7A3C"/>
                </a:solidFill>
                <a:latin typeface="Calibri"/>
              </a:rPr>
              <a:t>423.7 MB</a:t>
            </a:r>
          </a:p>
        </p:txBody>
      </p:sp>
      <p:sp>
        <p:nvSpPr>
          <p:cNvPr id="20" name="TextBox 19"/>
          <p:cNvSpPr txBox="1"/>
          <p:nvPr/>
        </p:nvSpPr>
        <p:spPr>
          <a:xfrm>
            <a:off x="6327648" y="2048256"/>
            <a:ext cx="233172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+32 MB across 12,500 updates</a:t>
            </a:r>
          </a:p>
        </p:txBody>
      </p:sp>
      <p:sp>
        <p:nvSpPr>
          <p:cNvPr id="21" name="Rounded Rectangle 20"/>
          <p:cNvSpPr/>
          <p:nvPr/>
        </p:nvSpPr>
        <p:spPr>
          <a:xfrm>
            <a:off x="8915400" y="1371600"/>
            <a:ext cx="2697480" cy="109728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8915400" y="1371600"/>
            <a:ext cx="64008" cy="1097280"/>
          </a:xfrm>
          <a:prstGeom prst="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16568" y="1499616"/>
            <a:ext cx="237744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DRIFT WHILE TRAINING</a:t>
            </a:r>
          </a:p>
        </p:txBody>
      </p:sp>
      <p:sp>
        <p:nvSpPr>
          <p:cNvPr id="24" name="TextBox 23"/>
          <p:cNvSpPr txBox="1"/>
          <p:nvPr/>
        </p:nvSpPr>
        <p:spPr>
          <a:xfrm>
            <a:off x="9116568" y="1773936"/>
            <a:ext cx="2377440" cy="457200"/>
          </a:xfrm>
          <a:prstGeom prst="rect">
            <a:avLst/>
          </a:prstGeom>
          <a:noFill/>
        </p:spPr>
        <p:txBody>
          <a:bodyPr wrap="square" lIns="27432" tIns="0" rIns="27432" bIns="0">
            <a:spAutoFit/>
          </a:bodyPr>
          <a:lstStyle/>
          <a:p>
            <a:pPr algn="l">
              <a:spcAft>
                <a:spcPts val="600"/>
              </a:spcAft>
            </a:pPr>
            <a:r>
              <a:rPr sz="2500" b="1">
                <a:solidFill>
                  <a:srgbClr val="1E7A3C"/>
                </a:solidFill>
                <a:latin typeface="Calibri"/>
              </a:rPr>
              <a:t>6.5 MB</a:t>
            </a:r>
          </a:p>
        </p:txBody>
      </p:sp>
      <p:sp>
        <p:nvSpPr>
          <p:cNvPr id="25" name="TextBox 24"/>
          <p:cNvSpPr txBox="1"/>
          <p:nvPr/>
        </p:nvSpPr>
        <p:spPr>
          <a:xfrm>
            <a:off x="9116568" y="2048256"/>
            <a:ext cx="237744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417.2 → 423.7 MB total</a:t>
            </a:r>
          </a:p>
        </p:txBody>
      </p:sp>
      <p:graphicFrame>
        <p:nvGraphicFramePr>
          <p:cNvPr id="26" name="Table 25"/>
          <p:cNvGraphicFramePr>
            <a:graphicFrameLocks noGrp="1"/>
          </p:cNvGraphicFramePr>
          <p:nvPr/>
        </p:nvGraphicFramePr>
        <p:xfrm>
          <a:off x="548640" y="2743200"/>
          <a:ext cx="6766560" cy="2633472"/>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29184">
                <a:tc>
                  <a:txBody>
                    <a:bodyPr/>
                    <a:lstStyle/>
                    <a:p>
                      <a:r>
                        <a:rPr sz="1150" b="1">
                          <a:solidFill>
                            <a:srgbClr val="FFFFFF"/>
                          </a:solidFill>
                          <a:latin typeface="Calibri"/>
                        </a:rPr>
                        <a:t>Stage</a:t>
                      </a:r>
                    </a:p>
                  </a:txBody>
                  <a:tcPr marL="73152" marR="54864" marT="18288" marB="18288" anchor="ctr">
                    <a:solidFill>
                      <a:srgbClr val="0E2A47"/>
                    </a:solidFill>
                  </a:tcPr>
                </a:tc>
                <a:tc>
                  <a:txBody>
                    <a:bodyPr/>
                    <a:lstStyle/>
                    <a:p>
                      <a:r>
                        <a:rPr sz="1150" b="1">
                          <a:solidFill>
                            <a:srgbClr val="FFFFFF"/>
                          </a:solidFill>
                          <a:latin typeface="Calibri"/>
                        </a:rPr>
                        <a:t>RAM (MB)</a:t>
                      </a:r>
                    </a:p>
                  </a:txBody>
                  <a:tcPr marL="73152" marR="54864" marT="18288" marB="18288" anchor="ctr">
                    <a:solidFill>
                      <a:srgbClr val="0E2A47"/>
                    </a:solidFill>
                  </a:tcPr>
                </a:tc>
                <a:tc>
                  <a:txBody>
                    <a:bodyPr/>
                    <a:lstStyle/>
                    <a:p>
                      <a:r>
                        <a:rPr sz="1150" b="1">
                          <a:solidFill>
                            <a:srgbClr val="FFFFFF"/>
                          </a:solidFill>
                          <a:latin typeface="Calibri"/>
                        </a:rPr>
                        <a:t>Δ from start</a:t>
                      </a:r>
                    </a:p>
                  </a:txBody>
                  <a:tcPr marL="73152" marR="54864" marT="18288" marB="18288" anchor="ctr">
                    <a:solidFill>
                      <a:srgbClr val="0E2A47"/>
                    </a:solidFill>
                  </a:tcPr>
                </a:tc>
                <a:extLst>
                  <a:ext uri="{0D108BD9-81ED-4DB2-BD59-A6C34878D82A}">
                    <a16:rowId xmlns:a16="http://schemas.microsoft.com/office/drawing/2014/main" val="10000"/>
                  </a:ext>
                </a:extLst>
              </a:tr>
              <a:tr h="329184">
                <a:tc>
                  <a:txBody>
                    <a:bodyPr/>
                    <a:lstStyle/>
                    <a:p>
                      <a:r>
                        <a:rPr sz="1100" b="0">
                          <a:solidFill>
                            <a:srgbClr val="0E2A47"/>
                          </a:solidFill>
                          <a:latin typeface="Calibri"/>
                        </a:rPr>
                        <a:t>Process start</a:t>
                      </a:r>
                    </a:p>
                  </a:txBody>
                  <a:tcPr marL="73152" marR="54864" marT="18288" marB="18288" anchor="ctr">
                    <a:solidFill>
                      <a:srgbClr val="FFFFFF"/>
                    </a:solidFill>
                  </a:tcPr>
                </a:tc>
                <a:tc>
                  <a:txBody>
                    <a:bodyPr/>
                    <a:lstStyle/>
                    <a:p>
                      <a:r>
                        <a:rPr sz="1100" b="0">
                          <a:solidFill>
                            <a:srgbClr val="0E2A47"/>
                          </a:solidFill>
                          <a:latin typeface="Calibri"/>
                        </a:rPr>
                        <a:t>346.4</a:t>
                      </a:r>
                    </a:p>
                  </a:txBody>
                  <a:tcPr marL="73152" marR="54864" marT="18288" marB="18288" anchor="ctr">
                    <a:solidFill>
                      <a:srgbClr val="FFFFFF"/>
                    </a:solidFill>
                  </a:tcPr>
                </a:tc>
                <a:tc>
                  <a:txBody>
                    <a:bodyPr/>
                    <a:lstStyle/>
                    <a:p>
                      <a:r>
                        <a:rPr sz="1100" b="0">
                          <a:solidFill>
                            <a:srgbClr val="0E2A47"/>
                          </a:solidFill>
                          <a:latin typeface="Calibri"/>
                        </a:rPr>
                        <a:t>—</a:t>
                      </a:r>
                    </a:p>
                  </a:txBody>
                  <a:tcPr marL="73152" marR="54864" marT="18288" marB="18288" anchor="ctr">
                    <a:solidFill>
                      <a:srgbClr val="FFFFFF"/>
                    </a:solidFill>
                  </a:tcPr>
                </a:tc>
                <a:extLst>
                  <a:ext uri="{0D108BD9-81ED-4DB2-BD59-A6C34878D82A}">
                    <a16:rowId xmlns:a16="http://schemas.microsoft.com/office/drawing/2014/main" val="10001"/>
                  </a:ext>
                </a:extLst>
              </a:tr>
              <a:tr h="329184">
                <a:tc>
                  <a:txBody>
                    <a:bodyPr/>
                    <a:lstStyle/>
                    <a:p>
                      <a:r>
                        <a:rPr sz="1100" b="0">
                          <a:solidFill>
                            <a:srgbClr val="0E2A47"/>
                          </a:solidFill>
                          <a:latin typeface="Calibri"/>
                        </a:rPr>
                        <a:t>After pd.read_csv + split + scale</a:t>
                      </a:r>
                    </a:p>
                  </a:txBody>
                  <a:tcPr marL="73152" marR="54864" marT="18288" marB="18288" anchor="ctr">
                    <a:solidFill>
                      <a:srgbClr val="F2F4F7"/>
                    </a:solidFill>
                  </a:tcPr>
                </a:tc>
                <a:tc>
                  <a:txBody>
                    <a:bodyPr/>
                    <a:lstStyle/>
                    <a:p>
                      <a:r>
                        <a:rPr sz="1100" b="0">
                          <a:solidFill>
                            <a:srgbClr val="0E2A47"/>
                          </a:solidFill>
                          <a:latin typeface="Calibri"/>
                        </a:rPr>
                        <a:t>383.7</a:t>
                      </a:r>
                    </a:p>
                  </a:txBody>
                  <a:tcPr marL="73152" marR="54864" marT="18288" marB="18288" anchor="ctr">
                    <a:solidFill>
                      <a:srgbClr val="F2F4F7"/>
                    </a:solidFill>
                  </a:tcPr>
                </a:tc>
                <a:tc>
                  <a:txBody>
                    <a:bodyPr/>
                    <a:lstStyle/>
                    <a:p>
                      <a:r>
                        <a:rPr sz="1100" b="0">
                          <a:solidFill>
                            <a:srgbClr val="0E2A47"/>
                          </a:solidFill>
                          <a:latin typeface="Calibri"/>
                        </a:rPr>
                        <a:t>+37.4</a:t>
                      </a:r>
                    </a:p>
                  </a:txBody>
                  <a:tcPr marL="73152" marR="54864" marT="18288" marB="18288" anchor="ctr">
                    <a:solidFill>
                      <a:srgbClr val="F2F4F7"/>
                    </a:solidFill>
                  </a:tcPr>
                </a:tc>
                <a:extLst>
                  <a:ext uri="{0D108BD9-81ED-4DB2-BD59-A6C34878D82A}">
                    <a16:rowId xmlns:a16="http://schemas.microsoft.com/office/drawing/2014/main" val="10002"/>
                  </a:ext>
                </a:extLst>
              </a:tr>
              <a:tr h="329184">
                <a:tc>
                  <a:txBody>
                    <a:bodyPr/>
                    <a:lstStyle/>
                    <a:p>
                      <a:r>
                        <a:rPr sz="1100" b="0">
                          <a:solidFill>
                            <a:srgbClr val="0E2A47"/>
                          </a:solidFill>
                          <a:latin typeface="Calibri"/>
                        </a:rPr>
                        <a:t>After model build (3,009 params)</a:t>
                      </a:r>
                    </a:p>
                  </a:txBody>
                  <a:tcPr marL="73152" marR="54864" marT="18288" marB="18288" anchor="ctr">
                    <a:solidFill>
                      <a:srgbClr val="FFFFFF"/>
                    </a:solidFill>
                  </a:tcPr>
                </a:tc>
                <a:tc>
                  <a:txBody>
                    <a:bodyPr/>
                    <a:lstStyle/>
                    <a:p>
                      <a:r>
                        <a:rPr sz="1100" b="0">
                          <a:solidFill>
                            <a:srgbClr val="0E2A47"/>
                          </a:solidFill>
                          <a:latin typeface="Calibri"/>
                        </a:rPr>
                        <a:t>391.9</a:t>
                      </a:r>
                    </a:p>
                  </a:txBody>
                  <a:tcPr marL="73152" marR="54864" marT="18288" marB="18288" anchor="ctr">
                    <a:solidFill>
                      <a:srgbClr val="FFFFFF"/>
                    </a:solidFill>
                  </a:tcPr>
                </a:tc>
                <a:tc>
                  <a:txBody>
                    <a:bodyPr/>
                    <a:lstStyle/>
                    <a:p>
                      <a:r>
                        <a:rPr sz="1100" b="0">
                          <a:solidFill>
                            <a:srgbClr val="0E2A47"/>
                          </a:solidFill>
                          <a:latin typeface="Calibri"/>
                        </a:rPr>
                        <a:t>+45.5</a:t>
                      </a:r>
                    </a:p>
                  </a:txBody>
                  <a:tcPr marL="73152" marR="54864" marT="18288" marB="18288" anchor="ctr">
                    <a:solidFill>
                      <a:srgbClr val="FFFFFF"/>
                    </a:solidFill>
                  </a:tcPr>
                </a:tc>
                <a:extLst>
                  <a:ext uri="{0D108BD9-81ED-4DB2-BD59-A6C34878D82A}">
                    <a16:rowId xmlns:a16="http://schemas.microsoft.com/office/drawing/2014/main" val="10003"/>
                  </a:ext>
                </a:extLst>
              </a:tr>
              <a:tr h="329184">
                <a:tc>
                  <a:txBody>
                    <a:bodyPr/>
                    <a:lstStyle/>
                    <a:p>
                      <a:r>
                        <a:rPr sz="1100" b="0">
                          <a:solidFill>
                            <a:srgbClr val="0E2A47"/>
                          </a:solidFill>
                          <a:latin typeface="Calibri"/>
                        </a:rPr>
                        <a:t>Batch 1</a:t>
                      </a:r>
                    </a:p>
                  </a:txBody>
                  <a:tcPr marL="73152" marR="54864" marT="18288" marB="18288" anchor="ctr">
                    <a:solidFill>
                      <a:srgbClr val="F2F4F7"/>
                    </a:solidFill>
                  </a:tcPr>
                </a:tc>
                <a:tc>
                  <a:txBody>
                    <a:bodyPr/>
                    <a:lstStyle/>
                    <a:p>
                      <a:r>
                        <a:rPr sz="1100" b="0">
                          <a:solidFill>
                            <a:srgbClr val="0E2A47"/>
                          </a:solidFill>
                          <a:latin typeface="Calibri"/>
                        </a:rPr>
                        <a:t>417.2</a:t>
                      </a:r>
                    </a:p>
                  </a:txBody>
                  <a:tcPr marL="73152" marR="54864" marT="18288" marB="18288" anchor="ctr">
                    <a:solidFill>
                      <a:srgbClr val="F2F4F7"/>
                    </a:solidFill>
                  </a:tcPr>
                </a:tc>
                <a:tc>
                  <a:txBody>
                    <a:bodyPr/>
                    <a:lstStyle/>
                    <a:p>
                      <a:r>
                        <a:rPr sz="1100" b="0">
                          <a:solidFill>
                            <a:srgbClr val="0E2A47"/>
                          </a:solidFill>
                          <a:latin typeface="Calibri"/>
                        </a:rPr>
                        <a:t>+70.9</a:t>
                      </a:r>
                    </a:p>
                  </a:txBody>
                  <a:tcPr marL="73152" marR="54864" marT="18288" marB="18288" anchor="ctr">
                    <a:solidFill>
                      <a:srgbClr val="F2F4F7"/>
                    </a:solidFill>
                  </a:tcPr>
                </a:tc>
                <a:extLst>
                  <a:ext uri="{0D108BD9-81ED-4DB2-BD59-A6C34878D82A}">
                    <a16:rowId xmlns:a16="http://schemas.microsoft.com/office/drawing/2014/main" val="10004"/>
                  </a:ext>
                </a:extLst>
              </a:tr>
              <a:tr h="329184">
                <a:tc>
                  <a:txBody>
                    <a:bodyPr/>
                    <a:lstStyle/>
                    <a:p>
                      <a:r>
                        <a:rPr sz="1100" b="0">
                          <a:solidFill>
                            <a:srgbClr val="0E2A47"/>
                          </a:solidFill>
                          <a:latin typeface="Calibri"/>
                        </a:rPr>
                        <a:t>Batch 500</a:t>
                      </a:r>
                    </a:p>
                  </a:txBody>
                  <a:tcPr marL="73152" marR="54864" marT="18288" marB="18288" anchor="ctr">
                    <a:solidFill>
                      <a:srgbClr val="FFFFFF"/>
                    </a:solidFill>
                  </a:tcPr>
                </a:tc>
                <a:tc>
                  <a:txBody>
                    <a:bodyPr/>
                    <a:lstStyle/>
                    <a:p>
                      <a:r>
                        <a:rPr sz="1100" b="0">
                          <a:solidFill>
                            <a:srgbClr val="0E2A47"/>
                          </a:solidFill>
                          <a:latin typeface="Calibri"/>
                        </a:rPr>
                        <a:t>419.4</a:t>
                      </a:r>
                    </a:p>
                  </a:txBody>
                  <a:tcPr marL="73152" marR="54864" marT="18288" marB="18288" anchor="ctr">
                    <a:solidFill>
                      <a:srgbClr val="FFFFFF"/>
                    </a:solidFill>
                  </a:tcPr>
                </a:tc>
                <a:tc>
                  <a:txBody>
                    <a:bodyPr/>
                    <a:lstStyle/>
                    <a:p>
                      <a:r>
                        <a:rPr sz="1100" b="0">
                          <a:solidFill>
                            <a:srgbClr val="0E2A47"/>
                          </a:solidFill>
                          <a:latin typeface="Calibri"/>
                        </a:rPr>
                        <a:t>+73.0</a:t>
                      </a:r>
                    </a:p>
                  </a:txBody>
                  <a:tcPr marL="73152" marR="54864" marT="18288" marB="18288" anchor="ctr">
                    <a:solidFill>
                      <a:srgbClr val="FFFFFF"/>
                    </a:solidFill>
                  </a:tcPr>
                </a:tc>
                <a:extLst>
                  <a:ext uri="{0D108BD9-81ED-4DB2-BD59-A6C34878D82A}">
                    <a16:rowId xmlns:a16="http://schemas.microsoft.com/office/drawing/2014/main" val="10005"/>
                  </a:ext>
                </a:extLst>
              </a:tr>
              <a:tr h="329184">
                <a:tc>
                  <a:txBody>
                    <a:bodyPr/>
                    <a:lstStyle/>
                    <a:p>
                      <a:r>
                        <a:rPr sz="1100" b="0">
                          <a:solidFill>
                            <a:srgbClr val="0E2A47"/>
                          </a:solidFill>
                          <a:latin typeface="Calibri"/>
                        </a:rPr>
                        <a:t>Batch 12,500 (final)</a:t>
                      </a:r>
                    </a:p>
                  </a:txBody>
                  <a:tcPr marL="73152" marR="54864" marT="18288" marB="18288" anchor="ctr">
                    <a:solidFill>
                      <a:srgbClr val="F2F4F7"/>
                    </a:solidFill>
                  </a:tcPr>
                </a:tc>
                <a:tc>
                  <a:txBody>
                    <a:bodyPr/>
                    <a:lstStyle/>
                    <a:p>
                      <a:r>
                        <a:rPr sz="1100" b="0">
                          <a:solidFill>
                            <a:srgbClr val="0E2A47"/>
                          </a:solidFill>
                          <a:latin typeface="Calibri"/>
                        </a:rPr>
                        <a:t>423.7</a:t>
                      </a:r>
                    </a:p>
                  </a:txBody>
                  <a:tcPr marL="73152" marR="54864" marT="18288" marB="18288" anchor="ctr">
                    <a:solidFill>
                      <a:srgbClr val="F2F4F7"/>
                    </a:solidFill>
                  </a:tcPr>
                </a:tc>
                <a:tc>
                  <a:txBody>
                    <a:bodyPr/>
                    <a:lstStyle/>
                    <a:p>
                      <a:r>
                        <a:rPr sz="1100" b="0">
                          <a:solidFill>
                            <a:srgbClr val="0E2A47"/>
                          </a:solidFill>
                          <a:latin typeface="Calibri"/>
                        </a:rPr>
                        <a:t>+77.4</a:t>
                      </a:r>
                    </a:p>
                  </a:txBody>
                  <a:tcPr marL="73152" marR="54864" marT="18288" marB="18288" anchor="ctr">
                    <a:solidFill>
                      <a:srgbClr val="F2F4F7"/>
                    </a:solidFill>
                  </a:tcPr>
                </a:tc>
                <a:extLst>
                  <a:ext uri="{0D108BD9-81ED-4DB2-BD59-A6C34878D82A}">
                    <a16:rowId xmlns:a16="http://schemas.microsoft.com/office/drawing/2014/main" val="10006"/>
                  </a:ext>
                </a:extLst>
              </a:tr>
              <a:tr h="329184">
                <a:tc>
                  <a:txBody>
                    <a:bodyPr/>
                    <a:lstStyle/>
                    <a:p>
                      <a:r>
                        <a:rPr sz="1100" b="0">
                          <a:solidFill>
                            <a:srgbClr val="0E2A47"/>
                          </a:solidFill>
                          <a:latin typeface="Calibri"/>
                        </a:rPr>
                        <a:t>After final evaluation</a:t>
                      </a:r>
                    </a:p>
                  </a:txBody>
                  <a:tcPr marL="73152" marR="54864" marT="18288" marB="18288" anchor="ctr">
                    <a:solidFill>
                      <a:srgbClr val="FFFFFF"/>
                    </a:solidFill>
                  </a:tcPr>
                </a:tc>
                <a:tc>
                  <a:txBody>
                    <a:bodyPr/>
                    <a:lstStyle/>
                    <a:p>
                      <a:r>
                        <a:rPr sz="1100" b="0">
                          <a:solidFill>
                            <a:srgbClr val="0E2A47"/>
                          </a:solidFill>
                          <a:latin typeface="Calibri"/>
                        </a:rPr>
                        <a:t>553.4</a:t>
                      </a:r>
                    </a:p>
                  </a:txBody>
                  <a:tcPr marL="73152" marR="54864" marT="18288" marB="18288" anchor="ctr">
                    <a:solidFill>
                      <a:srgbClr val="FFFFFF"/>
                    </a:solidFill>
                  </a:tcPr>
                </a:tc>
                <a:tc>
                  <a:txBody>
                    <a:bodyPr/>
                    <a:lstStyle/>
                    <a:p>
                      <a:r>
                        <a:rPr sz="1100" b="0">
                          <a:solidFill>
                            <a:srgbClr val="0E2A47"/>
                          </a:solidFill>
                          <a:latin typeface="Calibri"/>
                        </a:rPr>
                        <a:t>+207.0</a:t>
                      </a:r>
                    </a:p>
                  </a:txBody>
                  <a:tcPr marL="73152" marR="54864" marT="18288" marB="18288" anchor="ctr">
                    <a:solidFill>
                      <a:srgbClr val="FFFFFF"/>
                    </a:solidFill>
                  </a:tcPr>
                </a:tc>
                <a:extLst>
                  <a:ext uri="{0D108BD9-81ED-4DB2-BD59-A6C34878D82A}">
                    <a16:rowId xmlns:a16="http://schemas.microsoft.com/office/drawing/2014/main" val="10007"/>
                  </a:ext>
                </a:extLst>
              </a:tr>
            </a:tbl>
          </a:graphicData>
        </a:graphic>
      </p:graphicFrame>
      <p:sp>
        <p:nvSpPr>
          <p:cNvPr id="27" name="Rounded Rectangle 26"/>
          <p:cNvSpPr/>
          <p:nvPr/>
        </p:nvSpPr>
        <p:spPr>
          <a:xfrm>
            <a:off x="7543800" y="2743200"/>
            <a:ext cx="4069080" cy="2304288"/>
          </a:xfrm>
          <a:prstGeom prst="roundRect">
            <a:avLst/>
          </a:prstGeom>
          <a:solidFill>
            <a:srgbClr val="E8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7772400" y="2880360"/>
            <a:ext cx="3657600" cy="274320"/>
          </a:xfrm>
          <a:prstGeom prst="rect">
            <a:avLst/>
          </a:prstGeom>
          <a:noFill/>
        </p:spPr>
        <p:txBody>
          <a:bodyPr wrap="square" lIns="27432" tIns="0" rIns="27432" bIns="0">
            <a:spAutoFit/>
          </a:bodyPr>
          <a:lstStyle/>
          <a:p>
            <a:pPr algn="l">
              <a:spcAft>
                <a:spcPts val="600"/>
              </a:spcAft>
            </a:pPr>
            <a:r>
              <a:rPr sz="1150" b="1">
                <a:solidFill>
                  <a:srgbClr val="1E7A3C"/>
                </a:solidFill>
                <a:latin typeface="Calibri"/>
              </a:rPr>
              <a:t>THE HEADLINE</a:t>
            </a:r>
          </a:p>
        </p:txBody>
      </p:sp>
      <p:sp>
        <p:nvSpPr>
          <p:cNvPr id="29" name="TextBox 28"/>
          <p:cNvSpPr txBox="1"/>
          <p:nvPr/>
        </p:nvSpPr>
        <p:spPr>
          <a:xfrm>
            <a:off x="7772400" y="3200400"/>
            <a:ext cx="3657600" cy="1783080"/>
          </a:xfrm>
          <a:prstGeom prst="rect">
            <a:avLst/>
          </a:prstGeom>
          <a:noFill/>
        </p:spPr>
        <p:txBody>
          <a:bodyPr wrap="square" lIns="27432" tIns="0" rIns="27432" bIns="0">
            <a:spAutoFit/>
          </a:bodyPr>
          <a:lstStyle/>
          <a:p>
            <a:pPr algn="l">
              <a:spcAft>
                <a:spcPts val="400"/>
              </a:spcAft>
            </a:pPr>
            <a:r>
              <a:rPr sz="1150" b="0">
                <a:solidFill>
                  <a:srgbClr val="0E2A47"/>
                </a:solidFill>
                <a:latin typeface="Calibri"/>
              </a:rPr>
              <a:t>RAM is flat across training. From batch 1 to batch 12,500 the process grew by 6.5 MB — about 0.5 KB per update, which is allocator noise, not accumulation.</a:t>
            </a:r>
          </a:p>
          <a:p>
            <a:pPr algn="l">
              <a:spcAft>
                <a:spcPts val="400"/>
              </a:spcAft>
            </a:pPr>
            <a:endParaRPr sz="1150" b="0">
              <a:solidFill>
                <a:srgbClr val="0E2A47"/>
              </a:solidFill>
              <a:latin typeface="Calibri"/>
            </a:endParaRPr>
          </a:p>
          <a:p>
            <a:pPr algn="l">
              <a:spcAft>
                <a:spcPts val="400"/>
              </a:spcAft>
            </a:pPr>
            <a:r>
              <a:rPr sz="1150" b="0">
                <a:solidFill>
                  <a:srgbClr val="0E2A47"/>
                </a:solidFill>
                <a:latin typeface="Calibri"/>
              </a:rPr>
              <a:t>No memory leak: nothing is retained per batch. Each 32-row slice (1.5 KB) is used and discarded.</a:t>
            </a:r>
          </a:p>
        </p:txBody>
      </p:sp>
      <p:sp>
        <p:nvSpPr>
          <p:cNvPr id="30" name="TextBox 29"/>
          <p:cNvSpPr txBox="1"/>
          <p:nvPr/>
        </p:nvSpPr>
        <p:spPr>
          <a:xfrm>
            <a:off x="548640" y="5212080"/>
            <a:ext cx="11064240" cy="1234440"/>
          </a:xfrm>
          <a:prstGeom prst="rect">
            <a:avLst/>
          </a:prstGeom>
          <a:noFill/>
        </p:spPr>
        <p:txBody>
          <a:bodyPr wrap="square" lIns="27432" tIns="0" rIns="27432" bIns="0">
            <a:spAutoFit/>
          </a:bodyPr>
          <a:lstStyle/>
          <a:p>
            <a:pPr algn="l">
              <a:spcAft>
                <a:spcPts val="300"/>
              </a:spcAft>
            </a:pPr>
            <a:r>
              <a:rPr sz="1150" b="0">
                <a:solidFill>
                  <a:srgbClr val="0E2A47"/>
                </a:solidFill>
                <a:latin typeface="Calibri"/>
              </a:rPr>
              <a:t>Two points of honesty about these numbers:</a:t>
            </a:r>
          </a:p>
          <a:p>
            <a:pPr algn="l">
              <a:spcAft>
                <a:spcPts val="300"/>
              </a:spcAft>
            </a:pPr>
            <a:r>
              <a:rPr sz="1150" b="0">
                <a:solidFill>
                  <a:srgbClr val="0E2A47"/>
                </a:solidFill>
                <a:latin typeface="Calibri"/>
              </a:rPr>
              <a:t>·  The jump to 553.4 MB happens AFTER training, in the evaluation step — model.predict() is called on all 400,000 training rows at once, which materialises a large prediction array. That is a batch operation we chose for convenience; it is not part of incremental learning, and it could be chunked too.</a:t>
            </a:r>
          </a:p>
          <a:p>
            <a:pPr algn="l">
              <a:spcAft>
                <a:spcPts val="300"/>
              </a:spcAft>
            </a:pPr>
            <a:r>
              <a:rPr sz="1150" b="0">
                <a:solidFill>
                  <a:srgbClr val="0E2A47"/>
                </a:solidFill>
                <a:latin typeface="Calibri"/>
              </a:rPr>
              <a:t>·  The 37.4 MB for data loading is the cost we did not have to pay. With pd.read_csv(chunksize=32) that term would be ~0 and total footprint would be independent of file size — the actual goal of the exercise.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9692640" cy="548640"/>
          </a:xfrm>
          <a:prstGeom prst="rect">
            <a:avLst/>
          </a:prstGeom>
          <a:noFill/>
        </p:spPr>
        <p:txBody>
          <a:bodyPr wrap="square" lIns="27432" tIns="0" rIns="27432" bIns="0">
            <a:spAutoFit/>
          </a:bodyPr>
          <a:lstStyle/>
          <a:p>
            <a:pPr algn="l">
              <a:spcAft>
                <a:spcPts val="600"/>
              </a:spcAft>
            </a:pPr>
            <a:r>
              <a:rPr sz="2700" b="1">
                <a:solidFill>
                  <a:srgbClr val="0E2A47"/>
                </a:solidFill>
                <a:latin typeface="Calibri"/>
              </a:rPr>
              <a:t>Training time</a:t>
            </a:r>
          </a:p>
        </p:txBody>
      </p:sp>
      <p:sp>
        <p:nvSpPr>
          <p:cNvPr id="4" name="TextBox 3"/>
          <p:cNvSpPr txBox="1"/>
          <p:nvPr/>
        </p:nvSpPr>
        <p:spPr>
          <a:xfrm>
            <a:off x="530352" y="841248"/>
            <a:ext cx="10241280" cy="365760"/>
          </a:xfrm>
          <a:prstGeom prst="rect">
            <a:avLst/>
          </a:prstGeom>
          <a:noFill/>
        </p:spPr>
        <p:txBody>
          <a:bodyPr wrap="square" lIns="27432" tIns="0" rIns="27432" bIns="0">
            <a:spAutoFit/>
          </a:bodyPr>
          <a:lstStyle/>
          <a:p>
            <a:pPr algn="l">
              <a:spcAft>
                <a:spcPts val="600"/>
              </a:spcAft>
            </a:pPr>
            <a:r>
              <a:rPr sz="1300" b="0">
                <a:solidFill>
                  <a:srgbClr val="5A636B"/>
                </a:solidFill>
                <a:latin typeface="Calibri"/>
              </a:rPr>
              <a:t>Wall-clock cost of the incremental loop</a:t>
            </a:r>
          </a:p>
        </p:txBody>
      </p:sp>
      <p:sp>
        <p:nvSpPr>
          <p:cNvPr id="5" name="Rounded Rectangle 4"/>
          <p:cNvSpPr/>
          <p:nvPr/>
        </p:nvSpPr>
        <p:spPr>
          <a:xfrm>
            <a:off x="10378440" y="301752"/>
            <a:ext cx="1371600" cy="329184"/>
          </a:xfrm>
          <a:prstGeom prst="round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50" b="1">
                <a:solidFill>
                  <a:srgbClr val="FFFFFF"/>
                </a:solidFill>
              </a:rPr>
              <a:t>REQUIRED</a:t>
            </a:r>
          </a:p>
        </p:txBody>
      </p:sp>
      <p:sp>
        <p:nvSpPr>
          <p:cNvPr id="6" name="Rounded Rectangle 5"/>
          <p:cNvSpPr/>
          <p:nvPr/>
        </p:nvSpPr>
        <p:spPr>
          <a:xfrm>
            <a:off x="548640" y="1417320"/>
            <a:ext cx="2651760" cy="11430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548640" y="1417320"/>
            <a:ext cx="64008" cy="1143000"/>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545336"/>
            <a:ext cx="233172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TOTAL TRAINING</a:t>
            </a:r>
          </a:p>
        </p:txBody>
      </p:sp>
      <p:sp>
        <p:nvSpPr>
          <p:cNvPr id="9" name="TextBox 8"/>
          <p:cNvSpPr txBox="1"/>
          <p:nvPr/>
        </p:nvSpPr>
        <p:spPr>
          <a:xfrm>
            <a:off x="749808" y="1819656"/>
            <a:ext cx="2331720" cy="457200"/>
          </a:xfrm>
          <a:prstGeom prst="rect">
            <a:avLst/>
          </a:prstGeom>
          <a:noFill/>
        </p:spPr>
        <p:txBody>
          <a:bodyPr wrap="square" lIns="27432" tIns="0" rIns="27432" bIns="0">
            <a:spAutoFit/>
          </a:bodyPr>
          <a:lstStyle/>
          <a:p>
            <a:pPr algn="l">
              <a:spcAft>
                <a:spcPts val="600"/>
              </a:spcAft>
            </a:pPr>
            <a:r>
              <a:rPr sz="2500" b="1">
                <a:solidFill>
                  <a:srgbClr val="1F6FB4"/>
                </a:solidFill>
                <a:latin typeface="Calibri"/>
              </a:rPr>
              <a:t>44.96 s</a:t>
            </a:r>
          </a:p>
        </p:txBody>
      </p:sp>
      <p:sp>
        <p:nvSpPr>
          <p:cNvPr id="10" name="TextBox 9"/>
          <p:cNvSpPr txBox="1"/>
          <p:nvPr/>
        </p:nvSpPr>
        <p:spPr>
          <a:xfrm>
            <a:off x="749808" y="2139696"/>
            <a:ext cx="233172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12,500 sequential updates</a:t>
            </a:r>
          </a:p>
        </p:txBody>
      </p:sp>
      <p:sp>
        <p:nvSpPr>
          <p:cNvPr id="11" name="Rounded Rectangle 10"/>
          <p:cNvSpPr/>
          <p:nvPr/>
        </p:nvSpPr>
        <p:spPr>
          <a:xfrm>
            <a:off x="3337560" y="1417320"/>
            <a:ext cx="2651760" cy="11430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3337560" y="1417320"/>
            <a:ext cx="64008" cy="1143000"/>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38728" y="1545336"/>
            <a:ext cx="233172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PER MINI-BATCH</a:t>
            </a:r>
          </a:p>
        </p:txBody>
      </p:sp>
      <p:sp>
        <p:nvSpPr>
          <p:cNvPr id="14" name="TextBox 13"/>
          <p:cNvSpPr txBox="1"/>
          <p:nvPr/>
        </p:nvSpPr>
        <p:spPr>
          <a:xfrm>
            <a:off x="3538728" y="1819656"/>
            <a:ext cx="2331720" cy="457200"/>
          </a:xfrm>
          <a:prstGeom prst="rect">
            <a:avLst/>
          </a:prstGeom>
          <a:noFill/>
        </p:spPr>
        <p:txBody>
          <a:bodyPr wrap="square" lIns="27432" tIns="0" rIns="27432" bIns="0">
            <a:spAutoFit/>
          </a:bodyPr>
          <a:lstStyle/>
          <a:p>
            <a:pPr algn="l">
              <a:spcAft>
                <a:spcPts val="600"/>
              </a:spcAft>
            </a:pPr>
            <a:r>
              <a:rPr sz="2500" b="1">
                <a:solidFill>
                  <a:srgbClr val="1F6FB4"/>
                </a:solidFill>
                <a:latin typeface="Calibri"/>
              </a:rPr>
              <a:t>3.60 ms</a:t>
            </a:r>
          </a:p>
        </p:txBody>
      </p:sp>
      <p:sp>
        <p:nvSpPr>
          <p:cNvPr id="15" name="TextBox 14"/>
          <p:cNvSpPr txBox="1"/>
          <p:nvPr/>
        </p:nvSpPr>
        <p:spPr>
          <a:xfrm>
            <a:off x="3538728" y="2139696"/>
            <a:ext cx="233172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forward + backward + update</a:t>
            </a:r>
          </a:p>
        </p:txBody>
      </p:sp>
      <p:sp>
        <p:nvSpPr>
          <p:cNvPr id="16" name="Rounded Rectangle 15"/>
          <p:cNvSpPr/>
          <p:nvPr/>
        </p:nvSpPr>
        <p:spPr>
          <a:xfrm>
            <a:off x="6126480" y="1417320"/>
            <a:ext cx="2651760" cy="11430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6126480" y="1417320"/>
            <a:ext cx="64008" cy="1143000"/>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27648" y="1545336"/>
            <a:ext cx="233172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PER RECORD</a:t>
            </a:r>
          </a:p>
        </p:txBody>
      </p:sp>
      <p:sp>
        <p:nvSpPr>
          <p:cNvPr id="19" name="TextBox 18"/>
          <p:cNvSpPr txBox="1"/>
          <p:nvPr/>
        </p:nvSpPr>
        <p:spPr>
          <a:xfrm>
            <a:off x="6327648" y="1819656"/>
            <a:ext cx="2331720" cy="457200"/>
          </a:xfrm>
          <a:prstGeom prst="rect">
            <a:avLst/>
          </a:prstGeom>
          <a:noFill/>
        </p:spPr>
        <p:txBody>
          <a:bodyPr wrap="square" lIns="27432" tIns="0" rIns="27432" bIns="0">
            <a:spAutoFit/>
          </a:bodyPr>
          <a:lstStyle/>
          <a:p>
            <a:pPr algn="l">
              <a:spcAft>
                <a:spcPts val="600"/>
              </a:spcAft>
            </a:pPr>
            <a:r>
              <a:rPr sz="2500" b="1">
                <a:solidFill>
                  <a:srgbClr val="1F6FB4"/>
                </a:solidFill>
                <a:latin typeface="Calibri"/>
              </a:rPr>
              <a:t>112 µs</a:t>
            </a:r>
          </a:p>
        </p:txBody>
      </p:sp>
      <p:sp>
        <p:nvSpPr>
          <p:cNvPr id="20" name="TextBox 19"/>
          <p:cNvSpPr txBox="1"/>
          <p:nvPr/>
        </p:nvSpPr>
        <p:spPr>
          <a:xfrm>
            <a:off x="6327648" y="2139696"/>
            <a:ext cx="233172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amortised</a:t>
            </a:r>
          </a:p>
        </p:txBody>
      </p:sp>
      <p:sp>
        <p:nvSpPr>
          <p:cNvPr id="21" name="Rounded Rectangle 20"/>
          <p:cNvSpPr/>
          <p:nvPr/>
        </p:nvSpPr>
        <p:spPr>
          <a:xfrm>
            <a:off x="8915400" y="1417320"/>
            <a:ext cx="2697480" cy="114300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8915400" y="1417320"/>
            <a:ext cx="64008" cy="1143000"/>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16568" y="1545336"/>
            <a:ext cx="237744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THROUGHPUT</a:t>
            </a:r>
          </a:p>
        </p:txBody>
      </p:sp>
      <p:sp>
        <p:nvSpPr>
          <p:cNvPr id="24" name="TextBox 23"/>
          <p:cNvSpPr txBox="1"/>
          <p:nvPr/>
        </p:nvSpPr>
        <p:spPr>
          <a:xfrm>
            <a:off x="9116568" y="1819656"/>
            <a:ext cx="2377440" cy="457200"/>
          </a:xfrm>
          <a:prstGeom prst="rect">
            <a:avLst/>
          </a:prstGeom>
          <a:noFill/>
        </p:spPr>
        <p:txBody>
          <a:bodyPr wrap="square" lIns="27432" tIns="0" rIns="27432" bIns="0">
            <a:spAutoFit/>
          </a:bodyPr>
          <a:lstStyle/>
          <a:p>
            <a:pPr algn="l">
              <a:spcAft>
                <a:spcPts val="600"/>
              </a:spcAft>
            </a:pPr>
            <a:r>
              <a:rPr sz="2500" b="1">
                <a:solidFill>
                  <a:srgbClr val="1F6FB4"/>
                </a:solidFill>
                <a:latin typeface="Calibri"/>
              </a:rPr>
              <a:t>8,897 rec/s</a:t>
            </a:r>
          </a:p>
        </p:txBody>
      </p:sp>
      <p:sp>
        <p:nvSpPr>
          <p:cNvPr id="25" name="TextBox 24"/>
          <p:cNvSpPr txBox="1"/>
          <p:nvPr/>
        </p:nvSpPr>
        <p:spPr>
          <a:xfrm>
            <a:off x="9116568" y="2139696"/>
            <a:ext cx="2377440" cy="365760"/>
          </a:xfrm>
          <a:prstGeom prst="rect">
            <a:avLst/>
          </a:prstGeom>
          <a:noFill/>
        </p:spPr>
        <p:txBody>
          <a:bodyPr wrap="square" lIns="27432" tIns="0" rIns="27432" bIns="0">
            <a:spAutoFit/>
          </a:bodyPr>
          <a:lstStyle/>
          <a:p>
            <a:pPr algn="l">
              <a:spcAft>
                <a:spcPts val="600"/>
              </a:spcAft>
            </a:pPr>
            <a:r>
              <a:rPr sz="1050" b="0">
                <a:solidFill>
                  <a:srgbClr val="5A636B"/>
                </a:solidFill>
                <a:latin typeface="Calibri"/>
              </a:rPr>
              <a:t>single pass, no GPU</a:t>
            </a:r>
          </a:p>
        </p:txBody>
      </p:sp>
      <p:graphicFrame>
        <p:nvGraphicFramePr>
          <p:cNvPr id="26" name="Table 25"/>
          <p:cNvGraphicFramePr>
            <a:graphicFrameLocks noGrp="1"/>
          </p:cNvGraphicFramePr>
          <p:nvPr/>
        </p:nvGraphicFramePr>
        <p:xfrm>
          <a:off x="548640" y="2834640"/>
          <a:ext cx="6766560" cy="173736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347472">
                <a:tc>
                  <a:txBody>
                    <a:bodyPr/>
                    <a:lstStyle/>
                    <a:p>
                      <a:r>
                        <a:rPr sz="1150" b="1">
                          <a:solidFill>
                            <a:srgbClr val="FFFFFF"/>
                          </a:solidFill>
                          <a:latin typeface="Calibri"/>
                        </a:rPr>
                        <a:t>Phase</a:t>
                      </a:r>
                    </a:p>
                  </a:txBody>
                  <a:tcPr marL="73152" marR="54864" marT="18288" marB="18288" anchor="ctr">
                    <a:solidFill>
                      <a:srgbClr val="0E2A47"/>
                    </a:solidFill>
                  </a:tcPr>
                </a:tc>
                <a:tc>
                  <a:txBody>
                    <a:bodyPr/>
                    <a:lstStyle/>
                    <a:p>
                      <a:r>
                        <a:rPr sz="1150" b="1">
                          <a:solidFill>
                            <a:srgbClr val="FFFFFF"/>
                          </a:solidFill>
                          <a:latin typeface="Calibri"/>
                        </a:rPr>
                        <a:t>Time</a:t>
                      </a:r>
                    </a:p>
                  </a:txBody>
                  <a:tcPr marL="73152" marR="54864" marT="18288" marB="18288" anchor="ctr">
                    <a:solidFill>
                      <a:srgbClr val="0E2A47"/>
                    </a:solidFill>
                  </a:tcPr>
                </a:tc>
                <a:tc>
                  <a:txBody>
                    <a:bodyPr/>
                    <a:lstStyle/>
                    <a:p>
                      <a:r>
                        <a:rPr sz="1150" b="1">
                          <a:solidFill>
                            <a:srgbClr val="FFFFFF"/>
                          </a:solidFill>
                          <a:latin typeface="Calibri"/>
                        </a:rPr>
                        <a:t>Note</a:t>
                      </a:r>
                    </a:p>
                  </a:txBody>
                  <a:tcPr marL="73152" marR="54864" marT="18288" marB="18288" anchor="ctr">
                    <a:solidFill>
                      <a:srgbClr val="0E2A47"/>
                    </a:solidFill>
                  </a:tcPr>
                </a:tc>
                <a:extLst>
                  <a:ext uri="{0D108BD9-81ED-4DB2-BD59-A6C34878D82A}">
                    <a16:rowId xmlns:a16="http://schemas.microsoft.com/office/drawing/2014/main" val="10000"/>
                  </a:ext>
                </a:extLst>
              </a:tr>
              <a:tr h="347472">
                <a:tc>
                  <a:txBody>
                    <a:bodyPr/>
                    <a:lstStyle/>
                    <a:p>
                      <a:r>
                        <a:rPr sz="1100" b="0">
                          <a:solidFill>
                            <a:srgbClr val="0E2A47"/>
                          </a:solidFill>
                          <a:latin typeface="Calibri"/>
                        </a:rPr>
                        <a:t>Load CSV, split, scale</a:t>
                      </a:r>
                    </a:p>
                  </a:txBody>
                  <a:tcPr marL="73152" marR="54864" marT="18288" marB="18288" anchor="ctr">
                    <a:solidFill>
                      <a:srgbClr val="FFFFFF"/>
                    </a:solidFill>
                  </a:tcPr>
                </a:tc>
                <a:tc>
                  <a:txBody>
                    <a:bodyPr/>
                    <a:lstStyle/>
                    <a:p>
                      <a:r>
                        <a:rPr sz="1100" b="0">
                          <a:solidFill>
                            <a:srgbClr val="0E2A47"/>
                          </a:solidFill>
                          <a:latin typeface="Calibri"/>
                        </a:rPr>
                        <a:t>~2 s</a:t>
                      </a:r>
                    </a:p>
                  </a:txBody>
                  <a:tcPr marL="73152" marR="54864" marT="18288" marB="18288" anchor="ctr">
                    <a:solidFill>
                      <a:srgbClr val="FFFFFF"/>
                    </a:solidFill>
                  </a:tcPr>
                </a:tc>
                <a:tc>
                  <a:txBody>
                    <a:bodyPr/>
                    <a:lstStyle/>
                    <a:p>
                      <a:r>
                        <a:rPr sz="1100" b="0">
                          <a:solidFill>
                            <a:srgbClr val="0E2A47"/>
                          </a:solidFill>
                          <a:latin typeface="Calibri"/>
                        </a:rPr>
                        <a:t>One-off, before the loop</a:t>
                      </a:r>
                    </a:p>
                  </a:txBody>
                  <a:tcPr marL="73152" marR="54864" marT="18288" marB="18288" anchor="ctr">
                    <a:solidFill>
                      <a:srgbClr val="FFFFFF"/>
                    </a:solidFill>
                  </a:tcPr>
                </a:tc>
                <a:extLst>
                  <a:ext uri="{0D108BD9-81ED-4DB2-BD59-A6C34878D82A}">
                    <a16:rowId xmlns:a16="http://schemas.microsoft.com/office/drawing/2014/main" val="10001"/>
                  </a:ext>
                </a:extLst>
              </a:tr>
              <a:tr h="347472">
                <a:tc>
                  <a:txBody>
                    <a:bodyPr/>
                    <a:lstStyle/>
                    <a:p>
                      <a:r>
                        <a:rPr sz="1100" b="0">
                          <a:solidFill>
                            <a:srgbClr val="0E2A47"/>
                          </a:solidFill>
                          <a:latin typeface="Calibri"/>
                        </a:rPr>
                        <a:t>Incremental training (12,500 batches)</a:t>
                      </a:r>
                    </a:p>
                  </a:txBody>
                  <a:tcPr marL="73152" marR="54864" marT="18288" marB="18288" anchor="ctr">
                    <a:solidFill>
                      <a:srgbClr val="F2F4F7"/>
                    </a:solidFill>
                  </a:tcPr>
                </a:tc>
                <a:tc>
                  <a:txBody>
                    <a:bodyPr/>
                    <a:lstStyle/>
                    <a:p>
                      <a:r>
                        <a:rPr sz="1100" b="0">
                          <a:solidFill>
                            <a:srgbClr val="0E2A47"/>
                          </a:solidFill>
                          <a:latin typeface="Calibri"/>
                        </a:rPr>
                        <a:t>44.96 s</a:t>
                      </a:r>
                    </a:p>
                  </a:txBody>
                  <a:tcPr marL="73152" marR="54864" marT="18288" marB="18288" anchor="ctr">
                    <a:solidFill>
                      <a:srgbClr val="F2F4F7"/>
                    </a:solidFill>
                  </a:tcPr>
                </a:tc>
                <a:tc>
                  <a:txBody>
                    <a:bodyPr/>
                    <a:lstStyle/>
                    <a:p>
                      <a:r>
                        <a:rPr sz="1100" b="0">
                          <a:solidFill>
                            <a:srgbClr val="0E2A47"/>
                          </a:solidFill>
                          <a:latin typeface="Calibri"/>
                        </a:rPr>
                        <a:t>The measured figure</a:t>
                      </a:r>
                    </a:p>
                  </a:txBody>
                  <a:tcPr marL="73152" marR="54864" marT="18288" marB="18288" anchor="ctr">
                    <a:solidFill>
                      <a:srgbClr val="F2F4F7"/>
                    </a:solidFill>
                  </a:tcPr>
                </a:tc>
                <a:extLst>
                  <a:ext uri="{0D108BD9-81ED-4DB2-BD59-A6C34878D82A}">
                    <a16:rowId xmlns:a16="http://schemas.microsoft.com/office/drawing/2014/main" val="10002"/>
                  </a:ext>
                </a:extLst>
              </a:tr>
              <a:tr h="347472">
                <a:tc>
                  <a:txBody>
                    <a:bodyPr/>
                    <a:lstStyle/>
                    <a:p>
                      <a:r>
                        <a:rPr sz="1100" b="0">
                          <a:solidFill>
                            <a:srgbClr val="0E2A47"/>
                          </a:solidFill>
                          <a:latin typeface="Calibri"/>
                        </a:rPr>
                        <a:t>Final evaluation on 500,000 rows</a:t>
                      </a:r>
                    </a:p>
                  </a:txBody>
                  <a:tcPr marL="73152" marR="54864" marT="18288" marB="18288" anchor="ctr">
                    <a:solidFill>
                      <a:srgbClr val="FFFFFF"/>
                    </a:solidFill>
                  </a:tcPr>
                </a:tc>
                <a:tc>
                  <a:txBody>
                    <a:bodyPr/>
                    <a:lstStyle/>
                    <a:p>
                      <a:r>
                        <a:rPr sz="1100" b="0">
                          <a:solidFill>
                            <a:srgbClr val="0E2A47"/>
                          </a:solidFill>
                          <a:latin typeface="Calibri"/>
                        </a:rPr>
                        <a:t>~3 s</a:t>
                      </a:r>
                    </a:p>
                  </a:txBody>
                  <a:tcPr marL="73152" marR="54864" marT="18288" marB="18288" anchor="ctr">
                    <a:solidFill>
                      <a:srgbClr val="FFFFFF"/>
                    </a:solidFill>
                  </a:tcPr>
                </a:tc>
                <a:tc>
                  <a:txBody>
                    <a:bodyPr/>
                    <a:lstStyle/>
                    <a:p>
                      <a:r>
                        <a:rPr sz="1100" b="0">
                          <a:solidFill>
                            <a:srgbClr val="0E2A47"/>
                          </a:solidFill>
                          <a:latin typeface="Calibri"/>
                        </a:rPr>
                        <a:t>Two predict() calls</a:t>
                      </a:r>
                    </a:p>
                  </a:txBody>
                  <a:tcPr marL="73152" marR="54864" marT="18288" marB="18288" anchor="ctr">
                    <a:solidFill>
                      <a:srgbClr val="FFFFFF"/>
                    </a:solidFill>
                  </a:tcPr>
                </a:tc>
                <a:extLst>
                  <a:ext uri="{0D108BD9-81ED-4DB2-BD59-A6C34878D82A}">
                    <a16:rowId xmlns:a16="http://schemas.microsoft.com/office/drawing/2014/main" val="10003"/>
                  </a:ext>
                </a:extLst>
              </a:tr>
              <a:tr h="347472">
                <a:tc>
                  <a:txBody>
                    <a:bodyPr/>
                    <a:lstStyle/>
                    <a:p>
                      <a:r>
                        <a:rPr sz="1100" b="0">
                          <a:solidFill>
                            <a:srgbClr val="0E2A47"/>
                          </a:solidFill>
                          <a:latin typeface="Calibri"/>
                        </a:rPr>
                        <a:t>Total run</a:t>
                      </a:r>
                    </a:p>
                  </a:txBody>
                  <a:tcPr marL="73152" marR="54864" marT="18288" marB="18288" anchor="ctr">
                    <a:solidFill>
                      <a:srgbClr val="F2F4F7"/>
                    </a:solidFill>
                  </a:tcPr>
                </a:tc>
                <a:tc>
                  <a:txBody>
                    <a:bodyPr/>
                    <a:lstStyle/>
                    <a:p>
                      <a:r>
                        <a:rPr sz="1100" b="0">
                          <a:solidFill>
                            <a:srgbClr val="0E2A47"/>
                          </a:solidFill>
                          <a:latin typeface="Calibri"/>
                        </a:rPr>
                        <a:t>~50 s</a:t>
                      </a:r>
                    </a:p>
                  </a:txBody>
                  <a:tcPr marL="73152" marR="54864" marT="18288" marB="18288" anchor="ctr">
                    <a:solidFill>
                      <a:srgbClr val="F2F4F7"/>
                    </a:solidFill>
                  </a:tcPr>
                </a:tc>
                <a:tc>
                  <a:txBody>
                    <a:bodyPr/>
                    <a:lstStyle/>
                    <a:p>
                      <a:r>
                        <a:rPr sz="1100" b="0">
                          <a:solidFill>
                            <a:srgbClr val="0E2A47"/>
                          </a:solidFill>
                          <a:latin typeface="Calibri"/>
                        </a:rPr>
                        <a:t>End to end</a:t>
                      </a:r>
                    </a:p>
                  </a:txBody>
                  <a:tcPr marL="73152" marR="54864" marT="18288" marB="18288" anchor="ctr">
                    <a:solidFill>
                      <a:srgbClr val="F2F4F7"/>
                    </a:solidFill>
                  </a:tcPr>
                </a:tc>
                <a:extLst>
                  <a:ext uri="{0D108BD9-81ED-4DB2-BD59-A6C34878D82A}">
                    <a16:rowId xmlns:a16="http://schemas.microsoft.com/office/drawing/2014/main" val="10004"/>
                  </a:ext>
                </a:extLst>
              </a:tr>
            </a:tbl>
          </a:graphicData>
        </a:graphic>
      </p:graphicFrame>
      <p:sp>
        <p:nvSpPr>
          <p:cNvPr id="27" name="Rounded Rectangle 26"/>
          <p:cNvSpPr/>
          <p:nvPr/>
        </p:nvSpPr>
        <p:spPr>
          <a:xfrm>
            <a:off x="7543800" y="2834640"/>
            <a:ext cx="4069080" cy="173736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7772400" y="2971800"/>
            <a:ext cx="3657600" cy="274320"/>
          </a:xfrm>
          <a:prstGeom prst="rect">
            <a:avLst/>
          </a:prstGeom>
          <a:noFill/>
        </p:spPr>
        <p:txBody>
          <a:bodyPr wrap="square" lIns="27432" tIns="0" rIns="27432" bIns="0">
            <a:spAutoFit/>
          </a:bodyPr>
          <a:lstStyle/>
          <a:p>
            <a:pPr algn="l">
              <a:spcAft>
                <a:spcPts val="600"/>
              </a:spcAft>
            </a:pPr>
            <a:r>
              <a:rPr sz="1150" b="1">
                <a:solidFill>
                  <a:srgbClr val="5A636B"/>
                </a:solidFill>
                <a:latin typeface="Calibri"/>
              </a:rPr>
              <a:t>WHERE THE TIME GOES</a:t>
            </a:r>
          </a:p>
        </p:txBody>
      </p:sp>
      <p:sp>
        <p:nvSpPr>
          <p:cNvPr id="29" name="TextBox 28"/>
          <p:cNvSpPr txBox="1"/>
          <p:nvPr/>
        </p:nvSpPr>
        <p:spPr>
          <a:xfrm>
            <a:off x="7772400" y="3291840"/>
            <a:ext cx="3657600" cy="1188720"/>
          </a:xfrm>
          <a:prstGeom prst="rect">
            <a:avLst/>
          </a:prstGeom>
          <a:noFill/>
        </p:spPr>
        <p:txBody>
          <a:bodyPr wrap="square" lIns="27432" tIns="0" rIns="27432" bIns="0">
            <a:spAutoFit/>
          </a:bodyPr>
          <a:lstStyle/>
          <a:p>
            <a:pPr algn="l">
              <a:spcAft>
                <a:spcPts val="400"/>
              </a:spcAft>
            </a:pPr>
            <a:r>
              <a:rPr sz="1150" b="0">
                <a:solidFill>
                  <a:srgbClr val="0E2A47"/>
                </a:solidFill>
                <a:latin typeface="Calibri"/>
              </a:rPr>
              <a:t>3.60 ms per batch is dominated by Python-and-framework overhead per call, not by arithmetic — 3,009 parameters on 32 rows is a trivial amount of computation.</a:t>
            </a:r>
          </a:p>
        </p:txBody>
      </p:sp>
      <p:sp>
        <p:nvSpPr>
          <p:cNvPr id="30" name="TextBox 29"/>
          <p:cNvSpPr txBox="1"/>
          <p:nvPr/>
        </p:nvSpPr>
        <p:spPr>
          <a:xfrm>
            <a:off x="548640" y="4800600"/>
            <a:ext cx="11064240" cy="1600200"/>
          </a:xfrm>
          <a:prstGeom prst="rect">
            <a:avLst/>
          </a:prstGeom>
          <a:noFill/>
        </p:spPr>
        <p:txBody>
          <a:bodyPr wrap="square" lIns="27432" tIns="0" rIns="27432" bIns="0">
            <a:spAutoFit/>
          </a:bodyPr>
          <a:lstStyle/>
          <a:p>
            <a:pPr algn="l">
              <a:spcAft>
                <a:spcPts val="400"/>
              </a:spcAft>
            </a:pPr>
            <a:r>
              <a:rPr sz="1150" b="0">
                <a:solidFill>
                  <a:srgbClr val="0E2A47"/>
                </a:solidFill>
                <a:latin typeface="Calibri"/>
              </a:rPr>
              <a:t>What this implies for scaling:</a:t>
            </a:r>
          </a:p>
          <a:p>
            <a:pPr algn="l">
              <a:spcAft>
                <a:spcPts val="400"/>
              </a:spcAft>
            </a:pPr>
            <a:r>
              <a:rPr sz="1150" b="0">
                <a:solidFill>
                  <a:srgbClr val="0E2A47"/>
                </a:solidFill>
                <a:latin typeface="Calibri"/>
              </a:rPr>
              <a:t>·  Throughput of ~8,900 records/s means 10 million records would take roughly 19 minutes, and 100 million about 3 hours — on one pass, on a laptop, with flat memory.</a:t>
            </a:r>
          </a:p>
          <a:p>
            <a:pPr algn="l">
              <a:spcAft>
                <a:spcPts val="400"/>
              </a:spcAft>
            </a:pPr>
            <a:r>
              <a:rPr sz="1150" b="0">
                <a:solidFill>
                  <a:srgbClr val="0E2A47"/>
                </a:solidFill>
                <a:latin typeface="Calibri"/>
              </a:rPr>
              <a:t>·  Larger batches would be substantially faster, because the fixed ~3.6 ms per-call overhead would be spread over more rows. Batch 256 would cut wall time several-fold at the cost of noisier-to-smoother gradient trade-offs.</a:t>
            </a:r>
          </a:p>
          <a:p>
            <a:pPr algn="l">
              <a:spcAft>
                <a:spcPts val="400"/>
              </a:spcAft>
            </a:pPr>
            <a:r>
              <a:rPr sz="1150" b="0">
                <a:solidFill>
                  <a:srgbClr val="0E2A47"/>
                </a:solidFill>
                <a:latin typeface="Calibri"/>
              </a:rPr>
              <a:t>·  The binding constraint here is time-per-update, not memory. That is the practical price of incremental learning: you trade fast vectorised full-batch passes for constant memory.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9692640" cy="548640"/>
          </a:xfrm>
          <a:prstGeom prst="rect">
            <a:avLst/>
          </a:prstGeom>
          <a:noFill/>
        </p:spPr>
        <p:txBody>
          <a:bodyPr wrap="square" lIns="27432" tIns="0" rIns="27432" bIns="0">
            <a:spAutoFit/>
          </a:bodyPr>
          <a:lstStyle/>
          <a:p>
            <a:pPr algn="l">
              <a:spcAft>
                <a:spcPts val="600"/>
              </a:spcAft>
            </a:pPr>
            <a:r>
              <a:rPr sz="2700" b="1">
                <a:solidFill>
                  <a:srgbClr val="0E2A47"/>
                </a:solidFill>
                <a:latin typeface="Calibri"/>
              </a:rPr>
              <a:t>Decisions, limitations, and what we learned</a:t>
            </a:r>
          </a:p>
        </p:txBody>
      </p:sp>
      <p:sp>
        <p:nvSpPr>
          <p:cNvPr id="4" name="TextBox 3"/>
          <p:cNvSpPr txBox="1"/>
          <p:nvPr/>
        </p:nvSpPr>
        <p:spPr>
          <a:xfrm>
            <a:off x="530352" y="841248"/>
            <a:ext cx="10241280" cy="365760"/>
          </a:xfrm>
          <a:prstGeom prst="rect">
            <a:avLst/>
          </a:prstGeom>
          <a:noFill/>
        </p:spPr>
        <p:txBody>
          <a:bodyPr wrap="square" lIns="27432" tIns="0" rIns="27432" bIns="0">
            <a:spAutoFit/>
          </a:bodyPr>
          <a:lstStyle/>
          <a:p>
            <a:pPr algn="l">
              <a:spcAft>
                <a:spcPts val="600"/>
              </a:spcAft>
            </a:pPr>
            <a:r>
              <a:rPr sz="1300" b="0">
                <a:solidFill>
                  <a:srgbClr val="5A636B"/>
                </a:solidFill>
                <a:latin typeface="Calibri"/>
              </a:rPr>
              <a:t>What we would change with more time — and why</a:t>
            </a:r>
          </a:p>
        </p:txBody>
      </p:sp>
      <p:sp>
        <p:nvSpPr>
          <p:cNvPr id="5" name="TextBox 4"/>
          <p:cNvSpPr txBox="1"/>
          <p:nvPr/>
        </p:nvSpPr>
        <p:spPr>
          <a:xfrm>
            <a:off x="548640" y="1234440"/>
            <a:ext cx="11064240" cy="320040"/>
          </a:xfrm>
          <a:prstGeom prst="rect">
            <a:avLst/>
          </a:prstGeom>
          <a:noFill/>
        </p:spPr>
        <p:txBody>
          <a:bodyPr wrap="square" lIns="27432" tIns="0" rIns="27432" bIns="0">
            <a:spAutoFit/>
          </a:bodyPr>
          <a:lstStyle/>
          <a:p>
            <a:pPr algn="l">
              <a:spcAft>
                <a:spcPts val="600"/>
              </a:spcAft>
            </a:pPr>
            <a:r>
              <a:rPr sz="1200" b="1">
                <a:solidFill>
                  <a:srgbClr val="0E2A47"/>
                </a:solidFill>
                <a:latin typeface="Calibri"/>
              </a:rPr>
              <a:t>DECISIONS WE MADE AND WHY</a:t>
            </a:r>
          </a:p>
        </p:txBody>
      </p:sp>
      <p:graphicFrame>
        <p:nvGraphicFramePr>
          <p:cNvPr id="6" name="Table 5"/>
          <p:cNvGraphicFramePr>
            <a:graphicFrameLocks noGrp="1"/>
          </p:cNvGraphicFramePr>
          <p:nvPr/>
        </p:nvGraphicFramePr>
        <p:xfrm>
          <a:off x="548640" y="1572768"/>
          <a:ext cx="11064240" cy="219456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7406640">
                  <a:extLst>
                    <a:ext uri="{9D8B030D-6E8A-4147-A177-3AD203B41FA5}">
                      <a16:colId xmlns:a16="http://schemas.microsoft.com/office/drawing/2014/main" val="20001"/>
                    </a:ext>
                  </a:extLst>
                </a:gridCol>
              </a:tblGrid>
              <a:tr h="274320">
                <a:tc>
                  <a:txBody>
                    <a:bodyPr/>
                    <a:lstStyle/>
                    <a:p>
                      <a:r>
                        <a:rPr sz="1150" b="1">
                          <a:solidFill>
                            <a:srgbClr val="FFFFFF"/>
                          </a:solidFill>
                          <a:latin typeface="Calibri"/>
                        </a:rPr>
                        <a:t>Decision</a:t>
                      </a:r>
                    </a:p>
                  </a:txBody>
                  <a:tcPr marL="73152" marR="54864" marT="18288" marB="18288" anchor="ctr">
                    <a:solidFill>
                      <a:srgbClr val="0E2A47"/>
                    </a:solidFill>
                  </a:tcPr>
                </a:tc>
                <a:tc>
                  <a:txBody>
                    <a:bodyPr/>
                    <a:lstStyle/>
                    <a:p>
                      <a:r>
                        <a:rPr sz="1150" b="1">
                          <a:solidFill>
                            <a:srgbClr val="FFFFFF"/>
                          </a:solidFill>
                          <a:latin typeface="Calibri"/>
                        </a:rPr>
                        <a:t>Reason</a:t>
                      </a:r>
                    </a:p>
                  </a:txBody>
                  <a:tcPr marL="73152" marR="54864" marT="18288" marB="18288" anchor="ctr">
                    <a:solidFill>
                      <a:srgbClr val="0E2A47"/>
                    </a:solidFill>
                  </a:tcPr>
                </a:tc>
                <a:extLst>
                  <a:ext uri="{0D108BD9-81ED-4DB2-BD59-A6C34878D82A}">
                    <a16:rowId xmlns:a16="http://schemas.microsoft.com/office/drawing/2014/main" val="10000"/>
                  </a:ext>
                </a:extLst>
              </a:tr>
              <a:tr h="274320">
                <a:tc>
                  <a:txBody>
                    <a:bodyPr/>
                    <a:lstStyle/>
                    <a:p>
                      <a:r>
                        <a:rPr sz="1050" b="0">
                          <a:solidFill>
                            <a:srgbClr val="0E2A47"/>
                          </a:solidFill>
                          <a:latin typeface="Calibri"/>
                        </a:rPr>
                        <a:t>Sigmoid hidden activations</a:t>
                      </a:r>
                    </a:p>
                  </a:txBody>
                  <a:tcPr marL="73152" marR="54864" marT="18288" marB="18288" anchor="ctr">
                    <a:solidFill>
                      <a:srgbClr val="FFFFFF"/>
                    </a:solidFill>
                  </a:tcPr>
                </a:tc>
                <a:tc>
                  <a:txBody>
                    <a:bodyPr/>
                    <a:lstStyle/>
                    <a:p>
                      <a:r>
                        <a:rPr sz="1050" b="0">
                          <a:solidFill>
                            <a:srgbClr val="0E2A47"/>
                          </a:solidFill>
                          <a:latin typeface="Calibri"/>
                        </a:rPr>
                        <a:t>Required by the assignment. Our measured cost: see the gradient note below</a:t>
                      </a:r>
                    </a:p>
                  </a:txBody>
                  <a:tcPr marL="73152" marR="54864" marT="18288" marB="18288" anchor="ctr">
                    <a:solidFill>
                      <a:srgbClr val="FFFFFF"/>
                    </a:solidFill>
                  </a:tcPr>
                </a:tc>
                <a:extLst>
                  <a:ext uri="{0D108BD9-81ED-4DB2-BD59-A6C34878D82A}">
                    <a16:rowId xmlns:a16="http://schemas.microsoft.com/office/drawing/2014/main" val="10001"/>
                  </a:ext>
                </a:extLst>
              </a:tr>
              <a:tr h="274320">
                <a:tc>
                  <a:txBody>
                    <a:bodyPr/>
                    <a:lstStyle/>
                    <a:p>
                      <a:r>
                        <a:rPr sz="1050" b="0">
                          <a:solidFill>
                            <a:srgbClr val="0E2A47"/>
                          </a:solidFill>
                          <a:latin typeface="Calibri"/>
                        </a:rPr>
                        <a:t>Batch size 32</a:t>
                      </a:r>
                    </a:p>
                  </a:txBody>
                  <a:tcPr marL="73152" marR="54864" marT="18288" marB="18288" anchor="ctr">
                    <a:solidFill>
                      <a:srgbClr val="F2F4F7"/>
                    </a:solidFill>
                  </a:tcPr>
                </a:tc>
                <a:tc>
                  <a:txBody>
                    <a:bodyPr/>
                    <a:lstStyle/>
                    <a:p>
                      <a:r>
                        <a:rPr sz="1050" b="0">
                          <a:solidFill>
                            <a:srgbClr val="0E2A47"/>
                          </a:solidFill>
                          <a:latin typeface="Calibri"/>
                        </a:rPr>
                        <a:t>Small enough to demonstrate memory independence; standard default</a:t>
                      </a:r>
                    </a:p>
                  </a:txBody>
                  <a:tcPr marL="73152" marR="54864" marT="18288" marB="18288" anchor="ctr">
                    <a:solidFill>
                      <a:srgbClr val="F2F4F7"/>
                    </a:solidFill>
                  </a:tcPr>
                </a:tc>
                <a:extLst>
                  <a:ext uri="{0D108BD9-81ED-4DB2-BD59-A6C34878D82A}">
                    <a16:rowId xmlns:a16="http://schemas.microsoft.com/office/drawing/2014/main" val="10002"/>
                  </a:ext>
                </a:extLst>
              </a:tr>
              <a:tr h="274320">
                <a:tc>
                  <a:txBody>
                    <a:bodyPr/>
                    <a:lstStyle/>
                    <a:p>
                      <a:r>
                        <a:rPr sz="1050" b="0">
                          <a:solidFill>
                            <a:srgbClr val="0E2A47"/>
                          </a:solidFill>
                          <a:latin typeface="Calibri"/>
                        </a:rPr>
                        <a:t>1 epoch</a:t>
                      </a:r>
                    </a:p>
                  </a:txBody>
                  <a:tcPr marL="73152" marR="54864" marT="18288" marB="18288" anchor="ctr">
                    <a:solidFill>
                      <a:srgbClr val="FFFFFF"/>
                    </a:solidFill>
                  </a:tcPr>
                </a:tc>
                <a:tc>
                  <a:txBody>
                    <a:bodyPr/>
                    <a:lstStyle/>
                    <a:p>
                      <a:r>
                        <a:rPr sz="1050" b="0">
                          <a:solidFill>
                            <a:srgbClr val="0E2A47"/>
                          </a:solidFill>
                          <a:latin typeface="Calibri"/>
                        </a:rPr>
                        <a:t>True incremental framing — each record is seen exactly once</a:t>
                      </a:r>
                    </a:p>
                  </a:txBody>
                  <a:tcPr marL="73152" marR="54864" marT="18288" marB="18288" anchor="ctr">
                    <a:solidFill>
                      <a:srgbClr val="FFFFFF"/>
                    </a:solidFill>
                  </a:tcPr>
                </a:tc>
                <a:extLst>
                  <a:ext uri="{0D108BD9-81ED-4DB2-BD59-A6C34878D82A}">
                    <a16:rowId xmlns:a16="http://schemas.microsoft.com/office/drawing/2014/main" val="10003"/>
                  </a:ext>
                </a:extLst>
              </a:tr>
              <a:tr h="274320">
                <a:tc>
                  <a:txBody>
                    <a:bodyPr/>
                    <a:lstStyle/>
                    <a:p>
                      <a:r>
                        <a:rPr sz="1050" b="0">
                          <a:solidFill>
                            <a:srgbClr val="0E2A47"/>
                          </a:solidFill>
                          <a:latin typeface="Calibri"/>
                        </a:rPr>
                        <a:t>Adam, lr = 0.005</a:t>
                      </a:r>
                    </a:p>
                  </a:txBody>
                  <a:tcPr marL="73152" marR="54864" marT="18288" marB="18288" anchor="ctr">
                    <a:solidFill>
                      <a:srgbClr val="F2F4F7"/>
                    </a:solidFill>
                  </a:tcPr>
                </a:tc>
                <a:tc>
                  <a:txBody>
                    <a:bodyPr/>
                    <a:lstStyle/>
                    <a:p>
                      <a:r>
                        <a:rPr sz="1050" b="0">
                          <a:solidFill>
                            <a:srgbClr val="0E2A47"/>
                          </a:solidFill>
                          <a:latin typeface="Calibri"/>
                        </a:rPr>
                        <a:t>Raised from 0.001 after standardising y; one pass needs a larger step. Measured R² 0.519 → 0.532</a:t>
                      </a:r>
                    </a:p>
                  </a:txBody>
                  <a:tcPr marL="73152" marR="54864" marT="18288" marB="18288" anchor="ctr">
                    <a:solidFill>
                      <a:srgbClr val="F2F4F7"/>
                    </a:solidFill>
                  </a:tcPr>
                </a:tc>
                <a:extLst>
                  <a:ext uri="{0D108BD9-81ED-4DB2-BD59-A6C34878D82A}">
                    <a16:rowId xmlns:a16="http://schemas.microsoft.com/office/drawing/2014/main" val="10004"/>
                  </a:ext>
                </a:extLst>
              </a:tr>
              <a:tr h="274320">
                <a:tc>
                  <a:txBody>
                    <a:bodyPr/>
                    <a:lstStyle/>
                    <a:p>
                      <a:r>
                        <a:rPr sz="1050" b="0">
                          <a:solidFill>
                            <a:srgbClr val="0E2A47"/>
                          </a:solidFill>
                          <a:latin typeface="Calibri"/>
                        </a:rPr>
                        <a:t>Standardised the target y</a:t>
                      </a:r>
                    </a:p>
                  </a:txBody>
                  <a:tcPr marL="73152" marR="54864" marT="18288" marB="18288" anchor="ctr">
                    <a:solidFill>
                      <a:srgbClr val="FFFFFF"/>
                    </a:solidFill>
                  </a:tcPr>
                </a:tc>
                <a:tc>
                  <a:txBody>
                    <a:bodyPr/>
                    <a:lstStyle/>
                    <a:p>
                      <a:r>
                        <a:rPr sz="1050" b="0">
                          <a:solidFill>
                            <a:srgbClr val="0E2A47"/>
                          </a:solidFill>
                          <a:latin typeface="Calibri"/>
                        </a:rPr>
                        <a:t>The decisive fix. Raw y (mean 23, std 51, max 4,165) forced huge gradients that saturated the sigmoids. Measured R² 0.35 → 0.52</a:t>
                      </a:r>
                    </a:p>
                  </a:txBody>
                  <a:tcPr marL="73152" marR="54864" marT="18288" marB="18288" anchor="ctr">
                    <a:solidFill>
                      <a:srgbClr val="FFFFFF"/>
                    </a:solidFill>
                  </a:tcPr>
                </a:tc>
                <a:extLst>
                  <a:ext uri="{0D108BD9-81ED-4DB2-BD59-A6C34878D82A}">
                    <a16:rowId xmlns:a16="http://schemas.microsoft.com/office/drawing/2014/main" val="10005"/>
                  </a:ext>
                </a:extLst>
              </a:tr>
              <a:tr h="274320">
                <a:tc>
                  <a:txBody>
                    <a:bodyPr/>
                    <a:lstStyle/>
                    <a:p>
                      <a:r>
                        <a:rPr sz="1050" b="0">
                          <a:solidFill>
                            <a:srgbClr val="0E2A47"/>
                          </a:solidFill>
                          <a:latin typeface="Calibri"/>
                        </a:rPr>
                        <a:t>Linear output unit</a:t>
                      </a:r>
                    </a:p>
                  </a:txBody>
                  <a:tcPr marL="73152" marR="54864" marT="18288" marB="18288" anchor="ctr">
                    <a:solidFill>
                      <a:srgbClr val="F2F4F7"/>
                    </a:solidFill>
                  </a:tcPr>
                </a:tc>
                <a:tc>
                  <a:txBody>
                    <a:bodyPr/>
                    <a:lstStyle/>
                    <a:p>
                      <a:r>
                        <a:rPr sz="1050" b="0">
                          <a:solidFill>
                            <a:srgbClr val="0E2A47"/>
                          </a:solidFill>
                          <a:latin typeface="Calibri"/>
                        </a:rPr>
                        <a:t>quantity is unbounded and positive; a bounded output activation cannot represent it</a:t>
                      </a:r>
                    </a:p>
                  </a:txBody>
                  <a:tcPr marL="73152" marR="54864" marT="18288" marB="18288" anchor="ctr">
                    <a:solidFill>
                      <a:srgbClr val="F2F4F7"/>
                    </a:solidFill>
                  </a:tcPr>
                </a:tc>
                <a:extLst>
                  <a:ext uri="{0D108BD9-81ED-4DB2-BD59-A6C34878D82A}">
                    <a16:rowId xmlns:a16="http://schemas.microsoft.com/office/drawing/2014/main" val="10006"/>
                  </a:ext>
                </a:extLst>
              </a:tr>
              <a:tr h="274320">
                <a:tc>
                  <a:txBody>
                    <a:bodyPr/>
                    <a:lstStyle/>
                    <a:p>
                      <a:r>
                        <a:rPr sz="1050" b="0">
                          <a:solidFill>
                            <a:srgbClr val="0E2A47"/>
                          </a:solidFill>
                          <a:latin typeface="Calibri"/>
                        </a:rPr>
                        <a:t>StandardScaler on all 5 inputs</a:t>
                      </a:r>
                    </a:p>
                  </a:txBody>
                  <a:tcPr marL="73152" marR="54864" marT="18288" marB="18288" anchor="ctr">
                    <a:solidFill>
                      <a:srgbClr val="FFFFFF"/>
                    </a:solidFill>
                  </a:tcPr>
                </a:tc>
                <a:tc>
                  <a:txBody>
                    <a:bodyPr/>
                    <a:lstStyle/>
                    <a:p>
                      <a:r>
                        <a:rPr sz="1050" b="0">
                          <a:solidFill>
                            <a:srgbClr val="0E2A47"/>
                          </a:solidFill>
                          <a:latin typeface="Calibri"/>
                        </a:rPr>
                        <a:t>Keeps pre-activations near 0 where the sigmoid derivative is largest</a:t>
                      </a:r>
                    </a:p>
                  </a:txBody>
                  <a:tcPr marL="73152" marR="54864" marT="18288" marB="18288" anchor="ctr">
                    <a:solidFill>
                      <a:srgbClr val="FFFFFF"/>
                    </a:solidFill>
                  </a:tcPr>
                </a:tc>
                <a:extLst>
                  <a:ext uri="{0D108BD9-81ED-4DB2-BD59-A6C34878D82A}">
                    <a16:rowId xmlns:a16="http://schemas.microsoft.com/office/drawing/2014/main" val="10007"/>
                  </a:ext>
                </a:extLst>
              </a:tr>
            </a:tbl>
          </a:graphicData>
        </a:graphic>
      </p:graphicFrame>
      <p:sp>
        <p:nvSpPr>
          <p:cNvPr id="7" name="TextBox 6"/>
          <p:cNvSpPr txBox="1"/>
          <p:nvPr/>
        </p:nvSpPr>
        <p:spPr>
          <a:xfrm>
            <a:off x="548640" y="3675887"/>
            <a:ext cx="11064240" cy="320040"/>
          </a:xfrm>
          <a:prstGeom prst="rect">
            <a:avLst/>
          </a:prstGeom>
          <a:noFill/>
        </p:spPr>
        <p:txBody>
          <a:bodyPr wrap="square" lIns="27432" tIns="0" rIns="27432" bIns="0">
            <a:spAutoFit/>
          </a:bodyPr>
          <a:lstStyle/>
          <a:p>
            <a:pPr algn="l">
              <a:spcAft>
                <a:spcPts val="600"/>
              </a:spcAft>
            </a:pPr>
            <a:r>
              <a:rPr sz="1200" b="1">
                <a:solidFill>
                  <a:srgbClr val="B06A00"/>
                </a:solidFill>
                <a:latin typeface="Calibri"/>
              </a:rPr>
              <a:t>KNOWN LIMITATIONS — STATED UP FRONT</a:t>
            </a:r>
          </a:p>
        </p:txBody>
      </p:sp>
      <p:graphicFrame>
        <p:nvGraphicFramePr>
          <p:cNvPr id="8" name="Table 7"/>
          <p:cNvGraphicFramePr>
            <a:graphicFrameLocks noGrp="1"/>
          </p:cNvGraphicFramePr>
          <p:nvPr/>
        </p:nvGraphicFramePr>
        <p:xfrm>
          <a:off x="548640" y="4005072"/>
          <a:ext cx="11064240" cy="1920240"/>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274320">
                <a:tc>
                  <a:txBody>
                    <a:bodyPr/>
                    <a:lstStyle/>
                    <a:p>
                      <a:r>
                        <a:rPr sz="1150" b="1">
                          <a:solidFill>
                            <a:srgbClr val="FFFFFF"/>
                          </a:solidFill>
                          <a:latin typeface="Calibri"/>
                        </a:rPr>
                        <a:t>Limitation</a:t>
                      </a:r>
                    </a:p>
                  </a:txBody>
                  <a:tcPr marL="73152" marR="54864" marT="18288" marB="18288" anchor="ctr">
                    <a:solidFill>
                      <a:srgbClr val="0E2A47"/>
                    </a:solidFill>
                  </a:tcPr>
                </a:tc>
                <a:tc>
                  <a:txBody>
                    <a:bodyPr/>
                    <a:lstStyle/>
                    <a:p>
                      <a:r>
                        <a:rPr sz="1150" b="1">
                          <a:solidFill>
                            <a:srgbClr val="FFFFFF"/>
                          </a:solidFill>
                          <a:latin typeface="Calibri"/>
                        </a:rPr>
                        <a:t>Impact</a:t>
                      </a:r>
                    </a:p>
                  </a:txBody>
                  <a:tcPr marL="73152" marR="54864" marT="18288" marB="18288" anchor="ctr">
                    <a:solidFill>
                      <a:srgbClr val="0E2A47"/>
                    </a:solidFill>
                  </a:tcPr>
                </a:tc>
                <a:tc>
                  <a:txBody>
                    <a:bodyPr/>
                    <a:lstStyle/>
                    <a:p>
                      <a:r>
                        <a:rPr sz="1150" b="1">
                          <a:solidFill>
                            <a:srgbClr val="FFFFFF"/>
                          </a:solidFill>
                          <a:latin typeface="Calibri"/>
                        </a:rPr>
                        <a:t>Fix</a:t>
                      </a:r>
                    </a:p>
                  </a:txBody>
                  <a:tcPr marL="73152" marR="54864" marT="18288" marB="18288" anchor="ctr">
                    <a:solidFill>
                      <a:srgbClr val="0E2A47"/>
                    </a:solidFill>
                  </a:tcPr>
                </a:tc>
                <a:extLst>
                  <a:ext uri="{0D108BD9-81ED-4DB2-BD59-A6C34878D82A}">
                    <a16:rowId xmlns:a16="http://schemas.microsoft.com/office/drawing/2014/main" val="10000"/>
                  </a:ext>
                </a:extLst>
              </a:tr>
              <a:tr h="274320">
                <a:tc>
                  <a:txBody>
                    <a:bodyPr/>
                    <a:lstStyle/>
                    <a:p>
                      <a:r>
                        <a:rPr sz="1050" b="0">
                          <a:solidFill>
                            <a:srgbClr val="0E2A47"/>
                          </a:solidFill>
                          <a:latin typeface="Calibri"/>
                        </a:rPr>
                        <a:t>CSV is read whole, then batched</a:t>
                      </a:r>
                    </a:p>
                  </a:txBody>
                  <a:tcPr marL="73152" marR="54864" marT="18288" marB="18288" anchor="ctr">
                    <a:solidFill>
                      <a:srgbClr val="FFFFFF"/>
                    </a:solidFill>
                  </a:tcPr>
                </a:tc>
                <a:tc>
                  <a:txBody>
                    <a:bodyPr/>
                    <a:lstStyle/>
                    <a:p>
                      <a:r>
                        <a:rPr sz="1050" b="0">
                          <a:solidFill>
                            <a:srgbClr val="0E2A47"/>
                          </a:solidFill>
                          <a:latin typeface="Calibri"/>
                        </a:rPr>
                        <a:t>Ingestion is not yet incremental — only learning is</a:t>
                      </a:r>
                    </a:p>
                  </a:txBody>
                  <a:tcPr marL="73152" marR="54864" marT="18288" marB="18288" anchor="ctr">
                    <a:solidFill>
                      <a:srgbClr val="FFFFFF"/>
                    </a:solidFill>
                  </a:tcPr>
                </a:tc>
                <a:tc>
                  <a:txBody>
                    <a:bodyPr/>
                    <a:lstStyle/>
                    <a:p>
                      <a:r>
                        <a:rPr sz="1050" b="0">
                          <a:solidFill>
                            <a:srgbClr val="0E2A47"/>
                          </a:solidFill>
                          <a:latin typeface="Calibri"/>
                        </a:rPr>
                        <a:t>pd.read_csv(chunksize=...)</a:t>
                      </a:r>
                    </a:p>
                  </a:txBody>
                  <a:tcPr marL="73152" marR="54864" marT="18288" marB="18288" anchor="ctr">
                    <a:solidFill>
                      <a:srgbClr val="FFFFFF"/>
                    </a:solidFill>
                  </a:tcPr>
                </a:tc>
                <a:extLst>
                  <a:ext uri="{0D108BD9-81ED-4DB2-BD59-A6C34878D82A}">
                    <a16:rowId xmlns:a16="http://schemas.microsoft.com/office/drawing/2014/main" val="10001"/>
                  </a:ext>
                </a:extLst>
              </a:tr>
              <a:tr h="274320">
                <a:tc>
                  <a:txBody>
                    <a:bodyPr/>
                    <a:lstStyle/>
                    <a:p>
                      <a:r>
                        <a:rPr sz="1050" b="0">
                          <a:solidFill>
                            <a:srgbClr val="0E2A47"/>
                          </a:solidFill>
                          <a:latin typeface="Calibri"/>
                        </a:rPr>
                        <a:t>Sigmoid throttles the gradient</a:t>
                      </a:r>
                    </a:p>
                  </a:txBody>
                  <a:tcPr marL="73152" marR="54864" marT="18288" marB="18288" anchor="ctr">
                    <a:solidFill>
                      <a:srgbClr val="F2F4F7"/>
                    </a:solidFill>
                  </a:tcPr>
                </a:tc>
                <a:tc>
                  <a:txBody>
                    <a:bodyPr/>
                    <a:lstStyle/>
                    <a:p>
                      <a:r>
                        <a:rPr sz="1050" b="0">
                          <a:solidFill>
                            <a:srgbClr val="0E2A47"/>
                          </a:solidFill>
                          <a:latin typeface="Calibri"/>
                        </a:rPr>
                        <a:t>Backward signal is attenuated (max 0.25 per sigmoid layer), so early layers learn slowly</a:t>
                      </a:r>
                    </a:p>
                  </a:txBody>
                  <a:tcPr marL="73152" marR="54864" marT="18288" marB="18288" anchor="ctr">
                    <a:solidFill>
                      <a:srgbClr val="F2F4F7"/>
                    </a:solidFill>
                  </a:tcPr>
                </a:tc>
                <a:tc>
                  <a:txBody>
                    <a:bodyPr/>
                    <a:lstStyle/>
                    <a:p>
                      <a:r>
                        <a:rPr sz="1050" b="0">
                          <a:solidFill>
                            <a:srgbClr val="0E2A47"/>
                          </a:solidFill>
                          <a:latin typeface="Calibri"/>
                        </a:rPr>
                        <a:t>Assignment-mandated; relu would fix it</a:t>
                      </a:r>
                    </a:p>
                  </a:txBody>
                  <a:tcPr marL="73152" marR="54864" marT="18288" marB="18288" anchor="ctr">
                    <a:solidFill>
                      <a:srgbClr val="F2F4F7"/>
                    </a:solidFill>
                  </a:tcPr>
                </a:tc>
                <a:extLst>
                  <a:ext uri="{0D108BD9-81ED-4DB2-BD59-A6C34878D82A}">
                    <a16:rowId xmlns:a16="http://schemas.microsoft.com/office/drawing/2014/main" val="10002"/>
                  </a:ext>
                </a:extLst>
              </a:tr>
              <a:tr h="274320">
                <a:tc>
                  <a:txBody>
                    <a:bodyPr/>
                    <a:lstStyle/>
                    <a:p>
                      <a:r>
                        <a:rPr sz="1050" b="0">
                          <a:solidFill>
                            <a:srgbClr val="0E2A47"/>
                          </a:solidFill>
                          <a:latin typeface="Calibri"/>
                        </a:rPr>
                        <a:t>Single epoch</a:t>
                      </a:r>
                    </a:p>
                  </a:txBody>
                  <a:tcPr marL="73152" marR="54864" marT="18288" marB="18288" anchor="ctr">
                    <a:solidFill>
                      <a:srgbClr val="FFFFFF"/>
                    </a:solidFill>
                  </a:tcPr>
                </a:tc>
                <a:tc>
                  <a:txBody>
                    <a:bodyPr/>
                    <a:lstStyle/>
                    <a:p>
                      <a:r>
                        <a:rPr sz="1050" b="0">
                          <a:solidFill>
                            <a:srgbClr val="0E2A47"/>
                          </a:solidFill>
                          <a:latin typeface="Calibri"/>
                        </a:rPr>
                        <a:t>Curve plateaus rather than converging — model is underfit</a:t>
                      </a:r>
                    </a:p>
                  </a:txBody>
                  <a:tcPr marL="73152" marR="54864" marT="18288" marB="18288" anchor="ctr">
                    <a:solidFill>
                      <a:srgbClr val="FFFFFF"/>
                    </a:solidFill>
                  </a:tcPr>
                </a:tc>
                <a:tc>
                  <a:txBody>
                    <a:bodyPr/>
                    <a:lstStyle/>
                    <a:p>
                      <a:r>
                        <a:rPr sz="1050" b="0">
                          <a:solidFill>
                            <a:srgbClr val="0E2A47"/>
                          </a:solidFill>
                          <a:latin typeface="Calibri"/>
                        </a:rPr>
                        <a:t>More passes, or a larger batch</a:t>
                      </a:r>
                    </a:p>
                  </a:txBody>
                  <a:tcPr marL="73152" marR="54864" marT="18288" marB="18288" anchor="ctr">
                    <a:solidFill>
                      <a:srgbClr val="FFFFFF"/>
                    </a:solidFill>
                  </a:tcPr>
                </a:tc>
                <a:extLst>
                  <a:ext uri="{0D108BD9-81ED-4DB2-BD59-A6C34878D82A}">
                    <a16:rowId xmlns:a16="http://schemas.microsoft.com/office/drawing/2014/main" val="10003"/>
                  </a:ext>
                </a:extLst>
              </a:tr>
              <a:tr h="274320">
                <a:tc>
                  <a:txBody>
                    <a:bodyPr/>
                    <a:lstStyle/>
                    <a:p>
                      <a:r>
                        <a:rPr sz="1050" b="0">
                          <a:solidFill>
                            <a:srgbClr val="0E2A47"/>
                          </a:solidFill>
                          <a:latin typeface="Calibri"/>
                        </a:rPr>
                        <a:t>Integer categoricals standardised</a:t>
                      </a:r>
                    </a:p>
                  </a:txBody>
                  <a:tcPr marL="73152" marR="54864" marT="18288" marB="18288" anchor="ctr">
                    <a:solidFill>
                      <a:srgbClr val="F2F4F7"/>
                    </a:solidFill>
                  </a:tcPr>
                </a:tc>
                <a:tc>
                  <a:txBody>
                    <a:bodyPr/>
                    <a:lstStyle/>
                    <a:p>
                      <a:r>
                        <a:rPr sz="1050" b="0">
                          <a:solidFill>
                            <a:srgbClr val="0E2A47"/>
                          </a:solidFill>
                          <a:latin typeface="Calibri"/>
                        </a:rPr>
                        <a:t>Imposes a false ordering on sku and category codes</a:t>
                      </a:r>
                    </a:p>
                  </a:txBody>
                  <a:tcPr marL="73152" marR="54864" marT="18288" marB="18288" anchor="ctr">
                    <a:solidFill>
                      <a:srgbClr val="F2F4F7"/>
                    </a:solidFill>
                  </a:tcPr>
                </a:tc>
                <a:tc>
                  <a:txBody>
                    <a:bodyPr/>
                    <a:lstStyle/>
                    <a:p>
                      <a:r>
                        <a:rPr sz="1050" b="0">
                          <a:solidFill>
                            <a:srgbClr val="0E2A47"/>
                          </a:solidFill>
                          <a:latin typeface="Calibri"/>
                        </a:rPr>
                        <a:t>One-hot or embeddings</a:t>
                      </a:r>
                    </a:p>
                  </a:txBody>
                  <a:tcPr marL="73152" marR="54864" marT="18288" marB="18288" anchor="ctr">
                    <a:solidFill>
                      <a:srgbClr val="F2F4F7"/>
                    </a:solidFill>
                  </a:tcPr>
                </a:tc>
                <a:extLst>
                  <a:ext uri="{0D108BD9-81ED-4DB2-BD59-A6C34878D82A}">
                    <a16:rowId xmlns:a16="http://schemas.microsoft.com/office/drawing/2014/main" val="10004"/>
                  </a:ext>
                </a:extLst>
              </a:tr>
              <a:tr h="274320">
                <a:tc>
                  <a:txBody>
                    <a:bodyPr/>
                    <a:lstStyle/>
                    <a:p>
                      <a:r>
                        <a:rPr sz="1050" b="0">
                          <a:solidFill>
                            <a:srgbClr val="0E2A47"/>
                          </a:solidFill>
                          <a:latin typeface="Calibri"/>
                        </a:rPr>
                        <a:t>Keras weight init not seeded</a:t>
                      </a:r>
                    </a:p>
                  </a:txBody>
                  <a:tcPr marL="73152" marR="54864" marT="18288" marB="18288" anchor="ctr">
                    <a:solidFill>
                      <a:srgbClr val="FFFFFF"/>
                    </a:solidFill>
                  </a:tcPr>
                </a:tc>
                <a:tc>
                  <a:txBody>
                    <a:bodyPr/>
                    <a:lstStyle/>
                    <a:p>
                      <a:r>
                        <a:rPr sz="1050" b="0">
                          <a:solidFill>
                            <a:srgbClr val="0E2A47"/>
                          </a:solidFill>
                          <a:latin typeface="Calibri"/>
                        </a:rPr>
                        <a:t>Only the split is seeded (42); re-running gives a different R²</a:t>
                      </a:r>
                    </a:p>
                  </a:txBody>
                  <a:tcPr marL="73152" marR="54864" marT="18288" marB="18288" anchor="ctr">
                    <a:solidFill>
                      <a:srgbClr val="FFFFFF"/>
                    </a:solidFill>
                  </a:tcPr>
                </a:tc>
                <a:tc>
                  <a:txBody>
                    <a:bodyPr/>
                    <a:lstStyle/>
                    <a:p>
                      <a:r>
                        <a:rPr sz="1050" b="0">
                          <a:solidFill>
                            <a:srgbClr val="0E2A47"/>
                          </a:solidFill>
                          <a:latin typeface="Calibri"/>
                        </a:rPr>
                        <a:t>tf.random.set_seed(42)</a:t>
                      </a:r>
                    </a:p>
                  </a:txBody>
                  <a:tcPr marL="73152" marR="54864" marT="18288" marB="18288" anchor="ctr">
                    <a:solidFill>
                      <a:srgbClr val="FFFFFF"/>
                    </a:solidFill>
                  </a:tcPr>
                </a:tc>
                <a:extLst>
                  <a:ext uri="{0D108BD9-81ED-4DB2-BD59-A6C34878D82A}">
                    <a16:rowId xmlns:a16="http://schemas.microsoft.com/office/drawing/2014/main" val="10005"/>
                  </a:ext>
                </a:extLst>
              </a:tr>
              <a:tr h="274320">
                <a:tc>
                  <a:txBody>
                    <a:bodyPr/>
                    <a:lstStyle/>
                    <a:p>
                      <a:r>
                        <a:rPr sz="1050" b="0">
                          <a:solidFill>
                            <a:srgbClr val="0E2A47"/>
                          </a:solidFill>
                          <a:latin typeface="Calibri"/>
                        </a:rPr>
                        <a:t>Feature scaler not saved to disk</a:t>
                      </a:r>
                    </a:p>
                  </a:txBody>
                  <a:tcPr marL="73152" marR="54864" marT="18288" marB="18288" anchor="ctr">
                    <a:solidFill>
                      <a:srgbClr val="F2F4F7"/>
                    </a:solidFill>
                  </a:tcPr>
                </a:tc>
                <a:tc>
                  <a:txBody>
                    <a:bodyPr/>
                    <a:lstStyle/>
                    <a:p>
                      <a:r>
                        <a:rPr sz="1050" b="0">
                          <a:solidFill>
                            <a:srgbClr val="0E2A47"/>
                          </a:solidFill>
                          <a:latin typeface="Calibri"/>
                        </a:rPr>
                        <a:t>The .keras model alone cannot score a raw record; plots.py and make_pdp_v2.py must rebuild the transform from seed 42</a:t>
                      </a:r>
                    </a:p>
                  </a:txBody>
                  <a:tcPr marL="73152" marR="54864" marT="18288" marB="18288" anchor="ctr">
                    <a:solidFill>
                      <a:srgbClr val="F2F4F7"/>
                    </a:solidFill>
                  </a:tcPr>
                </a:tc>
                <a:tc>
                  <a:txBody>
                    <a:bodyPr/>
                    <a:lstStyle/>
                    <a:p>
                      <a:r>
                        <a:rPr sz="1050" b="0">
                          <a:solidFill>
                            <a:srgbClr val="0E2A47"/>
                          </a:solidFill>
                          <a:latin typeface="Calibri"/>
                        </a:rPr>
                        <a:t>joblib.dump(scaler)</a:t>
                      </a:r>
                    </a:p>
                  </a:txBody>
                  <a:tcPr marL="73152" marR="54864" marT="18288" marB="18288" anchor="ctr">
                    <a:solidFill>
                      <a:srgbClr val="F2F4F7"/>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548640" y="6053328"/>
            <a:ext cx="11064240" cy="548640"/>
          </a:xfrm>
          <a:prstGeom prst="rect">
            <a:avLst/>
          </a:prstGeom>
          <a:noFill/>
        </p:spPr>
        <p:txBody>
          <a:bodyPr wrap="square" lIns="27432" tIns="0" rIns="27432" bIns="0">
            <a:spAutoFit/>
          </a:bodyPr>
          <a:lstStyle/>
          <a:p>
            <a:pPr algn="l">
              <a:spcAft>
                <a:spcPts val="300"/>
              </a:spcAft>
            </a:pPr>
            <a:r>
              <a:rPr sz="1200" b="1">
                <a:solidFill>
                  <a:srgbClr val="0E2A47"/>
                </a:solidFill>
                <a:latin typeface="Calibri"/>
              </a:rPr>
              <a:t>The one-sentence lesson: incremental learning buys memory independence — proven here by 6.5 MB of drift across 400,000 records — and the price is paid in gradient quality, which is why a 3,009-parameter model on one sigmoid pass lands at R² 0.54 rather than higher.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9692640" cy="548640"/>
          </a:xfrm>
          <a:prstGeom prst="rect">
            <a:avLst/>
          </a:prstGeom>
          <a:noFill/>
        </p:spPr>
        <p:txBody>
          <a:bodyPr wrap="square" lIns="27432" tIns="0" rIns="27432" bIns="0">
            <a:spAutoFit/>
          </a:bodyPr>
          <a:lstStyle/>
          <a:p>
            <a:pPr algn="l">
              <a:spcAft>
                <a:spcPts val="600"/>
              </a:spcAft>
            </a:pPr>
            <a:r>
              <a:rPr sz="2700" b="1">
                <a:solidFill>
                  <a:srgbClr val="0E2A47"/>
                </a:solidFill>
                <a:latin typeface="Calibri"/>
              </a:rPr>
              <a:t>Team contributions</a:t>
            </a:r>
          </a:p>
        </p:txBody>
      </p:sp>
      <p:sp>
        <p:nvSpPr>
          <p:cNvPr id="4" name="TextBox 3"/>
          <p:cNvSpPr txBox="1"/>
          <p:nvPr/>
        </p:nvSpPr>
        <p:spPr>
          <a:xfrm>
            <a:off x="530352" y="841248"/>
            <a:ext cx="10241280" cy="365760"/>
          </a:xfrm>
          <a:prstGeom prst="rect">
            <a:avLst/>
          </a:prstGeom>
          <a:noFill/>
        </p:spPr>
        <p:txBody>
          <a:bodyPr wrap="square" lIns="27432" tIns="0" rIns="27432" bIns="0">
            <a:spAutoFit/>
          </a:bodyPr>
          <a:lstStyle/>
          <a:p>
            <a:pPr algn="l">
              <a:spcAft>
                <a:spcPts val="600"/>
              </a:spcAft>
            </a:pPr>
            <a:r>
              <a:rPr sz="1300" b="0">
                <a:solidFill>
                  <a:srgbClr val="5A636B"/>
                </a:solidFill>
                <a:latin typeface="Calibri"/>
              </a:rPr>
              <a:t>Who did what</a:t>
            </a:r>
          </a:p>
        </p:txBody>
      </p:sp>
      <p:sp>
        <p:nvSpPr>
          <p:cNvPr id="5" name="Rounded Rectangle 4"/>
          <p:cNvSpPr/>
          <p:nvPr/>
        </p:nvSpPr>
        <p:spPr>
          <a:xfrm>
            <a:off x="10378440" y="301752"/>
            <a:ext cx="1371600" cy="329184"/>
          </a:xfrm>
          <a:prstGeom prst="roundRect">
            <a:avLst/>
          </a:prstGeom>
          <a:solidFill>
            <a:srgbClr val="1E7A3C"/>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050" b="1">
                <a:solidFill>
                  <a:srgbClr val="FFFFFF"/>
                </a:solidFill>
              </a:rPr>
              <a:t>REQUIRED</a:t>
            </a:r>
          </a:p>
        </p:txBody>
      </p:sp>
      <p:graphicFrame>
        <p:nvGraphicFramePr>
          <p:cNvPr id="6" name="Table 5"/>
          <p:cNvGraphicFramePr>
            <a:graphicFrameLocks noGrp="1"/>
          </p:cNvGraphicFramePr>
          <p:nvPr/>
        </p:nvGraphicFramePr>
        <p:xfrm>
          <a:off x="548640" y="1325880"/>
          <a:ext cx="11064240" cy="1280160"/>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7452360">
                  <a:extLst>
                    <a:ext uri="{9D8B030D-6E8A-4147-A177-3AD203B41FA5}">
                      <a16:colId xmlns:a16="http://schemas.microsoft.com/office/drawing/2014/main" val="20002"/>
                    </a:ext>
                  </a:extLst>
                </a:gridCol>
              </a:tblGrid>
              <a:tr h="320040">
                <a:tc>
                  <a:txBody>
                    <a:bodyPr/>
                    <a:lstStyle/>
                    <a:p>
                      <a:r>
                        <a:rPr sz="1150" b="1">
                          <a:solidFill>
                            <a:srgbClr val="FFFFFF"/>
                          </a:solidFill>
                          <a:latin typeface="Calibri"/>
                        </a:rPr>
                        <a:t>Member</a:t>
                      </a:r>
                    </a:p>
                  </a:txBody>
                  <a:tcPr marL="73152" marR="54864" marT="18288" marB="18288" anchor="ctr">
                    <a:solidFill>
                      <a:srgbClr val="0E2A47"/>
                    </a:solidFill>
                  </a:tcPr>
                </a:tc>
                <a:tc>
                  <a:txBody>
                    <a:bodyPr/>
                    <a:lstStyle/>
                    <a:p>
                      <a:r>
                        <a:rPr sz="1150" b="1">
                          <a:solidFill>
                            <a:srgbClr val="FFFFFF"/>
                          </a:solidFill>
                          <a:latin typeface="Calibri"/>
                        </a:rPr>
                        <a:t>Area</a:t>
                      </a:r>
                    </a:p>
                  </a:txBody>
                  <a:tcPr marL="73152" marR="54864" marT="18288" marB="18288" anchor="ctr">
                    <a:solidFill>
                      <a:srgbClr val="0E2A47"/>
                    </a:solidFill>
                  </a:tcPr>
                </a:tc>
                <a:tc>
                  <a:txBody>
                    <a:bodyPr/>
                    <a:lstStyle/>
                    <a:p>
                      <a:r>
                        <a:rPr sz="1150" b="1">
                          <a:solidFill>
                            <a:srgbClr val="FFFFFF"/>
                          </a:solidFill>
                          <a:latin typeface="Calibri"/>
                        </a:rPr>
                        <a:t>Contribution</a:t>
                      </a:r>
                    </a:p>
                  </a:txBody>
                  <a:tcPr marL="73152" marR="54864" marT="18288" marB="18288" anchor="ctr">
                    <a:solidFill>
                      <a:srgbClr val="0E2A47"/>
                    </a:solidFill>
                  </a:tcPr>
                </a:tc>
                <a:extLst>
                  <a:ext uri="{0D108BD9-81ED-4DB2-BD59-A6C34878D82A}">
                    <a16:rowId xmlns:a16="http://schemas.microsoft.com/office/drawing/2014/main" val="10000"/>
                  </a:ext>
                </a:extLst>
              </a:tr>
              <a:tr h="320040">
                <a:tc>
                  <a:txBody>
                    <a:bodyPr/>
                    <a:lstStyle/>
                    <a:p>
                      <a:r>
                        <a:rPr sz="1100" b="0">
                          <a:solidFill>
                            <a:srgbClr val="0E2A47"/>
                          </a:solidFill>
                          <a:latin typeface="Calibri"/>
                        </a:rPr>
                        <a:t>Ansley</a:t>
                      </a:r>
                    </a:p>
                  </a:txBody>
                  <a:tcPr marL="73152" marR="54864" marT="18288" marB="18288" anchor="ctr">
                    <a:solidFill>
                      <a:srgbClr val="FFFFFF"/>
                    </a:solidFill>
                  </a:tcPr>
                </a:tc>
                <a:tc>
                  <a:txBody>
                    <a:bodyPr/>
                    <a:lstStyle/>
                    <a:p>
                      <a:r>
                        <a:rPr sz="1100" b="0">
                          <a:solidFill>
                            <a:srgbClr val="0E2A47"/>
                          </a:solidFill>
                          <a:latin typeface="Calibri"/>
                        </a:rPr>
                        <a:t>Data pipeline &amp; execution</a:t>
                      </a:r>
                    </a:p>
                  </a:txBody>
                  <a:tcPr marL="73152" marR="54864" marT="18288" marB="18288" anchor="ctr">
                    <a:solidFill>
                      <a:srgbClr val="FFFFFF"/>
                    </a:solidFill>
                  </a:tcPr>
                </a:tc>
                <a:tc>
                  <a:txBody>
                    <a:bodyPr/>
                    <a:lstStyle/>
                    <a:p>
                      <a:r>
                        <a:rPr sz="1100" b="0">
                          <a:solidFill>
                            <a:srgbClr val="0E2A47"/>
                          </a:solidFill>
                          <a:latin typeface="Calibri"/>
                        </a:rPr>
                        <a:t>Data exploration (size, row count, dtypes, missing-value checks); data_handler.py — loading, 80/20 split, StandardScaler, create_mini_batches generator; the incremental training loop in main.py; psutil memory instrumentation; ran full training and collected raw metrics</a:t>
                      </a:r>
                    </a:p>
                  </a:txBody>
                  <a:tcPr marL="73152" marR="54864" marT="18288" marB="18288" anchor="ctr">
                    <a:solidFill>
                      <a:srgbClr val="FFFFFF"/>
                    </a:solidFill>
                  </a:tcPr>
                </a:tc>
                <a:extLst>
                  <a:ext uri="{0D108BD9-81ED-4DB2-BD59-A6C34878D82A}">
                    <a16:rowId xmlns:a16="http://schemas.microsoft.com/office/drawing/2014/main" val="10001"/>
                  </a:ext>
                </a:extLst>
              </a:tr>
              <a:tr h="320040">
                <a:tc>
                  <a:txBody>
                    <a:bodyPr/>
                    <a:lstStyle/>
                    <a:p>
                      <a:r>
                        <a:rPr sz="1100" b="0">
                          <a:solidFill>
                            <a:srgbClr val="0E2A47"/>
                          </a:solidFill>
                          <a:latin typeface="Calibri"/>
                        </a:rPr>
                        <a:t>Rebecca</a:t>
                      </a:r>
                    </a:p>
                  </a:txBody>
                  <a:tcPr marL="73152" marR="54864" marT="18288" marB="18288" anchor="ctr">
                    <a:solidFill>
                      <a:srgbClr val="F2F4F7"/>
                    </a:solidFill>
                  </a:tcPr>
                </a:tc>
                <a:tc>
                  <a:txBody>
                    <a:bodyPr/>
                    <a:lstStyle/>
                    <a:p>
                      <a:r>
                        <a:rPr sz="1100" b="0">
                          <a:solidFill>
                            <a:srgbClr val="0E2A47"/>
                          </a:solidFill>
                          <a:latin typeface="Calibri"/>
                        </a:rPr>
                        <a:t>Architecture, metrics &amp; validation</a:t>
                      </a:r>
                    </a:p>
                  </a:txBody>
                  <a:tcPr marL="73152" marR="54864" marT="18288" marB="18288" anchor="ctr">
                    <a:solidFill>
                      <a:srgbClr val="F2F4F7"/>
                    </a:solidFill>
                  </a:tcPr>
                </a:tc>
                <a:tc>
                  <a:txBody>
                    <a:bodyPr/>
                    <a:lstStyle/>
                    <a:p>
                      <a:r>
                        <a:rPr sz="1100" b="0">
                          <a:solidFill>
                            <a:srgbClr val="0E2A47"/>
                          </a:solidFill>
                          <a:latin typeface="Calibri"/>
                        </a:rPr>
                        <a:t>Researched incremental learning and memory trade-offs; designed and implemented the network in model.py (3 sigmoid hidden layers, 64/32/16, linear output); evaluate.py — R², MSE and moving average; integration test on a 1,000-row subset; validated results and produced the learning curve and variable importance figures</a:t>
                      </a:r>
                    </a:p>
                  </a:txBody>
                  <a:tcPr marL="73152" marR="54864" marT="18288" marB="18288" anchor="ctr">
                    <a:solidFill>
                      <a:srgbClr val="F2F4F7"/>
                    </a:solidFill>
                  </a:tcPr>
                </a:tc>
                <a:extLst>
                  <a:ext uri="{0D108BD9-81ED-4DB2-BD59-A6C34878D82A}">
                    <a16:rowId xmlns:a16="http://schemas.microsoft.com/office/drawing/2014/main" val="10002"/>
                  </a:ext>
                </a:extLst>
              </a:tr>
              <a:tr h="320040">
                <a:tc>
                  <a:txBody>
                    <a:bodyPr/>
                    <a:lstStyle/>
                    <a:p>
                      <a:r>
                        <a:rPr sz="1100" b="0">
                          <a:solidFill>
                            <a:srgbClr val="0E2A47"/>
                          </a:solidFill>
                          <a:latin typeface="Calibri"/>
                        </a:rPr>
                        <a:t>Ximin</a:t>
                      </a:r>
                    </a:p>
                  </a:txBody>
                  <a:tcPr marL="73152" marR="54864" marT="18288" marB="18288" anchor="ctr">
                    <a:solidFill>
                      <a:srgbClr val="FFFFFF"/>
                    </a:solidFill>
                  </a:tcPr>
                </a:tc>
                <a:tc>
                  <a:txBody>
                    <a:bodyPr/>
                    <a:lstStyle/>
                    <a:p>
                      <a:r>
                        <a:rPr sz="1100" b="0">
                          <a:solidFill>
                            <a:srgbClr val="0E2A47"/>
                          </a:solidFill>
                          <a:latin typeface="Calibri"/>
                        </a:rPr>
                        <a:t>Documentation, testing &amp; QA</a:t>
                      </a:r>
                    </a:p>
                  </a:txBody>
                  <a:tcPr marL="73152" marR="54864" marT="18288" marB="18288" anchor="ctr">
                    <a:solidFill>
                      <a:srgbClr val="FFFFFF"/>
                    </a:solidFill>
                  </a:tcPr>
                </a:tc>
                <a:tc>
                  <a:txBody>
                    <a:bodyPr/>
                    <a:lstStyle/>
                    <a:p>
                      <a:r>
                        <a:rPr sz="1100" b="0">
                          <a:solidFill>
                            <a:srgbClr val="0E2A47"/>
                          </a:solidFill>
                          <a:latin typeface="Calibri"/>
                        </a:rPr>
                        <a:t>Testing checklist with expected ranges and run_sanity_checks.py (24 automated checks); labelled 1,000-row test subsets and their exact complements; decisions-and-issues notes; run log and master checklist; independent repo audit against the requirements; baseline benchmarking (linear regression and mean predictor); this presentation</a:t>
                      </a:r>
                    </a:p>
                  </a:txBody>
                  <a:tcPr marL="73152"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548640" y="3977639"/>
            <a:ext cx="11064240" cy="77724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77240" y="4114800"/>
            <a:ext cx="10607040" cy="548640"/>
          </a:xfrm>
          <a:prstGeom prst="rect">
            <a:avLst/>
          </a:prstGeom>
          <a:noFill/>
        </p:spPr>
        <p:txBody>
          <a:bodyPr wrap="square" lIns="27432" tIns="0" rIns="27432" bIns="0">
            <a:spAutoFit/>
          </a:bodyPr>
          <a:lstStyle/>
          <a:p>
            <a:pPr algn="l">
              <a:spcAft>
                <a:spcPts val="300"/>
              </a:spcAft>
            </a:pPr>
            <a:r>
              <a:rPr sz="1150" b="0">
                <a:solidFill>
                  <a:srgbClr val="0E2A47"/>
                </a:solidFill>
                <a:latin typeface="Calibri"/>
              </a:rPr>
              <a:t>Shared: the architecture was agreed jointly on Tuesday; integration issues found in QA were fixed by their owners on Wednesday and Thursday; all three members reviewed the final results.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6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74320"/>
            <a:ext cx="9692640" cy="548640"/>
          </a:xfrm>
          <a:prstGeom prst="rect">
            <a:avLst/>
          </a:prstGeom>
          <a:noFill/>
        </p:spPr>
        <p:txBody>
          <a:bodyPr wrap="square" lIns="27432" tIns="0" rIns="27432" bIns="0">
            <a:spAutoFit/>
          </a:bodyPr>
          <a:lstStyle/>
          <a:p>
            <a:pPr algn="l">
              <a:spcAft>
                <a:spcPts val="600"/>
              </a:spcAft>
            </a:pPr>
            <a:r>
              <a:rPr sz="2700" b="1">
                <a:solidFill>
                  <a:srgbClr val="0E2A47"/>
                </a:solidFill>
                <a:latin typeface="Calibri"/>
              </a:rPr>
              <a:t>Appendix: reference figures and formulas</a:t>
            </a:r>
          </a:p>
        </p:txBody>
      </p:sp>
      <p:sp>
        <p:nvSpPr>
          <p:cNvPr id="4" name="TextBox 3"/>
          <p:cNvSpPr txBox="1"/>
          <p:nvPr/>
        </p:nvSpPr>
        <p:spPr>
          <a:xfrm>
            <a:off x="530352" y="841248"/>
            <a:ext cx="10241280" cy="365760"/>
          </a:xfrm>
          <a:prstGeom prst="rect">
            <a:avLst/>
          </a:prstGeom>
          <a:noFill/>
        </p:spPr>
        <p:txBody>
          <a:bodyPr wrap="square" lIns="27432" tIns="0" rIns="27432" bIns="0">
            <a:spAutoFit/>
          </a:bodyPr>
          <a:lstStyle/>
          <a:p>
            <a:pPr algn="l">
              <a:spcAft>
                <a:spcPts val="600"/>
              </a:spcAft>
            </a:pPr>
            <a:r>
              <a:rPr sz="1300" b="0">
                <a:solidFill>
                  <a:srgbClr val="5A636B"/>
                </a:solidFill>
                <a:latin typeface="Calibri"/>
              </a:rPr>
              <a:t>Backup for questions</a:t>
            </a:r>
          </a:p>
        </p:txBody>
      </p:sp>
      <p:sp>
        <p:nvSpPr>
          <p:cNvPr id="5" name="TextBox 4"/>
          <p:cNvSpPr txBox="1"/>
          <p:nvPr/>
        </p:nvSpPr>
        <p:spPr>
          <a:xfrm>
            <a:off x="548640" y="1234440"/>
            <a:ext cx="5440680" cy="320040"/>
          </a:xfrm>
          <a:prstGeom prst="rect">
            <a:avLst/>
          </a:prstGeom>
          <a:noFill/>
        </p:spPr>
        <p:txBody>
          <a:bodyPr wrap="square" lIns="27432" tIns="0" rIns="27432" bIns="0">
            <a:spAutoFit/>
          </a:bodyPr>
          <a:lstStyle/>
          <a:p>
            <a:pPr algn="l">
              <a:spcAft>
                <a:spcPts val="600"/>
              </a:spcAft>
            </a:pPr>
            <a:r>
              <a:rPr sz="1200" b="1">
                <a:solidFill>
                  <a:srgbClr val="0E2A47"/>
                </a:solidFill>
                <a:latin typeface="Calibri"/>
              </a:rPr>
              <a:t>KEY FORMULAS</a:t>
            </a:r>
          </a:p>
        </p:txBody>
      </p:sp>
      <p:sp>
        <p:nvSpPr>
          <p:cNvPr id="6" name="Rounded Rectangle 5"/>
          <p:cNvSpPr/>
          <p:nvPr/>
        </p:nvSpPr>
        <p:spPr>
          <a:xfrm>
            <a:off x="548640" y="1572768"/>
            <a:ext cx="5440680" cy="196596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77240" y="1709928"/>
            <a:ext cx="5029200" cy="1737360"/>
          </a:xfrm>
          <a:prstGeom prst="rect">
            <a:avLst/>
          </a:prstGeom>
          <a:noFill/>
        </p:spPr>
        <p:txBody>
          <a:bodyPr wrap="square" lIns="27432" tIns="0" rIns="27432" bIns="0">
            <a:spAutoFit/>
          </a:bodyPr>
          <a:lstStyle/>
          <a:p>
            <a:pPr algn="l">
              <a:spcAft>
                <a:spcPts val="500"/>
              </a:spcAft>
            </a:pPr>
            <a:r>
              <a:rPr sz="1150" b="0">
                <a:solidFill>
                  <a:srgbClr val="0E2A47"/>
                </a:solidFill>
                <a:latin typeface="Calibri"/>
              </a:rPr>
              <a:t>R²  =  1 − Σ(yᵢ − ŷᵢ)² / Σ(yᵢ − ȳ)²</a:t>
            </a:r>
          </a:p>
          <a:p>
            <a:pPr algn="l">
              <a:spcAft>
                <a:spcPts val="500"/>
              </a:spcAft>
            </a:pPr>
            <a:endParaRPr sz="1150" b="0">
              <a:solidFill>
                <a:srgbClr val="0E2A47"/>
              </a:solidFill>
              <a:latin typeface="Calibri"/>
            </a:endParaRPr>
          </a:p>
          <a:p>
            <a:pPr algn="l">
              <a:spcAft>
                <a:spcPts val="500"/>
              </a:spcAft>
            </a:pPr>
            <a:r>
              <a:rPr sz="1150" b="0">
                <a:solidFill>
                  <a:srgbClr val="0E2A47"/>
                </a:solidFill>
                <a:latin typeface="Calibri"/>
              </a:rPr>
              <a:t>MSE  =  (1/n) Σ(yᵢ − ŷᵢ)²</a:t>
            </a:r>
          </a:p>
          <a:p>
            <a:pPr algn="l">
              <a:spcAft>
                <a:spcPts val="500"/>
              </a:spcAft>
            </a:pPr>
            <a:endParaRPr sz="1150" b="0">
              <a:solidFill>
                <a:srgbClr val="0E2A47"/>
              </a:solidFill>
              <a:latin typeface="Calibri"/>
            </a:endParaRPr>
          </a:p>
          <a:p>
            <a:pPr algn="l">
              <a:spcAft>
                <a:spcPts val="500"/>
              </a:spcAft>
            </a:pPr>
            <a:r>
              <a:rPr sz="1150" b="0">
                <a:solidFill>
                  <a:srgbClr val="0E2A47"/>
                </a:solidFill>
                <a:latin typeface="Calibri"/>
              </a:rPr>
              <a:t>sigmoid(z) = 1 / (1 + e^(−z));   sigmoid′(z) = sigmoid(z)(1 − sigmoid(z)),  max 0.25 at z = 0</a:t>
            </a:r>
          </a:p>
          <a:p>
            <a:pPr algn="l">
              <a:spcAft>
                <a:spcPts val="500"/>
              </a:spcAft>
            </a:pPr>
            <a:endParaRPr sz="1150" b="0">
              <a:solidFill>
                <a:srgbClr val="0E2A47"/>
              </a:solidFill>
              <a:latin typeface="Calibri"/>
            </a:endParaRPr>
          </a:p>
          <a:p>
            <a:pPr algn="l">
              <a:spcAft>
                <a:spcPts val="500"/>
              </a:spcAft>
            </a:pPr>
            <a:r>
              <a:rPr sz="1150" b="0">
                <a:solidFill>
                  <a:srgbClr val="0E2A47"/>
                </a:solidFill>
                <a:latin typeface="Calibri"/>
              </a:rPr>
              <a:t>Dense layer parameters = (inputs × units) + units</a:t>
            </a:r>
          </a:p>
        </p:txBody>
      </p:sp>
      <p:sp>
        <p:nvSpPr>
          <p:cNvPr id="8" name="TextBox 7"/>
          <p:cNvSpPr txBox="1"/>
          <p:nvPr/>
        </p:nvSpPr>
        <p:spPr>
          <a:xfrm>
            <a:off x="6172200" y="1234440"/>
            <a:ext cx="5440680" cy="320040"/>
          </a:xfrm>
          <a:prstGeom prst="rect">
            <a:avLst/>
          </a:prstGeom>
          <a:noFill/>
        </p:spPr>
        <p:txBody>
          <a:bodyPr wrap="square" lIns="27432" tIns="0" rIns="27432" bIns="0">
            <a:spAutoFit/>
          </a:bodyPr>
          <a:lstStyle/>
          <a:p>
            <a:pPr algn="l">
              <a:spcAft>
                <a:spcPts val="600"/>
              </a:spcAft>
            </a:pPr>
            <a:r>
              <a:rPr sz="1200" b="1">
                <a:solidFill>
                  <a:srgbClr val="0E2A47"/>
                </a:solidFill>
                <a:latin typeface="Calibri"/>
              </a:rPr>
              <a:t>ALL MEASURED NUMBERS IN ONE PLACE</a:t>
            </a:r>
          </a:p>
        </p:txBody>
      </p:sp>
      <p:graphicFrame>
        <p:nvGraphicFramePr>
          <p:cNvPr id="9" name="Table 8"/>
          <p:cNvGraphicFramePr>
            <a:graphicFrameLocks noGrp="1"/>
          </p:cNvGraphicFramePr>
          <p:nvPr/>
        </p:nvGraphicFramePr>
        <p:xfrm>
          <a:off x="6172200" y="1572768"/>
          <a:ext cx="5440680" cy="3017520"/>
        </p:xfrm>
        <a:graphic>
          <a:graphicData uri="http://schemas.openxmlformats.org/drawingml/2006/table">
            <a:tbl>
              <a:tblPr firstRow="1" bandRow="1">
                <a:tableStyleId>{5C22544A-7EE6-4342-B048-85BDC9FD1C3A}</a:tableStyleId>
              </a:tblPr>
              <a:tblGrid>
                <a:gridCol w="32461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301752">
                <a:tc>
                  <a:txBody>
                    <a:bodyPr/>
                    <a:lstStyle/>
                    <a:p>
                      <a:r>
                        <a:rPr sz="1150" b="1">
                          <a:solidFill>
                            <a:srgbClr val="FFFFFF"/>
                          </a:solidFill>
                          <a:latin typeface="Calibri"/>
                        </a:rPr>
                        <a:t>Quantity</a:t>
                      </a:r>
                    </a:p>
                  </a:txBody>
                  <a:tcPr marL="73152" marR="54864" marT="18288" marB="18288" anchor="ctr">
                    <a:solidFill>
                      <a:srgbClr val="0E2A47"/>
                    </a:solidFill>
                  </a:tcPr>
                </a:tc>
                <a:tc>
                  <a:txBody>
                    <a:bodyPr/>
                    <a:lstStyle/>
                    <a:p>
                      <a:r>
                        <a:rPr sz="1150" b="1">
                          <a:solidFill>
                            <a:srgbClr val="FFFFFF"/>
                          </a:solidFill>
                          <a:latin typeface="Calibri"/>
                        </a:rPr>
                        <a:t>Value</a:t>
                      </a:r>
                    </a:p>
                  </a:txBody>
                  <a:tcPr marL="73152" marR="54864" marT="18288" marB="18288" anchor="ctr">
                    <a:solidFill>
                      <a:srgbClr val="0E2A47"/>
                    </a:solidFill>
                  </a:tcPr>
                </a:tc>
                <a:extLst>
                  <a:ext uri="{0D108BD9-81ED-4DB2-BD59-A6C34878D82A}">
                    <a16:rowId xmlns:a16="http://schemas.microsoft.com/office/drawing/2014/main" val="10000"/>
                  </a:ext>
                </a:extLst>
              </a:tr>
              <a:tr h="301752">
                <a:tc>
                  <a:txBody>
                    <a:bodyPr/>
                    <a:lstStyle/>
                    <a:p>
                      <a:r>
                        <a:rPr sz="1100" b="0">
                          <a:solidFill>
                            <a:srgbClr val="0E2A47"/>
                          </a:solidFill>
                          <a:latin typeface="Calibri"/>
                        </a:rPr>
                        <a:t>Records / columns</a:t>
                      </a:r>
                    </a:p>
                  </a:txBody>
                  <a:tcPr marL="73152" marR="54864" marT="18288" marB="18288" anchor="ctr">
                    <a:solidFill>
                      <a:srgbClr val="FFFFFF"/>
                    </a:solidFill>
                  </a:tcPr>
                </a:tc>
                <a:tc>
                  <a:txBody>
                    <a:bodyPr/>
                    <a:lstStyle/>
                    <a:p>
                      <a:r>
                        <a:rPr sz="1100" b="0">
                          <a:solidFill>
                            <a:srgbClr val="0E2A47"/>
                          </a:solidFill>
                          <a:latin typeface="Calibri"/>
                        </a:rPr>
                        <a:t>500,000 / 6</a:t>
                      </a:r>
                    </a:p>
                  </a:txBody>
                  <a:tcPr marL="73152" marR="54864" marT="18288" marB="18288" anchor="ctr">
                    <a:solidFill>
                      <a:srgbClr val="FFFFFF"/>
                    </a:solidFill>
                  </a:tcPr>
                </a:tc>
                <a:extLst>
                  <a:ext uri="{0D108BD9-81ED-4DB2-BD59-A6C34878D82A}">
                    <a16:rowId xmlns:a16="http://schemas.microsoft.com/office/drawing/2014/main" val="10001"/>
                  </a:ext>
                </a:extLst>
              </a:tr>
              <a:tr h="301752">
                <a:tc>
                  <a:txBody>
                    <a:bodyPr/>
                    <a:lstStyle/>
                    <a:p>
                      <a:r>
                        <a:rPr sz="1100" b="0">
                          <a:solidFill>
                            <a:srgbClr val="0E2A47"/>
                          </a:solidFill>
                          <a:latin typeface="Calibri"/>
                        </a:rPr>
                        <a:t>Train / test rows</a:t>
                      </a:r>
                    </a:p>
                  </a:txBody>
                  <a:tcPr marL="73152" marR="54864" marT="18288" marB="18288" anchor="ctr">
                    <a:solidFill>
                      <a:srgbClr val="F2F4F7"/>
                    </a:solidFill>
                  </a:tcPr>
                </a:tc>
                <a:tc>
                  <a:txBody>
                    <a:bodyPr/>
                    <a:lstStyle/>
                    <a:p>
                      <a:r>
                        <a:rPr sz="1100" b="0">
                          <a:solidFill>
                            <a:srgbClr val="0E2A47"/>
                          </a:solidFill>
                          <a:latin typeface="Calibri"/>
                        </a:rPr>
                        <a:t>400,000 / 100,000</a:t>
                      </a:r>
                    </a:p>
                  </a:txBody>
                  <a:tcPr marL="73152" marR="54864" marT="18288" marB="18288" anchor="ctr">
                    <a:solidFill>
                      <a:srgbClr val="F2F4F7"/>
                    </a:solidFill>
                  </a:tcPr>
                </a:tc>
                <a:extLst>
                  <a:ext uri="{0D108BD9-81ED-4DB2-BD59-A6C34878D82A}">
                    <a16:rowId xmlns:a16="http://schemas.microsoft.com/office/drawing/2014/main" val="10002"/>
                  </a:ext>
                </a:extLst>
              </a:tr>
              <a:tr h="301752">
                <a:tc>
                  <a:txBody>
                    <a:bodyPr/>
                    <a:lstStyle/>
                    <a:p>
                      <a:r>
                        <a:rPr sz="1100" b="0">
                          <a:solidFill>
                            <a:srgbClr val="0E2A47"/>
                          </a:solidFill>
                          <a:latin typeface="Calibri"/>
                        </a:rPr>
                        <a:t>Mini-batches (updates)</a:t>
                      </a:r>
                    </a:p>
                  </a:txBody>
                  <a:tcPr marL="73152" marR="54864" marT="18288" marB="18288" anchor="ctr">
                    <a:solidFill>
                      <a:srgbClr val="FFFFFF"/>
                    </a:solidFill>
                  </a:tcPr>
                </a:tc>
                <a:tc>
                  <a:txBody>
                    <a:bodyPr/>
                    <a:lstStyle/>
                    <a:p>
                      <a:r>
                        <a:rPr sz="1100" b="0">
                          <a:solidFill>
                            <a:srgbClr val="0E2A47"/>
                          </a:solidFill>
                          <a:latin typeface="Calibri"/>
                        </a:rPr>
                        <a:t>12,500</a:t>
                      </a:r>
                    </a:p>
                  </a:txBody>
                  <a:tcPr marL="73152" marR="54864" marT="18288" marB="18288" anchor="ctr">
                    <a:solidFill>
                      <a:srgbClr val="FFFFFF"/>
                    </a:solidFill>
                  </a:tcPr>
                </a:tc>
                <a:extLst>
                  <a:ext uri="{0D108BD9-81ED-4DB2-BD59-A6C34878D82A}">
                    <a16:rowId xmlns:a16="http://schemas.microsoft.com/office/drawing/2014/main" val="10003"/>
                  </a:ext>
                </a:extLst>
              </a:tr>
              <a:tr h="301752">
                <a:tc>
                  <a:txBody>
                    <a:bodyPr/>
                    <a:lstStyle/>
                    <a:p>
                      <a:r>
                        <a:rPr sz="1100" b="0">
                          <a:solidFill>
                            <a:srgbClr val="0E2A47"/>
                          </a:solidFill>
                          <a:latin typeface="Calibri"/>
                        </a:rPr>
                        <a:t>Parameters</a:t>
                      </a:r>
                    </a:p>
                  </a:txBody>
                  <a:tcPr marL="73152" marR="54864" marT="18288" marB="18288" anchor="ctr">
                    <a:solidFill>
                      <a:srgbClr val="F2F4F7"/>
                    </a:solidFill>
                  </a:tcPr>
                </a:tc>
                <a:tc>
                  <a:txBody>
                    <a:bodyPr/>
                    <a:lstStyle/>
                    <a:p>
                      <a:r>
                        <a:rPr sz="1100" b="0">
                          <a:solidFill>
                            <a:srgbClr val="0E2A47"/>
                          </a:solidFill>
                          <a:latin typeface="Calibri"/>
                        </a:rPr>
                        <a:t>3,009</a:t>
                      </a:r>
                    </a:p>
                  </a:txBody>
                  <a:tcPr marL="73152" marR="54864" marT="18288" marB="18288" anchor="ctr">
                    <a:solidFill>
                      <a:srgbClr val="F2F4F7"/>
                    </a:solidFill>
                  </a:tcPr>
                </a:tc>
                <a:extLst>
                  <a:ext uri="{0D108BD9-81ED-4DB2-BD59-A6C34878D82A}">
                    <a16:rowId xmlns:a16="http://schemas.microsoft.com/office/drawing/2014/main" val="10004"/>
                  </a:ext>
                </a:extLst>
              </a:tr>
              <a:tr h="301752">
                <a:tc>
                  <a:txBody>
                    <a:bodyPr/>
                    <a:lstStyle/>
                    <a:p>
                      <a:r>
                        <a:rPr sz="1100" b="0">
                          <a:solidFill>
                            <a:srgbClr val="0E2A47"/>
                          </a:solidFill>
                          <a:latin typeface="Calibri"/>
                        </a:rPr>
                        <a:t>Train R² / Test R²</a:t>
                      </a:r>
                    </a:p>
                  </a:txBody>
                  <a:tcPr marL="73152" marR="54864" marT="18288" marB="18288" anchor="ctr">
                    <a:solidFill>
                      <a:srgbClr val="FFFFFF"/>
                    </a:solidFill>
                  </a:tcPr>
                </a:tc>
                <a:tc>
                  <a:txBody>
                    <a:bodyPr/>
                    <a:lstStyle/>
                    <a:p>
                      <a:r>
                        <a:rPr sz="1100" b="0">
                          <a:solidFill>
                            <a:srgbClr val="0E2A47"/>
                          </a:solidFill>
                          <a:latin typeface="Calibri"/>
                        </a:rPr>
                        <a:t>0.5362 / 0.5356</a:t>
                      </a:r>
                    </a:p>
                  </a:txBody>
                  <a:tcPr marL="73152" marR="54864" marT="18288" marB="18288" anchor="ctr">
                    <a:solidFill>
                      <a:srgbClr val="FFFFFF"/>
                    </a:solidFill>
                  </a:tcPr>
                </a:tc>
                <a:extLst>
                  <a:ext uri="{0D108BD9-81ED-4DB2-BD59-A6C34878D82A}">
                    <a16:rowId xmlns:a16="http://schemas.microsoft.com/office/drawing/2014/main" val="10005"/>
                  </a:ext>
                </a:extLst>
              </a:tr>
              <a:tr h="301752">
                <a:tc>
                  <a:txBody>
                    <a:bodyPr/>
                    <a:lstStyle/>
                    <a:p>
                      <a:r>
                        <a:rPr sz="1100" b="0">
                          <a:solidFill>
                            <a:srgbClr val="0E2A47"/>
                          </a:solidFill>
                          <a:latin typeface="Calibri"/>
                        </a:rPr>
                        <a:t>Train MSE / Test MSE</a:t>
                      </a:r>
                    </a:p>
                  </a:txBody>
                  <a:tcPr marL="73152" marR="54864" marT="18288" marB="18288" anchor="ctr">
                    <a:solidFill>
                      <a:srgbClr val="F2F4F7"/>
                    </a:solidFill>
                  </a:tcPr>
                </a:tc>
                <a:tc>
                  <a:txBody>
                    <a:bodyPr/>
                    <a:lstStyle/>
                    <a:p>
                      <a:r>
                        <a:rPr sz="1100" b="0">
                          <a:solidFill>
                            <a:srgbClr val="0E2A47"/>
                          </a:solidFill>
                          <a:latin typeface="Calibri"/>
                        </a:rPr>
                        <a:t>1,191.3 / 1,151.2</a:t>
                      </a:r>
                    </a:p>
                  </a:txBody>
                  <a:tcPr marL="73152" marR="54864" marT="18288" marB="18288" anchor="ctr">
                    <a:solidFill>
                      <a:srgbClr val="F2F4F7"/>
                    </a:solidFill>
                  </a:tcPr>
                </a:tc>
                <a:extLst>
                  <a:ext uri="{0D108BD9-81ED-4DB2-BD59-A6C34878D82A}">
                    <a16:rowId xmlns:a16="http://schemas.microsoft.com/office/drawing/2014/main" val="10006"/>
                  </a:ext>
                </a:extLst>
              </a:tr>
              <a:tr h="301752">
                <a:tc>
                  <a:txBody>
                    <a:bodyPr/>
                    <a:lstStyle/>
                    <a:p>
                      <a:r>
                        <a:rPr sz="1100" b="0">
                          <a:solidFill>
                            <a:srgbClr val="0E2A47"/>
                          </a:solidFill>
                          <a:latin typeface="Calibri"/>
                        </a:rPr>
                        <a:t>Test RMSE</a:t>
                      </a:r>
                    </a:p>
                  </a:txBody>
                  <a:tcPr marL="73152" marR="54864" marT="18288" marB="18288" anchor="ctr">
                    <a:solidFill>
                      <a:srgbClr val="FFFFFF"/>
                    </a:solidFill>
                  </a:tcPr>
                </a:tc>
                <a:tc>
                  <a:txBody>
                    <a:bodyPr/>
                    <a:lstStyle/>
                    <a:p>
                      <a:r>
                        <a:rPr sz="1100" b="0">
                          <a:solidFill>
                            <a:srgbClr val="0E2A47"/>
                          </a:solidFill>
                          <a:latin typeface="Calibri"/>
                        </a:rPr>
                        <a:t>33.93</a:t>
                      </a:r>
                    </a:p>
                  </a:txBody>
                  <a:tcPr marL="73152" marR="54864" marT="18288" marB="18288" anchor="ctr">
                    <a:solidFill>
                      <a:srgbClr val="FFFFFF"/>
                    </a:solidFill>
                  </a:tcPr>
                </a:tc>
                <a:extLst>
                  <a:ext uri="{0D108BD9-81ED-4DB2-BD59-A6C34878D82A}">
                    <a16:rowId xmlns:a16="http://schemas.microsoft.com/office/drawing/2014/main" val="10007"/>
                  </a:ext>
                </a:extLst>
              </a:tr>
              <a:tr h="301752">
                <a:tc>
                  <a:txBody>
                    <a:bodyPr/>
                    <a:lstStyle/>
                    <a:p>
                      <a:r>
                        <a:rPr sz="1100" b="0">
                          <a:solidFill>
                            <a:srgbClr val="0E2A47"/>
                          </a:solidFill>
                          <a:latin typeface="Calibri"/>
                        </a:rPr>
                        <a:t>Training time</a:t>
                      </a:r>
                    </a:p>
                  </a:txBody>
                  <a:tcPr marL="73152" marR="54864" marT="18288" marB="18288" anchor="ctr">
                    <a:solidFill>
                      <a:srgbClr val="F2F4F7"/>
                    </a:solidFill>
                  </a:tcPr>
                </a:tc>
                <a:tc>
                  <a:txBody>
                    <a:bodyPr/>
                    <a:lstStyle/>
                    <a:p>
                      <a:r>
                        <a:rPr sz="1100" b="0">
                          <a:solidFill>
                            <a:srgbClr val="0E2A47"/>
                          </a:solidFill>
                          <a:latin typeface="Calibri"/>
                        </a:rPr>
                        <a:t>44.96 s</a:t>
                      </a:r>
                    </a:p>
                  </a:txBody>
                  <a:tcPr marL="73152" marR="54864" marT="18288" marB="18288" anchor="ctr">
                    <a:solidFill>
                      <a:srgbClr val="F2F4F7"/>
                    </a:solidFill>
                  </a:tcPr>
                </a:tc>
                <a:extLst>
                  <a:ext uri="{0D108BD9-81ED-4DB2-BD59-A6C34878D82A}">
                    <a16:rowId xmlns:a16="http://schemas.microsoft.com/office/drawing/2014/main" val="10008"/>
                  </a:ext>
                </a:extLst>
              </a:tr>
              <a:tr h="301752">
                <a:tc>
                  <a:txBody>
                    <a:bodyPr/>
                    <a:lstStyle/>
                    <a:p>
                      <a:r>
                        <a:rPr sz="1100" b="0">
                          <a:solidFill>
                            <a:srgbClr val="0E2A47"/>
                          </a:solidFill>
                          <a:latin typeface="Calibri"/>
                        </a:rPr>
                        <a:t>Peak RAM during training</a:t>
                      </a:r>
                    </a:p>
                  </a:txBody>
                  <a:tcPr marL="73152" marR="54864" marT="18288" marB="18288" anchor="ctr">
                    <a:solidFill>
                      <a:srgbClr val="FFFFFF"/>
                    </a:solidFill>
                  </a:tcPr>
                </a:tc>
                <a:tc>
                  <a:txBody>
                    <a:bodyPr/>
                    <a:lstStyle/>
                    <a:p>
                      <a:r>
                        <a:rPr sz="1100" b="0">
                          <a:solidFill>
                            <a:srgbClr val="0E2A47"/>
                          </a:solidFill>
                          <a:latin typeface="Calibri"/>
                        </a:rPr>
                        <a:t>423.7 MB</a:t>
                      </a:r>
                    </a:p>
                  </a:txBody>
                  <a:tcPr marL="73152" marR="54864" marT="18288" marB="18288" anchor="ctr">
                    <a:solidFill>
                      <a:srgbClr val="FFFFFF"/>
                    </a:solidFill>
                  </a:tcPr>
                </a:tc>
                <a:extLst>
                  <a:ext uri="{0D108BD9-81ED-4DB2-BD59-A6C34878D82A}">
                    <a16:rowId xmlns:a16="http://schemas.microsoft.com/office/drawing/2014/main" val="10009"/>
                  </a:ext>
                </a:extLst>
              </a:tr>
            </a:tbl>
          </a:graphicData>
        </a:graphic>
      </p:graphicFrame>
      <p:sp>
        <p:nvSpPr>
          <p:cNvPr id="10" name="TextBox 9"/>
          <p:cNvSpPr txBox="1"/>
          <p:nvPr/>
        </p:nvSpPr>
        <p:spPr>
          <a:xfrm>
            <a:off x="548640" y="3703320"/>
            <a:ext cx="5440680" cy="320040"/>
          </a:xfrm>
          <a:prstGeom prst="rect">
            <a:avLst/>
          </a:prstGeom>
          <a:noFill/>
        </p:spPr>
        <p:txBody>
          <a:bodyPr wrap="square" lIns="27432" tIns="0" rIns="27432" bIns="0">
            <a:spAutoFit/>
          </a:bodyPr>
          <a:lstStyle/>
          <a:p>
            <a:pPr algn="l">
              <a:spcAft>
                <a:spcPts val="600"/>
              </a:spcAft>
            </a:pPr>
            <a:r>
              <a:rPr sz="1200" b="1">
                <a:solidFill>
                  <a:srgbClr val="B06A00"/>
                </a:solidFill>
                <a:latin typeface="Calibri"/>
              </a:rPr>
              <a:t>FIRST-VS-LAST BATCH CAUTION</a:t>
            </a:r>
          </a:p>
        </p:txBody>
      </p:sp>
      <p:sp>
        <p:nvSpPr>
          <p:cNvPr id="11" name="Rounded Rectangle 10"/>
          <p:cNvSpPr/>
          <p:nvPr/>
        </p:nvSpPr>
        <p:spPr>
          <a:xfrm>
            <a:off x="548640" y="4041648"/>
            <a:ext cx="5440680" cy="1371600"/>
          </a:xfrm>
          <a:prstGeom prst="roundRect">
            <a:avLst/>
          </a:prstGeom>
          <a:solidFill>
            <a:srgbClr val="FF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77240" y="4178808"/>
            <a:ext cx="5029200" cy="1143000"/>
          </a:xfrm>
          <a:prstGeom prst="rect">
            <a:avLst/>
          </a:prstGeom>
          <a:noFill/>
        </p:spPr>
        <p:txBody>
          <a:bodyPr wrap="square" lIns="27432" tIns="0" rIns="27432" bIns="0">
            <a:spAutoFit/>
          </a:bodyPr>
          <a:lstStyle/>
          <a:p>
            <a:pPr algn="l">
              <a:spcAft>
                <a:spcPts val="400"/>
              </a:spcAft>
            </a:pPr>
            <a:r>
              <a:rPr sz="1150" b="0">
                <a:solidFill>
                  <a:srgbClr val="0E2A47"/>
                </a:solidFill>
                <a:latin typeface="Calibri"/>
              </a:rPr>
              <a:t>metrics.csv records MSE_first_batch = 455.5 and MSE_last_batch = 1,747.0.</a:t>
            </a:r>
          </a:p>
          <a:p>
            <a:pPr algn="l">
              <a:spcAft>
                <a:spcPts val="400"/>
              </a:spcAft>
            </a:pPr>
            <a:endParaRPr sz="1150" b="0">
              <a:solidFill>
                <a:srgbClr val="0E2A47"/>
              </a:solidFill>
              <a:latin typeface="Calibri"/>
            </a:endParaRPr>
          </a:p>
          <a:p>
            <a:pPr algn="l">
              <a:spcAft>
                <a:spcPts val="400"/>
              </a:spcAft>
            </a:pPr>
            <a:r>
              <a:rPr sz="1150" b="0">
                <a:solidFill>
                  <a:srgbClr val="0E2A47"/>
                </a:solidFill>
                <a:latin typeface="Calibri"/>
              </a:rPr>
              <a:t>Do NOT present this as the model getting worse. These are single 32-row batches, and batch MSE swings from ~300 to ~5,000 purely on composition. The moving average is the only valid read, and it fell 1,513 → 1,233.</a:t>
            </a:r>
          </a:p>
        </p:txBody>
      </p:sp>
      <p:sp>
        <p:nvSpPr>
          <p:cNvPr id="13" name="TextBox 12"/>
          <p:cNvSpPr txBox="1"/>
          <p:nvPr/>
        </p:nvSpPr>
        <p:spPr>
          <a:xfrm>
            <a:off x="548640" y="5532120"/>
            <a:ext cx="11064240" cy="1051560"/>
          </a:xfrm>
          <a:prstGeom prst="rect">
            <a:avLst/>
          </a:prstGeom>
          <a:noFill/>
        </p:spPr>
        <p:txBody>
          <a:bodyPr wrap="square" lIns="27432" tIns="0" rIns="27432" bIns="0">
            <a:spAutoFit/>
          </a:bodyPr>
          <a:lstStyle/>
          <a:p>
            <a:pPr algn="l">
              <a:spcAft>
                <a:spcPts val="400"/>
              </a:spcAft>
            </a:pPr>
            <a:r>
              <a:rPr sz="1100" b="0">
                <a:solidFill>
                  <a:srgbClr val="5A636B"/>
                </a:solidFill>
                <a:latin typeface="Calibri"/>
              </a:rPr>
              <a:t>Files behind this deck:  metrics.csv (summary)  ·  batch_metrics.csv (12,500 per-batch MSE + moving average)  ·  memory_log.csv (12,506 psutil measurements)  ·  variable_importance.csv  ·  learning_curve.png  ·  variable_importance.png  ·  make_pdp.py (produces the PDP figures)</a:t>
            </a:r>
          </a:p>
          <a:p>
            <a:pPr algn="l">
              <a:spcAft>
                <a:spcPts val="400"/>
              </a:spcAft>
            </a:pPr>
            <a:r>
              <a:rPr sz="1100" b="0">
                <a:solidFill>
                  <a:srgbClr val="5A636B"/>
                </a:solidFill>
                <a:latin typeface="Calibri"/>
              </a:rPr>
              <a:t>Code: config.py · data_handler.py · model.py · evaluate.py · main.py · test_integration.py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5812</Words>
  <Application>Microsoft Office PowerPoint</Application>
  <PresentationFormat>Widescreen</PresentationFormat>
  <Paragraphs>570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xzeng3</cp:lastModifiedBy>
  <cp:revision>2</cp:revision>
  <dcterms:created xsi:type="dcterms:W3CDTF">2013-01-27T09:14:16Z</dcterms:created>
  <dcterms:modified xsi:type="dcterms:W3CDTF">2026-09-18T04:47:16Z</dcterms:modified>
  <cp:category/>
</cp:coreProperties>
</file>