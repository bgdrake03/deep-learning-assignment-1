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02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Group 7. Title slide carries the group ID as required; the filename does too.</a:t>
            </a:r>
          </a:p>
          <a:p>
            <a:endParaRPr/>
          </a:p>
          <a:p>
            <a:r>
              <a:t>One-line framing: we trained a 3-hidden-layer sigmoid network on 500,000 records using mini-batch incremental updates, never holding the model's training state for more than 32 records at a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Index slide so the grader can confirm completeness immediately.</a:t>
            </a:r>
          </a:p>
          <a:p>
            <a:endParaRPr/>
          </a:p>
          <a:p>
            <a:r>
              <a:t>All eight required elements are present. Partial dependence spans two slides: the plots themselves, then how to read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is confidential; we report only aggregate statistics.</a:t>
            </a:r>
          </a:p>
          <a:p>
            <a:endParaRPr/>
          </a:p>
          <a:p>
            <a:r>
              <a:t>The skew matters: mean quantity is 22.8 but the max is 4,165, and the median is 7. That long right tail is what makes squared error large in absolute terms and is why MSE values in the thousands are normal here rather than a sign of failure.</a:t>
            </a:r>
          </a:p>
          <a:p>
            <a:endParaRPr/>
          </a:p>
          <a:p>
            <a:r>
              <a:t>Split is 80/20 with seed 42. The scaler is fit on training rows only and applied to test — no leakage.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Exactly what the assignment specifies: three hidden layers, sigmoid activation.</a:t>
            </a:r>
          </a:p>
          <a:p>
            <a:endParaRPr/>
          </a:p>
          <a:p>
            <a:r>
              <a:t>64 / 32 / 16 is a tapering funnel — each layer compresses the representation.</a:t>
            </a:r>
          </a:p>
          <a:p>
            <a:endParaRPr/>
          </a:p>
          <a:p>
            <a:r>
              <a:t>Parameter count, derivable by hand for the exam: (5x64+64)=384, (64x32+32)=2,080, (32x16+16)=528, (16x1+1)=17. Total 3,009.</a:t>
            </a:r>
          </a:p>
          <a:p>
            <a:endParaRPr/>
          </a:p>
          <a:p>
            <a:r>
              <a:t>The OUTPUT layer is linear, not sigmoid. Sigmoid outputs are bounded to (0,1); quantity ranges to 4,165. A sigmoid output could never reach the target values. Only the three HIDDEN layers use sigmoid.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config.py holds every hyperparameter — nothing is hard-coded in the training loop, so any run is reproducible from one file.</a:t>
            </a:r>
          </a:p>
          <a:p>
            <a:endParaRPr/>
          </a:p>
          <a:p>
            <a:r>
              <a:t>data_handler.py splits, scales, and yields mini-batches through a generator.</a:t>
            </a:r>
          </a:p>
          <a:p>
            <a:endParaRPr/>
          </a:p>
          <a:p>
            <a:r>
              <a:t>main.py is the incremental loop: pull 32 rows, one gradient update, record MSE and RAM, repeat 12,500 times.</a:t>
            </a:r>
          </a:p>
          <a:p>
            <a:endParaRPr/>
          </a:p>
          <a:p>
            <a:r>
              <a:t>model.py builds the network; evaluate.py holds R2/MSE/moving-average; results/ collects all artifacts.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heart of the assignment and the most likely pen-and-paper exam target.</a:t>
            </a:r>
          </a:p>
          <a:p>
            <a:endParaRPr/>
          </a:p>
          <a:p>
            <a:r>
              <a:t>Key distinction: model.fit() would internally manage epochs and batching over the whole array. train_on_batch does exactly one forward pass, one backward pass, one Adam update, on the 32 rows handed to it — then returns. We control the loop.</a:t>
            </a:r>
          </a:p>
          <a:p>
            <a:endParaRPr/>
          </a:p>
          <a:p>
            <a:r>
              <a:t>Loss is MSE; optimizer is Adam. train_on_batch returns [loss, mae] because metrics=['mae'] is attached, which is why we index [0]. Taking the whole list would silently fill the learning curve with MAE instead of MSE.</a:t>
            </a:r>
          </a:p>
          <a:p>
            <a:endParaRPr/>
          </a:p>
          <a:p>
            <a:r>
              <a:t>400,000 / 32 = 12,500 updates in a single epoch.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R2 = 1 - SSE/SST. Reported with the formula from the assignment.</a:t>
            </a:r>
          </a:p>
          <a:p>
            <a:endParaRPr/>
          </a:p>
          <a:p>
            <a:r>
              <a:t>The test set is 100,000 rows held out by train_test_split before any scaling or training. The StandardScaler is fit on training rows only.</a:t>
            </a:r>
          </a:p>
          <a:p>
            <a:endParaRPr/>
          </a:p>
          <a:p>
            <a:r>
              <a:t>The train/test gap is 0.0006 — essentially zero. That means no overfitting. But a tiny gap alone is not proof of a good model: a model that learns nothing also generalizes perfectly. What makes it meaningful here is that we clear the linear-regression baseline of 0.3744 by a wide margin, so the model has genuinely learned non-linear structure.</a:t>
            </a:r>
          </a:p>
          <a:p>
            <a:endParaRPr/>
          </a:p>
          <a:p>
            <a:r>
              <a:t>If asked what more is available: gradient boosting on the same five features reaches about 0.59, so roughly 0.05 R2 of headroom remains.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X-axis is instances learned (0 to 400,000), y-axis is the moving average of batch MSE — exactly as the assignment specifies.</a:t>
            </a:r>
          </a:p>
          <a:p>
            <a:endParaRPr/>
          </a:p>
          <a:p>
            <a:r>
              <a:t>We smooth because raw per-batch MSE on 32 records swings between roughly 300 and 5,000 purely from which rows land in the batch. The 1,000-batch moving average shows the trend: 1,513 down to 1,233.</a:t>
            </a:r>
          </a:p>
          <a:p>
            <a:endParaRPr/>
          </a:p>
          <a:p>
            <a:r>
              <a:t>Do NOT quote MSE_first_batch (455) against MSE_last_batch (1,747) — those are two single noisy batches and would wrongly suggest the model got worse. The moving average is the defensible number.</a:t>
            </a:r>
          </a:p>
          <a:p>
            <a:endParaRPr/>
          </a:p>
          <a:p>
            <a:r>
              <a:t>The curve is still declining at the end, which says a second epoch would likely help.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Permutation importance: shuffle one column in the test set, re-predict, measure how far R2 falls. Model is never retrained.</a:t>
            </a:r>
          </a:p>
          <a:p>
            <a:endParaRPr/>
          </a:p>
          <a:p>
            <a:r>
              <a:t>duration scores 0.9705. Our test R2 is 0.5356, so destroying duration drops R2 to roughly -0.43 — worse than simply predicting the mean. The model is heavily dependent on it.</a:t>
            </a:r>
          </a:p>
          <a:p>
            <a:endParaRPr/>
          </a:p>
          <a:p>
            <a:r>
              <a:t>That also answers a likely question: importances need not sum to 1 and can exceed the model's R2, because a shuffled column injects actively misleading signal rather than merely removing information.</a:t>
            </a:r>
          </a:p>
          <a:p>
            <a:endParaRPr/>
          </a:p>
          <a:p>
            <a:r>
              <a:t>sku at 0.003 is effectively noise — the network learned almost nothing from the product identifier, which is sensible since it is an arbitrary ID.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PDP method: take test rows, sweep one feature across a grid of values, average the model's prediction at each grid point. This isolates that feature's marginal effect.</a:t>
            </a:r>
          </a:p>
          <a:p>
            <a:endParaRPr/>
          </a:p>
          <a:p>
            <a:r>
              <a:t>The five panels confirm the importance ranking independently: duration has by far the widest prediction range, price is second, and sku is flat.</a:t>
            </a:r>
          </a:p>
          <a:p>
            <a:endParaRPr/>
          </a:p>
          <a:p>
            <a:r>
              <a:t>Directions are economically sensible — price slopes DOWN (a demand curve: higher price, fewer units) and duration slopes UP (longer on the site, more units sold). The model learned real structure, not noise.</a:t>
            </a:r>
          </a:p>
          <a:p>
            <a:endParaRPr/>
          </a:p>
          <a:p>
            <a:r>
              <a:t>ACTION: run the team's partial_dependence.py, then paste results/plots/partial_dependence_plots.png into the white box and delete the box.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one that shows we understood the method rather than just ran it.</a:t>
            </a:r>
          </a:p>
          <a:p>
            <a:endParaRPr/>
          </a:p>
          <a:p>
            <a:r>
              <a:t>Measured on the real test set: the interval containing 98% of the data covers only 10.9% of the plotted x-axis for price, 18.4% for duration, and 34.4% for order. So most of the visible curve lies in regions with almost no training data, where the network is extrapolating.</a:t>
            </a:r>
          </a:p>
          <a:p>
            <a:endParaRPr/>
          </a:p>
          <a:p>
            <a:r>
              <a:t>Concrete example: the duration panel rises to about 560 predicted units at the far right. The 99.9th percentile of actual quantity in the whole dataset is 544. That endpoint is an artifact of extrapolating a sigmoid network far outside the data, not a real prediction.</a:t>
            </a:r>
          </a:p>
          <a:p>
            <a:endParaRPr/>
          </a:p>
          <a:p>
            <a:r>
              <a:t>Same for order: it looks like it climbs steeply, but empirically mean quantity by order decile is roughly flat (correlation 0.04) and its permutation importance is 0.012. The visible rise sits in a tail holding under 1% of records. The flat-where-data-exists reading is the correct one and is consistent with the importance plot.</a:t>
            </a:r>
          </a:p>
          <a:p>
            <a:endParaRPr/>
          </a:p>
          <a:p>
            <a:r>
              <a:t>Fix if asked: restrict the PDP grid to the 1st-99th percentile instead of min-max, and add a rug or histogram of the data density underneath each panel.</a:t>
            </a:r>
          </a:p>
          <a:p>
            <a:endParaRPr/>
          </a:p>
          <a:p>
            <a:r>
              <a:t>Also note PDPs show association under a ceteris-paribus assumption; they do not prove causation and do not capture feature interactions.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evidence that incremental learning actually works.</a:t>
            </a:r>
          </a:p>
          <a:p>
            <a:endParaRPr/>
          </a:p>
          <a:p>
            <a:r>
              <a:t>The number that matters is 6.5 MB of drift across 12,500 weight updates. Memory is essentially flat during the loop, which proves no accumulation per batch. A memory leak would show a steady climb.</a:t>
            </a:r>
          </a:p>
          <a:p>
            <a:endParaRPr/>
          </a:p>
          <a:p>
            <a:r>
              <a:t>Honest caveat we should state: our peak RSS reaches 553 MB, but that spike happens AFTER training, when model.predict is called on all 400,000 rows at once for evaluation. It is not part of the incremental loop. Training itself peaks at 423.7 MB.</a:t>
            </a:r>
          </a:p>
          <a:p>
            <a:endParaRPr/>
          </a:p>
          <a:p>
            <a:r>
              <a:t>Second honest caveat: data_handler.py currently reads the whole CSV with pd.read_csv, so ingestion is not yet chunked — only training is incremental. At 19 MB that is fine, but for data truly larger than RAM we would swap in pd.read_csv(chunksize=...). The training loop itself needs no change, which is the point.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seconds for one full pass on CPU.</a:t>
            </a:r>
          </a:p>
          <a:p>
            <a:endParaRPr/>
          </a:p>
          <a:p>
            <a:r>
              <a:t>The cost here is overhead, not arithmetic. 3,009 parameters is tiny; what takes the time is crossing from Python into TensorFlow 12,500 separate times. Larger batches amortize that — we measured batch 256 running roughly 3.5x faster per epoch.</a:t>
            </a:r>
          </a:p>
          <a:p>
            <a:endParaRPr/>
          </a:p>
          <a:p>
            <a:r>
              <a:t>If asked about the tradeoff: larger batches mean fewer weight updates per epoch, so at a fixed single epoch, batch 256 actually scores slightly lower R2 than batch 32. The win only appears when the saved time is spent on more epochs.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element: statement of who did what.</a:t>
            </a:r>
          </a:p>
          <a:p>
            <a:endParaRPr/>
          </a:p>
          <a:p>
            <a:r>
              <a:t>Confirm these descriptions with Ansley and Rebecca before submitting — accuracy matters more than balance here.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 stating limitations openly reads as understanding, not weakness.</a:t>
            </a:r>
          </a:p>
          <a:p>
            <a:endParaRPr/>
          </a:p>
          <a:p>
            <a:r>
              <a:t>The sigmoid point is worth being able to defend: the sigmoid derivative peaks at 0.25, so stacking three of them attenuates the gradient reaching the first hidden layer by at most 0.25^3, roughly 0.016, and in practice far more. That throttles early-layer learning, which matters a lot when we only get one pass over the data. The assignment required sigmoid, so this is an observation rather than a complaint.</a:t>
            </a:r>
          </a:p>
          <a:p>
            <a:endParaRPr/>
          </a:p>
          <a:p>
            <a:r>
              <a:t>Category is currently fed as an integer 0-32, which implies an ordering that does not exist. One-hot encoding is the correct treatment and is our clearest next improvement.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0" y="5138928"/>
            <a:ext cx="12191695" cy="50292"/>
          </a:xfrm>
          <a:prstGeom prst="roundRect">
            <a:avLst>
              <a:gd name="adj" fmla="val 6000"/>
            </a:avLst>
          </a:pr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00200"/>
            <a:ext cx="10515600" cy="457200"/>
          </a:xfrm>
          <a:prstGeom prst="rect">
            <a:avLst/>
          </a:prstGeom>
          <a:noFill/>
        </p:spPr>
        <p:txBody>
          <a:bodyPr wrap="square" lIns="0" tIns="0" rIns="0" bIns="0">
            <a:spAutoFit/>
          </a:bodyPr>
          <a:lstStyle/>
          <a:p>
            <a:pPr algn="ctr">
              <a:spcAft>
                <a:spcPts val="600"/>
              </a:spcAft>
            </a:pPr>
            <a:r>
              <a:rPr sz="1700" b="1" i="0">
                <a:solidFill>
                  <a:srgbClr val="9DC3E6"/>
                </a:solidFill>
                <a:latin typeface="Calibri"/>
              </a:rPr>
              <a:t>BZAN 554  ·  GROUP ASSIGNMENT 1</a:t>
            </a:r>
          </a:p>
        </p:txBody>
      </p:sp>
      <p:sp>
        <p:nvSpPr>
          <p:cNvPr id="5" name="TextBox 4"/>
          <p:cNvSpPr txBox="1"/>
          <p:nvPr/>
        </p:nvSpPr>
        <p:spPr>
          <a:xfrm>
            <a:off x="822960" y="2212848"/>
            <a:ext cx="10515600" cy="1188720"/>
          </a:xfrm>
          <a:prstGeom prst="rect">
            <a:avLst/>
          </a:prstGeom>
          <a:noFill/>
        </p:spPr>
        <p:txBody>
          <a:bodyPr wrap="square" lIns="0" tIns="0" rIns="0" bIns="0">
            <a:spAutoFit/>
          </a:bodyPr>
          <a:lstStyle/>
          <a:p>
            <a:pPr algn="ctr">
              <a:spcAft>
                <a:spcPts val="600"/>
              </a:spcAft>
            </a:pPr>
            <a:r>
              <a:rPr sz="5000" b="1" i="0">
                <a:solidFill>
                  <a:srgbClr val="FFFFFF"/>
                </a:solidFill>
                <a:latin typeface="Calibri"/>
              </a:rPr>
              <a:t>Incremental Learning</a:t>
            </a:r>
          </a:p>
          <a:p>
            <a:pPr algn="ctr">
              <a:spcAft>
                <a:spcPts val="600"/>
              </a:spcAft>
            </a:pPr>
            <a:r>
              <a:rPr sz="5000" b="1" i="0">
                <a:solidFill>
                  <a:srgbClr val="FFFFFF"/>
                </a:solidFill>
                <a:latin typeface="Calibri"/>
              </a:rPr>
              <a:t>on Large Data</a:t>
            </a:r>
          </a:p>
        </p:txBody>
      </p:sp>
      <p:sp>
        <p:nvSpPr>
          <p:cNvPr id="6" name="TextBox 5"/>
          <p:cNvSpPr txBox="1"/>
          <p:nvPr/>
        </p:nvSpPr>
        <p:spPr>
          <a:xfrm>
            <a:off x="822960" y="3977639"/>
            <a:ext cx="10515600" cy="457200"/>
          </a:xfrm>
          <a:prstGeom prst="rect">
            <a:avLst/>
          </a:prstGeom>
          <a:noFill/>
        </p:spPr>
        <p:txBody>
          <a:bodyPr wrap="square" lIns="0" tIns="0" rIns="0" bIns="0">
            <a:spAutoFit/>
          </a:bodyPr>
          <a:lstStyle/>
          <a:p>
            <a:pPr algn="ctr">
              <a:spcAft>
                <a:spcPts val="600"/>
              </a:spcAft>
            </a:pPr>
            <a:r>
              <a:rPr sz="1900" b="0" i="1">
                <a:solidFill>
                  <a:srgbClr val="BDD7EE"/>
                </a:solidFill>
                <a:latin typeface="Calibri"/>
              </a:rPr>
              <a:t>Feed-forward neural network predicting quantity sold</a:t>
            </a:r>
          </a:p>
        </p:txBody>
      </p:sp>
      <p:sp>
        <p:nvSpPr>
          <p:cNvPr id="7" name="Rounded Rectangle 6"/>
          <p:cNvSpPr/>
          <p:nvPr/>
        </p:nvSpPr>
        <p:spPr>
          <a:xfrm>
            <a:off x="4956048" y="5440680"/>
            <a:ext cx="228600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56048" y="5596128"/>
            <a:ext cx="2286000" cy="411480"/>
          </a:xfrm>
          <a:prstGeom prst="rect">
            <a:avLst/>
          </a:prstGeom>
          <a:noFill/>
        </p:spPr>
        <p:txBody>
          <a:bodyPr wrap="square" lIns="0" tIns="0" rIns="0" bIns="0">
            <a:spAutoFit/>
          </a:bodyPr>
          <a:lstStyle/>
          <a:p>
            <a:pPr algn="ctr">
              <a:spcAft>
                <a:spcPts val="600"/>
              </a:spcAft>
            </a:pPr>
            <a:r>
              <a:rPr sz="2500" b="1" i="0">
                <a:solidFill>
                  <a:srgbClr val="1F4E79"/>
                </a:solidFill>
                <a:latin typeface="Calibri"/>
              </a:rPr>
              <a:t>GROUP 7</a:t>
            </a:r>
          </a:p>
        </p:txBody>
      </p:sp>
      <p:sp>
        <p:nvSpPr>
          <p:cNvPr id="9" name="TextBox 8"/>
          <p:cNvSpPr txBox="1"/>
          <p:nvPr/>
        </p:nvSpPr>
        <p:spPr>
          <a:xfrm>
            <a:off x="822960" y="6291072"/>
            <a:ext cx="10515600" cy="320040"/>
          </a:xfrm>
          <a:prstGeom prst="rect">
            <a:avLst/>
          </a:prstGeom>
          <a:noFill/>
        </p:spPr>
        <p:txBody>
          <a:bodyPr wrap="square" lIns="0" tIns="0" rIns="0" bIns="0">
            <a:spAutoFit/>
          </a:bodyPr>
          <a:lstStyle/>
          <a:p>
            <a:pPr algn="ctr">
              <a:spcAft>
                <a:spcPts val="600"/>
              </a:spcAft>
            </a:pPr>
            <a:r>
              <a:rPr sz="1400" b="0" i="0">
                <a:solidFill>
                  <a:srgbClr val="9DC3E6"/>
                </a:solidFill>
                <a:latin typeface="Calibri"/>
              </a:rPr>
              <a:t>Ansley  ·  Rebecca  ·  Ximin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Assignment Requirements</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Every required deliverable and where to find it</a:t>
            </a:r>
          </a:p>
        </p:txBody>
      </p:sp>
      <p:graphicFrame>
        <p:nvGraphicFramePr>
          <p:cNvPr id="5" name="Table 4"/>
          <p:cNvGraphicFramePr>
            <a:graphicFrameLocks noGrp="1"/>
          </p:cNvGraphicFramePr>
          <p:nvPr/>
        </p:nvGraphicFramePr>
        <p:xfrm>
          <a:off x="1234440" y="1572768"/>
          <a:ext cx="9692638" cy="4114800"/>
        </p:xfrm>
        <a:graphic>
          <a:graphicData uri="http://schemas.openxmlformats.org/drawingml/2006/table">
            <a:tbl>
              <a:tblPr firstRow="1" bandRow="1">
                <a:tableStyleId>{5C22544A-7EE6-4342-B048-85BDC9FD1C3A}</a:tableStyleId>
              </a:tblPr>
              <a:tblGrid>
                <a:gridCol w="6321286">
                  <a:extLst>
                    <a:ext uri="{9D8B030D-6E8A-4147-A177-3AD203B41FA5}">
                      <a16:colId xmlns:a16="http://schemas.microsoft.com/office/drawing/2014/main" val="20000"/>
                    </a:ext>
                  </a:extLst>
                </a:gridCol>
                <a:gridCol w="1474966">
                  <a:extLst>
                    <a:ext uri="{9D8B030D-6E8A-4147-A177-3AD203B41FA5}">
                      <a16:colId xmlns:a16="http://schemas.microsoft.com/office/drawing/2014/main" val="20001"/>
                    </a:ext>
                  </a:extLst>
                </a:gridCol>
                <a:gridCol w="1896386">
                  <a:extLst>
                    <a:ext uri="{9D8B030D-6E8A-4147-A177-3AD203B41FA5}">
                      <a16:colId xmlns:a16="http://schemas.microsoft.com/office/drawing/2014/main" val="20002"/>
                    </a:ext>
                  </a:extLst>
                </a:gridCol>
              </a:tblGrid>
              <a:tr h="457200">
                <a:tc>
                  <a:txBody>
                    <a:bodyPr/>
                    <a:lstStyle/>
                    <a:p>
                      <a:pPr algn="l"/>
                      <a:r>
                        <a:rPr sz="1500" b="1">
                          <a:solidFill>
                            <a:srgbClr val="FFFFFF"/>
                          </a:solidFill>
                          <a:latin typeface="Calibri"/>
                        </a:rPr>
                        <a:t>Required deliverable</a:t>
                      </a:r>
                    </a:p>
                  </a:txBody>
                  <a:tcPr marL="82296" marT="18288" marB="18288" anchor="ctr">
                    <a:solidFill>
                      <a:srgbClr val="1F4E79"/>
                    </a:solidFill>
                  </a:tcPr>
                </a:tc>
                <a:tc>
                  <a:txBody>
                    <a:bodyPr/>
                    <a:lstStyle/>
                    <a:p>
                      <a:pPr algn="ctr"/>
                      <a:r>
                        <a:rPr sz="1500" b="1">
                          <a:solidFill>
                            <a:srgbClr val="FFFFFF"/>
                          </a:solidFill>
                          <a:latin typeface="Calibri"/>
                        </a:rPr>
                        <a:t>Slide</a:t>
                      </a:r>
                    </a:p>
                  </a:txBody>
                  <a:tcPr marL="82296" marT="18288" marB="18288" anchor="ctr">
                    <a:solidFill>
                      <a:srgbClr val="1F4E79"/>
                    </a:solidFill>
                  </a:tcPr>
                </a:tc>
                <a:tc>
                  <a:txBody>
                    <a:bodyPr/>
                    <a:lstStyle/>
                    <a:p>
                      <a:pPr algn="ctr"/>
                      <a:r>
                        <a:rPr sz="1500" b="1">
                          <a:solidFill>
                            <a:srgbClr val="FFFFFF"/>
                          </a:solidFill>
                          <a:latin typeface="Calibri"/>
                        </a:rPr>
                        <a:t>Status</a:t>
                      </a:r>
                    </a:p>
                  </a:txBody>
                  <a:tcPr marL="82296" marT="18288" marB="18288" anchor="ctr">
                    <a:solidFill>
                      <a:srgbClr val="1F4E79"/>
                    </a:solidFill>
                  </a:tcPr>
                </a:tc>
                <a:extLst>
                  <a:ext uri="{0D108BD9-81ED-4DB2-BD59-A6C34878D82A}">
                    <a16:rowId xmlns:a16="http://schemas.microsoft.com/office/drawing/2014/main" val="10000"/>
                  </a:ext>
                </a:extLst>
              </a:tr>
              <a:tr h="457200">
                <a:tc>
                  <a:txBody>
                    <a:bodyPr/>
                    <a:lstStyle/>
                    <a:p>
                      <a:pPr algn="l"/>
                      <a:r>
                        <a:rPr sz="1500" b="0">
                          <a:solidFill>
                            <a:srgbClr val="404040"/>
                          </a:solidFill>
                          <a:latin typeface="Calibri"/>
                        </a:rPr>
                        <a:t>R² on training and test sets</a:t>
                      </a:r>
                    </a:p>
                  </a:txBody>
                  <a:tcPr marL="82296" marT="18288" marB="18288" anchor="ctr">
                    <a:solidFill>
                      <a:srgbClr val="FFFFFF"/>
                    </a:solidFill>
                  </a:tcPr>
                </a:tc>
                <a:tc>
                  <a:txBody>
                    <a:bodyPr/>
                    <a:lstStyle/>
                    <a:p>
                      <a:pPr algn="ctr"/>
                      <a:r>
                        <a:rPr sz="1500" b="0">
                          <a:solidFill>
                            <a:srgbClr val="404040"/>
                          </a:solidFill>
                          <a:latin typeface="Calibri"/>
                        </a:rPr>
                        <a:t>7</a:t>
                      </a:r>
                    </a:p>
                  </a:txBody>
                  <a:tcPr marL="82296" marT="18288" marB="18288" anchor="ctr">
                    <a:solidFill>
                      <a:srgbClr val="FFFFFF"/>
                    </a:solidFill>
                  </a:tcPr>
                </a:tc>
                <a:tc>
                  <a:txBody>
                    <a:bodyPr/>
                    <a:lstStyle/>
                    <a:p>
                      <a:pPr algn="ctr"/>
                      <a:r>
                        <a:rPr sz="1500" b="1">
                          <a:solidFill>
                            <a:srgbClr val="548235"/>
                          </a:solidFill>
                          <a:latin typeface="Calibri"/>
                        </a:rPr>
                        <a:t>Done</a:t>
                      </a:r>
                    </a:p>
                  </a:txBody>
                  <a:tcPr marL="82296"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1500" b="0">
                          <a:solidFill>
                            <a:srgbClr val="404040"/>
                          </a:solidFill>
                          <a:latin typeface="Calibri"/>
                        </a:rPr>
                        <a:t>Learning curve — moving-average MSE</a:t>
                      </a:r>
                    </a:p>
                  </a:txBody>
                  <a:tcPr marL="82296" marT="18288" marB="18288" anchor="ctr">
                    <a:solidFill>
                      <a:srgbClr val="F2F2F2"/>
                    </a:solidFill>
                  </a:tcPr>
                </a:tc>
                <a:tc>
                  <a:txBody>
                    <a:bodyPr/>
                    <a:lstStyle/>
                    <a:p>
                      <a:pPr algn="ctr"/>
                      <a:r>
                        <a:rPr sz="1500" b="0">
                          <a:solidFill>
                            <a:srgbClr val="404040"/>
                          </a:solidFill>
                          <a:latin typeface="Calibri"/>
                        </a:rPr>
                        <a:t>8</a:t>
                      </a:r>
                    </a:p>
                  </a:txBody>
                  <a:tcPr marL="82296" marT="18288" marB="18288" anchor="ctr">
                    <a:solidFill>
                      <a:srgbClr val="F2F2F2"/>
                    </a:solidFill>
                  </a:tcPr>
                </a:tc>
                <a:tc>
                  <a:txBody>
                    <a:bodyPr/>
                    <a:lstStyle/>
                    <a:p>
                      <a:pPr algn="ctr"/>
                      <a:r>
                        <a:rPr sz="1500" b="1">
                          <a:solidFill>
                            <a:srgbClr val="548235"/>
                          </a:solidFill>
                          <a:latin typeface="Calibri"/>
                        </a:rPr>
                        <a:t>Done</a:t>
                      </a:r>
                    </a:p>
                  </a:txBody>
                  <a:tcPr marL="82296" marT="18288" marB="18288" anchor="ctr">
                    <a:solidFill>
                      <a:srgbClr val="F2F2F2"/>
                    </a:solidFill>
                  </a:tcPr>
                </a:tc>
                <a:extLst>
                  <a:ext uri="{0D108BD9-81ED-4DB2-BD59-A6C34878D82A}">
                    <a16:rowId xmlns:a16="http://schemas.microsoft.com/office/drawing/2014/main" val="10002"/>
                  </a:ext>
                </a:extLst>
              </a:tr>
              <a:tr h="457200">
                <a:tc>
                  <a:txBody>
                    <a:bodyPr/>
                    <a:lstStyle/>
                    <a:p>
                      <a:pPr algn="l"/>
                      <a:r>
                        <a:rPr sz="1500" b="0">
                          <a:solidFill>
                            <a:srgbClr val="404040"/>
                          </a:solidFill>
                          <a:latin typeface="Calibri"/>
                        </a:rPr>
                        <a:t>Variable importance plot</a:t>
                      </a:r>
                    </a:p>
                  </a:txBody>
                  <a:tcPr marL="82296" marT="18288" marB="18288" anchor="ctr">
                    <a:solidFill>
                      <a:srgbClr val="FFFFFF"/>
                    </a:solidFill>
                  </a:tcPr>
                </a:tc>
                <a:tc>
                  <a:txBody>
                    <a:bodyPr/>
                    <a:lstStyle/>
                    <a:p>
                      <a:pPr algn="ctr"/>
                      <a:r>
                        <a:rPr sz="1500" b="0">
                          <a:solidFill>
                            <a:srgbClr val="404040"/>
                          </a:solidFill>
                          <a:latin typeface="Calibri"/>
                        </a:rPr>
                        <a:t>9</a:t>
                      </a:r>
                    </a:p>
                  </a:txBody>
                  <a:tcPr marL="82296" marT="18288" marB="18288" anchor="ctr">
                    <a:solidFill>
                      <a:srgbClr val="FFFFFF"/>
                    </a:solidFill>
                  </a:tcPr>
                </a:tc>
                <a:tc>
                  <a:txBody>
                    <a:bodyPr/>
                    <a:lstStyle/>
                    <a:p>
                      <a:pPr algn="ctr"/>
                      <a:r>
                        <a:rPr sz="1500" b="1">
                          <a:solidFill>
                            <a:srgbClr val="548235"/>
                          </a:solidFill>
                          <a:latin typeface="Calibri"/>
                        </a:rPr>
                        <a:t>Done</a:t>
                      </a:r>
                    </a:p>
                  </a:txBody>
                  <a:tcPr marL="82296" marT="18288" marB="18288" anchor="ctr">
                    <a:solidFill>
                      <a:srgbClr val="FFFFFF"/>
                    </a:solidFill>
                  </a:tcPr>
                </a:tc>
                <a:extLst>
                  <a:ext uri="{0D108BD9-81ED-4DB2-BD59-A6C34878D82A}">
                    <a16:rowId xmlns:a16="http://schemas.microsoft.com/office/drawing/2014/main" val="10003"/>
                  </a:ext>
                </a:extLst>
              </a:tr>
              <a:tr h="457200">
                <a:tc>
                  <a:txBody>
                    <a:bodyPr/>
                    <a:lstStyle/>
                    <a:p>
                      <a:pPr algn="l"/>
                      <a:r>
                        <a:rPr sz="1500" b="0">
                          <a:solidFill>
                            <a:srgbClr val="404040"/>
                          </a:solidFill>
                          <a:latin typeface="Calibri"/>
                        </a:rPr>
                        <a:t>Multiple partial dependence plots</a:t>
                      </a:r>
                    </a:p>
                  </a:txBody>
                  <a:tcPr marL="82296" marT="18288" marB="18288" anchor="ctr">
                    <a:solidFill>
                      <a:srgbClr val="F2F2F2"/>
                    </a:solidFill>
                  </a:tcPr>
                </a:tc>
                <a:tc>
                  <a:txBody>
                    <a:bodyPr/>
                    <a:lstStyle/>
                    <a:p>
                      <a:pPr algn="ctr"/>
                      <a:r>
                        <a:rPr sz="1500" b="0">
                          <a:solidFill>
                            <a:srgbClr val="404040"/>
                          </a:solidFill>
                          <a:latin typeface="Calibri"/>
                        </a:rPr>
                        <a:t>10–11</a:t>
                      </a:r>
                    </a:p>
                  </a:txBody>
                  <a:tcPr marL="82296" marT="18288" marB="18288" anchor="ctr">
                    <a:solidFill>
                      <a:srgbClr val="F2F2F2"/>
                    </a:solidFill>
                  </a:tcPr>
                </a:tc>
                <a:tc>
                  <a:txBody>
                    <a:bodyPr/>
                    <a:lstStyle/>
                    <a:p>
                      <a:pPr algn="ctr"/>
                      <a:r>
                        <a:rPr sz="1500" b="1">
                          <a:solidFill>
                            <a:srgbClr val="548235"/>
                          </a:solidFill>
                          <a:latin typeface="Calibri"/>
                        </a:rPr>
                        <a:t>Done</a:t>
                      </a:r>
                    </a:p>
                  </a:txBody>
                  <a:tcPr marL="82296" marT="18288" marB="18288" anchor="ctr">
                    <a:solidFill>
                      <a:srgbClr val="F2F2F2"/>
                    </a:solidFill>
                  </a:tcPr>
                </a:tc>
                <a:extLst>
                  <a:ext uri="{0D108BD9-81ED-4DB2-BD59-A6C34878D82A}">
                    <a16:rowId xmlns:a16="http://schemas.microsoft.com/office/drawing/2014/main" val="10004"/>
                  </a:ext>
                </a:extLst>
              </a:tr>
              <a:tr h="457200">
                <a:tc>
                  <a:txBody>
                    <a:bodyPr/>
                    <a:lstStyle/>
                    <a:p>
                      <a:pPr algn="l"/>
                      <a:r>
                        <a:rPr sz="1500" b="0">
                          <a:solidFill>
                            <a:srgbClr val="404040"/>
                          </a:solidFill>
                          <a:latin typeface="Calibri"/>
                        </a:rPr>
                        <a:t>RAM usage</a:t>
                      </a:r>
                    </a:p>
                  </a:txBody>
                  <a:tcPr marL="82296" marT="18288" marB="18288" anchor="ctr">
                    <a:solidFill>
                      <a:srgbClr val="FFFFFF"/>
                    </a:solidFill>
                  </a:tcPr>
                </a:tc>
                <a:tc>
                  <a:txBody>
                    <a:bodyPr/>
                    <a:lstStyle/>
                    <a:p>
                      <a:pPr algn="ctr"/>
                      <a:r>
                        <a:rPr sz="1500" b="0">
                          <a:solidFill>
                            <a:srgbClr val="404040"/>
                          </a:solidFill>
                          <a:latin typeface="Calibri"/>
                        </a:rPr>
                        <a:t>12</a:t>
                      </a:r>
                    </a:p>
                  </a:txBody>
                  <a:tcPr marL="82296" marT="18288" marB="18288" anchor="ctr">
                    <a:solidFill>
                      <a:srgbClr val="FFFFFF"/>
                    </a:solidFill>
                  </a:tcPr>
                </a:tc>
                <a:tc>
                  <a:txBody>
                    <a:bodyPr/>
                    <a:lstStyle/>
                    <a:p>
                      <a:pPr algn="ctr"/>
                      <a:r>
                        <a:rPr sz="1500" b="1">
                          <a:solidFill>
                            <a:srgbClr val="548235"/>
                          </a:solidFill>
                          <a:latin typeface="Calibri"/>
                        </a:rPr>
                        <a:t>Done</a:t>
                      </a:r>
                    </a:p>
                  </a:txBody>
                  <a:tcPr marL="82296" marT="18288" marB="18288" anchor="ctr">
                    <a:solidFill>
                      <a:srgbClr val="FFFFFF"/>
                    </a:solidFill>
                  </a:tcPr>
                </a:tc>
                <a:extLst>
                  <a:ext uri="{0D108BD9-81ED-4DB2-BD59-A6C34878D82A}">
                    <a16:rowId xmlns:a16="http://schemas.microsoft.com/office/drawing/2014/main" val="10005"/>
                  </a:ext>
                </a:extLst>
              </a:tr>
              <a:tr h="457200">
                <a:tc>
                  <a:txBody>
                    <a:bodyPr/>
                    <a:lstStyle/>
                    <a:p>
                      <a:pPr algn="l"/>
                      <a:r>
                        <a:rPr sz="1500" b="0">
                          <a:solidFill>
                            <a:srgbClr val="404040"/>
                          </a:solidFill>
                          <a:latin typeface="Calibri"/>
                        </a:rPr>
                        <a:t>Training time</a:t>
                      </a:r>
                    </a:p>
                  </a:txBody>
                  <a:tcPr marL="82296" marT="18288" marB="18288" anchor="ctr">
                    <a:solidFill>
                      <a:srgbClr val="F2F2F2"/>
                    </a:solidFill>
                  </a:tcPr>
                </a:tc>
                <a:tc>
                  <a:txBody>
                    <a:bodyPr/>
                    <a:lstStyle/>
                    <a:p>
                      <a:pPr algn="ctr"/>
                      <a:r>
                        <a:rPr sz="1500" b="0">
                          <a:solidFill>
                            <a:srgbClr val="404040"/>
                          </a:solidFill>
                          <a:latin typeface="Calibri"/>
                        </a:rPr>
                        <a:t>13</a:t>
                      </a:r>
                    </a:p>
                  </a:txBody>
                  <a:tcPr marL="82296" marT="18288" marB="18288" anchor="ctr">
                    <a:solidFill>
                      <a:srgbClr val="F2F2F2"/>
                    </a:solidFill>
                  </a:tcPr>
                </a:tc>
                <a:tc>
                  <a:txBody>
                    <a:bodyPr/>
                    <a:lstStyle/>
                    <a:p>
                      <a:pPr algn="ctr"/>
                      <a:r>
                        <a:rPr sz="1500" b="1">
                          <a:solidFill>
                            <a:srgbClr val="548235"/>
                          </a:solidFill>
                          <a:latin typeface="Calibri"/>
                        </a:rPr>
                        <a:t>Done</a:t>
                      </a:r>
                    </a:p>
                  </a:txBody>
                  <a:tcPr marL="82296" marT="18288" marB="18288" anchor="ctr">
                    <a:solidFill>
                      <a:srgbClr val="F2F2F2"/>
                    </a:solidFill>
                  </a:tcPr>
                </a:tc>
                <a:extLst>
                  <a:ext uri="{0D108BD9-81ED-4DB2-BD59-A6C34878D82A}">
                    <a16:rowId xmlns:a16="http://schemas.microsoft.com/office/drawing/2014/main" val="10006"/>
                  </a:ext>
                </a:extLst>
              </a:tr>
              <a:tr h="457200">
                <a:tc>
                  <a:txBody>
                    <a:bodyPr/>
                    <a:lstStyle/>
                    <a:p>
                      <a:pPr algn="l"/>
                      <a:r>
                        <a:rPr sz="1500" b="0">
                          <a:solidFill>
                            <a:srgbClr val="404040"/>
                          </a:solidFill>
                          <a:latin typeface="Calibri"/>
                        </a:rPr>
                        <a:t>Statement of contributions</a:t>
                      </a:r>
                    </a:p>
                  </a:txBody>
                  <a:tcPr marL="82296" marT="18288" marB="18288" anchor="ctr">
                    <a:solidFill>
                      <a:srgbClr val="FFFFFF"/>
                    </a:solidFill>
                  </a:tcPr>
                </a:tc>
                <a:tc>
                  <a:txBody>
                    <a:bodyPr/>
                    <a:lstStyle/>
                    <a:p>
                      <a:pPr algn="ctr"/>
                      <a:r>
                        <a:rPr sz="1500" b="0">
                          <a:solidFill>
                            <a:srgbClr val="404040"/>
                          </a:solidFill>
                          <a:latin typeface="Calibri"/>
                        </a:rPr>
                        <a:t>14</a:t>
                      </a:r>
                    </a:p>
                  </a:txBody>
                  <a:tcPr marL="82296" marT="18288" marB="18288" anchor="ctr">
                    <a:solidFill>
                      <a:srgbClr val="FFFFFF"/>
                    </a:solidFill>
                  </a:tcPr>
                </a:tc>
                <a:tc>
                  <a:txBody>
                    <a:bodyPr/>
                    <a:lstStyle/>
                    <a:p>
                      <a:pPr algn="ctr"/>
                      <a:r>
                        <a:rPr sz="1500" b="1">
                          <a:solidFill>
                            <a:srgbClr val="548235"/>
                          </a:solidFill>
                          <a:latin typeface="Calibri"/>
                        </a:rPr>
                        <a:t>Done</a:t>
                      </a:r>
                    </a:p>
                  </a:txBody>
                  <a:tcPr marL="82296" marT="18288" marB="18288" anchor="ctr">
                    <a:solidFill>
                      <a:srgbClr val="FFFFFF"/>
                    </a:solidFill>
                  </a:tcPr>
                </a:tc>
                <a:extLst>
                  <a:ext uri="{0D108BD9-81ED-4DB2-BD59-A6C34878D82A}">
                    <a16:rowId xmlns:a16="http://schemas.microsoft.com/office/drawing/2014/main" val="10007"/>
                  </a:ext>
                </a:extLst>
              </a:tr>
              <a:tr h="457200">
                <a:tc>
                  <a:txBody>
                    <a:bodyPr/>
                    <a:lstStyle/>
                    <a:p>
                      <a:pPr algn="l"/>
                      <a:r>
                        <a:rPr sz="1500" b="0">
                          <a:solidFill>
                            <a:srgbClr val="404040"/>
                          </a:solidFill>
                          <a:latin typeface="Calibri"/>
                        </a:rPr>
                        <a:t>Group ID on slide 1 + filename</a:t>
                      </a:r>
                    </a:p>
                  </a:txBody>
                  <a:tcPr marL="82296" marT="18288" marB="18288" anchor="ctr">
                    <a:solidFill>
                      <a:srgbClr val="F2F2F2"/>
                    </a:solidFill>
                  </a:tcPr>
                </a:tc>
                <a:tc>
                  <a:txBody>
                    <a:bodyPr/>
                    <a:lstStyle/>
                    <a:p>
                      <a:pPr algn="ctr"/>
                      <a:r>
                        <a:rPr sz="1500" b="0">
                          <a:solidFill>
                            <a:srgbClr val="404040"/>
                          </a:solidFill>
                          <a:latin typeface="Calibri"/>
                        </a:rPr>
                        <a:t>1</a:t>
                      </a:r>
                    </a:p>
                  </a:txBody>
                  <a:tcPr marL="82296" marT="18288" marB="18288" anchor="ctr">
                    <a:solidFill>
                      <a:srgbClr val="F2F2F2"/>
                    </a:solidFill>
                  </a:tcPr>
                </a:tc>
                <a:tc>
                  <a:txBody>
                    <a:bodyPr/>
                    <a:lstStyle/>
                    <a:p>
                      <a:pPr algn="ctr"/>
                      <a:r>
                        <a:rPr sz="1500" b="1">
                          <a:solidFill>
                            <a:srgbClr val="548235"/>
                          </a:solidFill>
                          <a:latin typeface="Calibri"/>
                        </a:rPr>
                        <a:t>Done</a:t>
                      </a:r>
                    </a:p>
                  </a:txBody>
                  <a:tcPr marL="82296" marT="18288" marB="18288" anchor="ctr">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The Data</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pricing.csv — one row = one product selling period</a:t>
            </a:r>
          </a:p>
        </p:txBody>
      </p:sp>
      <p:sp>
        <p:nvSpPr>
          <p:cNvPr id="5" name="Rounded Rectangle 4"/>
          <p:cNvSpPr/>
          <p:nvPr/>
        </p:nvSpPr>
        <p:spPr>
          <a:xfrm>
            <a:off x="685800" y="1600200"/>
            <a:ext cx="2468880" cy="137160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19656"/>
            <a:ext cx="2468880" cy="617220"/>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500,000</a:t>
            </a:r>
          </a:p>
        </p:txBody>
      </p:sp>
      <p:sp>
        <p:nvSpPr>
          <p:cNvPr id="7" name="TextBox 6"/>
          <p:cNvSpPr txBox="1"/>
          <p:nvPr/>
        </p:nvSpPr>
        <p:spPr>
          <a:xfrm>
            <a:off x="685800" y="2505456"/>
            <a:ext cx="2468880" cy="411479"/>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records</a:t>
            </a:r>
          </a:p>
        </p:txBody>
      </p:sp>
      <p:sp>
        <p:nvSpPr>
          <p:cNvPr id="8" name="Rounded Rectangle 7"/>
          <p:cNvSpPr/>
          <p:nvPr/>
        </p:nvSpPr>
        <p:spPr>
          <a:xfrm>
            <a:off x="3401568" y="1600200"/>
            <a:ext cx="2468880" cy="137160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01568" y="1819656"/>
            <a:ext cx="2468880" cy="617220"/>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5</a:t>
            </a:r>
          </a:p>
        </p:txBody>
      </p:sp>
      <p:sp>
        <p:nvSpPr>
          <p:cNvPr id="10" name="TextBox 9"/>
          <p:cNvSpPr txBox="1"/>
          <p:nvPr/>
        </p:nvSpPr>
        <p:spPr>
          <a:xfrm>
            <a:off x="3401568" y="2505456"/>
            <a:ext cx="2468880" cy="411479"/>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input features</a:t>
            </a:r>
          </a:p>
        </p:txBody>
      </p:sp>
      <p:sp>
        <p:nvSpPr>
          <p:cNvPr id="11" name="Rounded Rectangle 10"/>
          <p:cNvSpPr/>
          <p:nvPr/>
        </p:nvSpPr>
        <p:spPr>
          <a:xfrm>
            <a:off x="6117336" y="1600200"/>
            <a:ext cx="2468880" cy="137160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17336" y="1819656"/>
            <a:ext cx="2468880" cy="617220"/>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19 MB</a:t>
            </a:r>
          </a:p>
        </p:txBody>
      </p:sp>
      <p:sp>
        <p:nvSpPr>
          <p:cNvPr id="13" name="TextBox 12"/>
          <p:cNvSpPr txBox="1"/>
          <p:nvPr/>
        </p:nvSpPr>
        <p:spPr>
          <a:xfrm>
            <a:off x="6117336" y="2505456"/>
            <a:ext cx="2468880" cy="411479"/>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file size</a:t>
            </a:r>
          </a:p>
        </p:txBody>
      </p:sp>
      <p:sp>
        <p:nvSpPr>
          <p:cNvPr id="14" name="Rounded Rectangle 13"/>
          <p:cNvSpPr/>
          <p:nvPr/>
        </p:nvSpPr>
        <p:spPr>
          <a:xfrm>
            <a:off x="8833104" y="1600200"/>
            <a:ext cx="2468880" cy="137160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33104" y="1819656"/>
            <a:ext cx="2468880" cy="617220"/>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0</a:t>
            </a:r>
          </a:p>
        </p:txBody>
      </p:sp>
      <p:sp>
        <p:nvSpPr>
          <p:cNvPr id="16" name="TextBox 15"/>
          <p:cNvSpPr txBox="1"/>
          <p:nvPr/>
        </p:nvSpPr>
        <p:spPr>
          <a:xfrm>
            <a:off x="8833104" y="2505456"/>
            <a:ext cx="2468880" cy="411479"/>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missing values</a:t>
            </a:r>
          </a:p>
        </p:txBody>
      </p:sp>
      <p:graphicFrame>
        <p:nvGraphicFramePr>
          <p:cNvPr id="17" name="Table 16"/>
          <p:cNvGraphicFramePr>
            <a:graphicFrameLocks noGrp="1"/>
          </p:cNvGraphicFramePr>
          <p:nvPr/>
        </p:nvGraphicFramePr>
        <p:xfrm>
          <a:off x="685800" y="3291840"/>
          <a:ext cx="6766560" cy="25603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pPr algn="l"/>
                      <a:r>
                        <a:rPr sz="1350" b="1">
                          <a:solidFill>
                            <a:srgbClr val="FFFFFF"/>
                          </a:solidFill>
                          <a:latin typeface="Calibri"/>
                        </a:rPr>
                        <a:t>Variable</a:t>
                      </a:r>
                    </a:p>
                  </a:txBody>
                  <a:tcPr marL="82296" marT="18288" marB="18288" anchor="ctr">
                    <a:solidFill>
                      <a:srgbClr val="1F4E79"/>
                    </a:solidFill>
                  </a:tcPr>
                </a:tc>
                <a:tc>
                  <a:txBody>
                    <a:bodyPr/>
                    <a:lstStyle/>
                    <a:p>
                      <a:pPr algn="ctr"/>
                      <a:r>
                        <a:rPr sz="1350" b="1">
                          <a:solidFill>
                            <a:srgbClr val="FFFFFF"/>
                          </a:solidFill>
                          <a:latin typeface="Calibri"/>
                        </a:rPr>
                        <a:t>Role</a:t>
                      </a:r>
                    </a:p>
                  </a:txBody>
                  <a:tcPr marL="82296" marT="18288" marB="18288" anchor="ctr">
                    <a:solidFill>
                      <a:srgbClr val="1F4E79"/>
                    </a:solidFill>
                  </a:tcPr>
                </a:tc>
                <a:tc>
                  <a:txBody>
                    <a:bodyPr/>
                    <a:lstStyle/>
                    <a:p>
                      <a:pPr algn="ctr"/>
                      <a:r>
                        <a:rPr sz="1350" b="1">
                          <a:solidFill>
                            <a:srgbClr val="FFFFFF"/>
                          </a:solidFill>
                          <a:latin typeface="Calibri"/>
                        </a:rPr>
                        <a:t>Range</a:t>
                      </a:r>
                    </a:p>
                  </a:txBody>
                  <a:tcPr marL="82296" marT="18288" marB="18288" anchor="ctr">
                    <a:solidFill>
                      <a:srgbClr val="1F4E79"/>
                    </a:solidFill>
                  </a:tcPr>
                </a:tc>
                <a:extLst>
                  <a:ext uri="{0D108BD9-81ED-4DB2-BD59-A6C34878D82A}">
                    <a16:rowId xmlns:a16="http://schemas.microsoft.com/office/drawing/2014/main" val="10000"/>
                  </a:ext>
                </a:extLst>
              </a:tr>
              <a:tr h="365760">
                <a:tc>
                  <a:txBody>
                    <a:bodyPr/>
                    <a:lstStyle/>
                    <a:p>
                      <a:pPr algn="l"/>
                      <a:r>
                        <a:rPr sz="1350" b="0">
                          <a:solidFill>
                            <a:srgbClr val="404040"/>
                          </a:solidFill>
                          <a:latin typeface="Calibri"/>
                        </a:rPr>
                        <a:t>sku</a:t>
                      </a:r>
                    </a:p>
                  </a:txBody>
                  <a:tcPr marL="82296" marT="18288" marB="18288" anchor="ctr">
                    <a:solidFill>
                      <a:srgbClr val="FFFFFF"/>
                    </a:solidFill>
                  </a:tcPr>
                </a:tc>
                <a:tc>
                  <a:txBody>
                    <a:bodyPr/>
                    <a:lstStyle/>
                    <a:p>
                      <a:pPr algn="ctr"/>
                      <a:r>
                        <a:rPr sz="1350" b="0">
                          <a:solidFill>
                            <a:srgbClr val="404040"/>
                          </a:solidFill>
                          <a:latin typeface="Calibri"/>
                        </a:rPr>
                        <a:t>input — product ID</a:t>
                      </a:r>
                    </a:p>
                  </a:txBody>
                  <a:tcPr marL="82296" marT="18288" marB="18288" anchor="ctr">
                    <a:solidFill>
                      <a:srgbClr val="FFFFFF"/>
                    </a:solidFill>
                  </a:tcPr>
                </a:tc>
                <a:tc>
                  <a:txBody>
                    <a:bodyPr/>
                    <a:lstStyle/>
                    <a:p>
                      <a:pPr algn="ctr"/>
                      <a:r>
                        <a:rPr sz="1350" b="0">
                          <a:solidFill>
                            <a:srgbClr val="404040"/>
                          </a:solidFill>
                          <a:latin typeface="Calibri"/>
                        </a:rPr>
                        <a:t>0 – 74,998</a:t>
                      </a:r>
                    </a:p>
                  </a:txBody>
                  <a:tcPr marL="82296"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350" b="0">
                          <a:solidFill>
                            <a:srgbClr val="404040"/>
                          </a:solidFill>
                          <a:latin typeface="Calibri"/>
                        </a:rPr>
                        <a:t>price</a:t>
                      </a:r>
                    </a:p>
                  </a:txBody>
                  <a:tcPr marL="82296" marT="18288" marB="18288" anchor="ctr">
                    <a:solidFill>
                      <a:srgbClr val="F2F2F2"/>
                    </a:solidFill>
                  </a:tcPr>
                </a:tc>
                <a:tc>
                  <a:txBody>
                    <a:bodyPr/>
                    <a:lstStyle/>
                    <a:p>
                      <a:pPr algn="ctr"/>
                      <a:r>
                        <a:rPr sz="1350" b="0">
                          <a:solidFill>
                            <a:srgbClr val="404040"/>
                          </a:solidFill>
                          <a:latin typeface="Calibri"/>
                        </a:rPr>
                        <a:t>input</a:t>
                      </a:r>
                    </a:p>
                  </a:txBody>
                  <a:tcPr marL="82296" marT="18288" marB="18288" anchor="ctr">
                    <a:solidFill>
                      <a:srgbClr val="F2F2F2"/>
                    </a:solidFill>
                  </a:tcPr>
                </a:tc>
                <a:tc>
                  <a:txBody>
                    <a:bodyPr/>
                    <a:lstStyle/>
                    <a:p>
                      <a:pPr algn="ctr"/>
                      <a:r>
                        <a:rPr sz="1350" b="0">
                          <a:solidFill>
                            <a:srgbClr val="404040"/>
                          </a:solidFill>
                          <a:latin typeface="Calibri"/>
                        </a:rPr>
                        <a:t>0 – 275</a:t>
                      </a:r>
                    </a:p>
                  </a:txBody>
                  <a:tcPr marL="82296" marT="18288" marB="18288" anchor="ctr">
                    <a:solidFill>
                      <a:srgbClr val="F2F2F2"/>
                    </a:solidFill>
                  </a:tcPr>
                </a:tc>
                <a:extLst>
                  <a:ext uri="{0D108BD9-81ED-4DB2-BD59-A6C34878D82A}">
                    <a16:rowId xmlns:a16="http://schemas.microsoft.com/office/drawing/2014/main" val="10002"/>
                  </a:ext>
                </a:extLst>
              </a:tr>
              <a:tr h="365760">
                <a:tc>
                  <a:txBody>
                    <a:bodyPr/>
                    <a:lstStyle/>
                    <a:p>
                      <a:pPr algn="l"/>
                      <a:r>
                        <a:rPr sz="1350" b="0">
                          <a:solidFill>
                            <a:srgbClr val="404040"/>
                          </a:solidFill>
                          <a:latin typeface="Calibri"/>
                        </a:rPr>
                        <a:t>order</a:t>
                      </a:r>
                    </a:p>
                  </a:txBody>
                  <a:tcPr marL="82296" marT="18288" marB="18288" anchor="ctr">
                    <a:solidFill>
                      <a:srgbClr val="FFFFFF"/>
                    </a:solidFill>
                  </a:tcPr>
                </a:tc>
                <a:tc>
                  <a:txBody>
                    <a:bodyPr/>
                    <a:lstStyle/>
                    <a:p>
                      <a:pPr algn="ctr"/>
                      <a:r>
                        <a:rPr sz="1350" b="0">
                          <a:solidFill>
                            <a:srgbClr val="404040"/>
                          </a:solidFill>
                          <a:latin typeface="Calibri"/>
                        </a:rPr>
                        <a:t>input — nth in-stock spell</a:t>
                      </a:r>
                    </a:p>
                  </a:txBody>
                  <a:tcPr marL="82296" marT="18288" marB="18288" anchor="ctr">
                    <a:solidFill>
                      <a:srgbClr val="FFFFFF"/>
                    </a:solidFill>
                  </a:tcPr>
                </a:tc>
                <a:tc>
                  <a:txBody>
                    <a:bodyPr/>
                    <a:lstStyle/>
                    <a:p>
                      <a:pPr algn="ctr"/>
                      <a:r>
                        <a:rPr sz="1350" b="0">
                          <a:solidFill>
                            <a:srgbClr val="404040"/>
                          </a:solidFill>
                          <a:latin typeface="Calibri"/>
                        </a:rPr>
                        <a:t>0 – 446</a:t>
                      </a:r>
                    </a:p>
                  </a:txBody>
                  <a:tcPr marL="82296" marT="18288" marB="18288" anchor="ctr">
                    <a:solidFill>
                      <a:srgbClr val="FFFFFF"/>
                    </a:solidFill>
                  </a:tcPr>
                </a:tc>
                <a:extLst>
                  <a:ext uri="{0D108BD9-81ED-4DB2-BD59-A6C34878D82A}">
                    <a16:rowId xmlns:a16="http://schemas.microsoft.com/office/drawing/2014/main" val="10003"/>
                  </a:ext>
                </a:extLst>
              </a:tr>
              <a:tr h="365760">
                <a:tc>
                  <a:txBody>
                    <a:bodyPr/>
                    <a:lstStyle/>
                    <a:p>
                      <a:pPr algn="l"/>
                      <a:r>
                        <a:rPr sz="1350" b="0">
                          <a:solidFill>
                            <a:srgbClr val="404040"/>
                          </a:solidFill>
                          <a:latin typeface="Calibri"/>
                        </a:rPr>
                        <a:t>duration</a:t>
                      </a:r>
                    </a:p>
                  </a:txBody>
                  <a:tcPr marL="82296" marT="18288" marB="18288" anchor="ctr">
                    <a:solidFill>
                      <a:srgbClr val="F2F2F2"/>
                    </a:solidFill>
                  </a:tcPr>
                </a:tc>
                <a:tc>
                  <a:txBody>
                    <a:bodyPr/>
                    <a:lstStyle/>
                    <a:p>
                      <a:pPr algn="ctr"/>
                      <a:r>
                        <a:rPr sz="1350" b="0">
                          <a:solidFill>
                            <a:srgbClr val="404040"/>
                          </a:solidFill>
                          <a:latin typeface="Calibri"/>
                        </a:rPr>
                        <a:t>input — time on site</a:t>
                      </a:r>
                    </a:p>
                  </a:txBody>
                  <a:tcPr marL="82296" marT="18288" marB="18288" anchor="ctr">
                    <a:solidFill>
                      <a:srgbClr val="F2F2F2"/>
                    </a:solidFill>
                  </a:tcPr>
                </a:tc>
                <a:tc>
                  <a:txBody>
                    <a:bodyPr/>
                    <a:lstStyle/>
                    <a:p>
                      <a:pPr algn="ctr"/>
                      <a:r>
                        <a:rPr sz="1350" b="0">
                          <a:solidFill>
                            <a:srgbClr val="404040"/>
                          </a:solidFill>
                          <a:latin typeface="Calibri"/>
                        </a:rPr>
                        <a:t>1 – 31.9</a:t>
                      </a:r>
                    </a:p>
                  </a:txBody>
                  <a:tcPr marL="82296" marT="18288" marB="18288" anchor="ctr">
                    <a:solidFill>
                      <a:srgbClr val="F2F2F2"/>
                    </a:solidFill>
                  </a:tcPr>
                </a:tc>
                <a:extLst>
                  <a:ext uri="{0D108BD9-81ED-4DB2-BD59-A6C34878D82A}">
                    <a16:rowId xmlns:a16="http://schemas.microsoft.com/office/drawing/2014/main" val="10004"/>
                  </a:ext>
                </a:extLst>
              </a:tr>
              <a:tr h="365760">
                <a:tc>
                  <a:txBody>
                    <a:bodyPr/>
                    <a:lstStyle/>
                    <a:p>
                      <a:pPr algn="l"/>
                      <a:r>
                        <a:rPr sz="1350" b="0">
                          <a:solidFill>
                            <a:srgbClr val="404040"/>
                          </a:solidFill>
                          <a:latin typeface="Calibri"/>
                        </a:rPr>
                        <a:t>category</a:t>
                      </a:r>
                    </a:p>
                  </a:txBody>
                  <a:tcPr marL="82296" marT="18288" marB="18288" anchor="ctr">
                    <a:solidFill>
                      <a:srgbClr val="FFFFFF"/>
                    </a:solidFill>
                  </a:tcPr>
                </a:tc>
                <a:tc>
                  <a:txBody>
                    <a:bodyPr/>
                    <a:lstStyle/>
                    <a:p>
                      <a:pPr algn="ctr"/>
                      <a:r>
                        <a:rPr sz="1350" b="0">
                          <a:solidFill>
                            <a:srgbClr val="404040"/>
                          </a:solidFill>
                          <a:latin typeface="Calibri"/>
                        </a:rPr>
                        <a:t>input — 32 categories</a:t>
                      </a:r>
                    </a:p>
                  </a:txBody>
                  <a:tcPr marL="82296" marT="18288" marB="18288" anchor="ctr">
                    <a:solidFill>
                      <a:srgbClr val="FFFFFF"/>
                    </a:solidFill>
                  </a:tcPr>
                </a:tc>
                <a:tc>
                  <a:txBody>
                    <a:bodyPr/>
                    <a:lstStyle/>
                    <a:p>
                      <a:pPr algn="ctr"/>
                      <a:r>
                        <a:rPr sz="1350" b="0">
                          <a:solidFill>
                            <a:srgbClr val="404040"/>
                          </a:solidFill>
                          <a:latin typeface="Calibri"/>
                        </a:rPr>
                        <a:t>0 – 32</a:t>
                      </a:r>
                    </a:p>
                  </a:txBody>
                  <a:tcPr marL="82296" marT="18288" marB="18288" anchor="ctr">
                    <a:solidFill>
                      <a:srgbClr val="FFFFFF"/>
                    </a:solidFill>
                  </a:tcPr>
                </a:tc>
                <a:extLst>
                  <a:ext uri="{0D108BD9-81ED-4DB2-BD59-A6C34878D82A}">
                    <a16:rowId xmlns:a16="http://schemas.microsoft.com/office/drawing/2014/main" val="10005"/>
                  </a:ext>
                </a:extLst>
              </a:tr>
              <a:tr h="365760">
                <a:tc>
                  <a:txBody>
                    <a:bodyPr/>
                    <a:lstStyle/>
                    <a:p>
                      <a:pPr algn="l"/>
                      <a:r>
                        <a:rPr sz="1350" b="1">
                          <a:solidFill>
                            <a:srgbClr val="C55A11"/>
                          </a:solidFill>
                          <a:latin typeface="Calibri"/>
                        </a:rPr>
                        <a:t>quantity</a:t>
                      </a:r>
                    </a:p>
                  </a:txBody>
                  <a:tcPr marL="82296" marT="18288" marB="18288" anchor="ctr">
                    <a:solidFill>
                      <a:srgbClr val="F2F2F2"/>
                    </a:solidFill>
                  </a:tcPr>
                </a:tc>
                <a:tc>
                  <a:txBody>
                    <a:bodyPr/>
                    <a:lstStyle/>
                    <a:p>
                      <a:pPr algn="ctr"/>
                      <a:r>
                        <a:rPr sz="1350" b="0">
                          <a:solidFill>
                            <a:srgbClr val="404040"/>
                          </a:solidFill>
                          <a:latin typeface="Calibri"/>
                        </a:rPr>
                        <a:t>TARGET — units sold</a:t>
                      </a:r>
                    </a:p>
                  </a:txBody>
                  <a:tcPr marL="82296" marT="18288" marB="18288" anchor="ctr">
                    <a:solidFill>
                      <a:srgbClr val="F2F2F2"/>
                    </a:solidFill>
                  </a:tcPr>
                </a:tc>
                <a:tc>
                  <a:txBody>
                    <a:bodyPr/>
                    <a:lstStyle/>
                    <a:p>
                      <a:pPr algn="ctr"/>
                      <a:r>
                        <a:rPr sz="1350" b="0">
                          <a:solidFill>
                            <a:srgbClr val="404040"/>
                          </a:solidFill>
                          <a:latin typeface="Calibri"/>
                        </a:rPr>
                        <a:t>1 – 4,165</a:t>
                      </a:r>
                    </a:p>
                  </a:txBody>
                  <a:tcPr marL="82296" marT="18288" marB="18288" anchor="ctr">
                    <a:solidFill>
                      <a:srgbClr val="F2F2F2"/>
                    </a:solidFill>
                  </a:tcPr>
                </a:tc>
                <a:extLst>
                  <a:ext uri="{0D108BD9-81ED-4DB2-BD59-A6C34878D82A}">
                    <a16:rowId xmlns:a16="http://schemas.microsoft.com/office/drawing/2014/main" val="10006"/>
                  </a:ext>
                </a:extLst>
              </a:tr>
            </a:tbl>
          </a:graphicData>
        </a:graphic>
      </p:graphicFrame>
      <p:sp>
        <p:nvSpPr>
          <p:cNvPr id="18" name="Rounded Rectangle 17"/>
          <p:cNvSpPr/>
          <p:nvPr/>
        </p:nvSpPr>
        <p:spPr>
          <a:xfrm>
            <a:off x="7863840" y="3291840"/>
            <a:ext cx="3611880" cy="260604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92440" y="3456432"/>
            <a:ext cx="3200400" cy="320040"/>
          </a:xfrm>
          <a:prstGeom prst="rect">
            <a:avLst/>
          </a:prstGeom>
          <a:noFill/>
        </p:spPr>
        <p:txBody>
          <a:bodyPr wrap="square" lIns="0" tIns="0" rIns="0" bIns="0">
            <a:spAutoFit/>
          </a:bodyPr>
          <a:lstStyle/>
          <a:p>
            <a:pPr algn="l">
              <a:spcAft>
                <a:spcPts val="600"/>
              </a:spcAft>
            </a:pPr>
            <a:r>
              <a:rPr sz="1600" b="1" i="0">
                <a:solidFill>
                  <a:srgbClr val="1F4E79"/>
                </a:solidFill>
                <a:latin typeface="Calibri"/>
              </a:rPr>
              <a:t>Why this is hard</a:t>
            </a:r>
          </a:p>
        </p:txBody>
      </p:sp>
      <p:sp>
        <p:nvSpPr>
          <p:cNvPr id="20" name="Rounded Rectangle 19"/>
          <p:cNvSpPr/>
          <p:nvPr/>
        </p:nvSpPr>
        <p:spPr>
          <a:xfrm>
            <a:off x="8092440" y="4009644"/>
            <a:ext cx="100584" cy="100584"/>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3931920"/>
            <a:ext cx="301752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Target is highly skewed</a:t>
            </a:r>
          </a:p>
        </p:txBody>
      </p:sp>
      <p:sp>
        <p:nvSpPr>
          <p:cNvPr id="22" name="Rounded Rectangle 21"/>
          <p:cNvSpPr/>
          <p:nvPr/>
        </p:nvSpPr>
        <p:spPr>
          <a:xfrm>
            <a:off x="8092440" y="435711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66760" y="4279392"/>
            <a:ext cx="301752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mean 22.8, max 4,165</a:t>
            </a:r>
          </a:p>
        </p:txBody>
      </p:sp>
      <p:sp>
        <p:nvSpPr>
          <p:cNvPr id="24" name="Rounded Rectangle 23"/>
          <p:cNvSpPr/>
          <p:nvPr/>
        </p:nvSpPr>
        <p:spPr>
          <a:xfrm>
            <a:off x="8092440" y="4704588"/>
            <a:ext cx="100584" cy="100584"/>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66760" y="4626864"/>
            <a:ext cx="301752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80 / 20 split, seed 42</a:t>
            </a:r>
          </a:p>
        </p:txBody>
      </p:sp>
      <p:sp>
        <p:nvSpPr>
          <p:cNvPr id="26" name="Rounded Rectangle 25"/>
          <p:cNvSpPr/>
          <p:nvPr/>
        </p:nvSpPr>
        <p:spPr>
          <a:xfrm>
            <a:off x="8092440" y="5052059"/>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60" y="4974336"/>
            <a:ext cx="301752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400,000 train rows</a:t>
            </a:r>
          </a:p>
        </p:txBody>
      </p:sp>
      <p:sp>
        <p:nvSpPr>
          <p:cNvPr id="28" name="Rounded Rectangle 27"/>
          <p:cNvSpPr/>
          <p:nvPr/>
        </p:nvSpPr>
        <p:spPr>
          <a:xfrm>
            <a:off x="8092440" y="5399532"/>
            <a:ext cx="100584" cy="100584"/>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66760" y="5321808"/>
            <a:ext cx="301752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Scaler fit on train only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Network Architecture</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3 hidden layers · sigmoid · as specified</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pic>
        <p:nvPicPr>
          <p:cNvPr id="6" name="Picture 5" descr="arch_network.png"/>
          <p:cNvPicPr>
            <a:picLocks noChangeAspect="1"/>
          </p:cNvPicPr>
          <p:nvPr/>
        </p:nvPicPr>
        <p:blipFill>
          <a:blip r:embed="rId3"/>
          <a:stretch>
            <a:fillRect/>
          </a:stretch>
        </p:blipFill>
        <p:spPr>
          <a:xfrm>
            <a:off x="566928" y="1417320"/>
            <a:ext cx="11064240" cy="54470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Code Architecture</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Six modules, one responsibility each</a:t>
            </a:r>
          </a:p>
        </p:txBody>
      </p:sp>
      <p:pic>
        <p:nvPicPr>
          <p:cNvPr id="5" name="Picture 4" descr="arch_pipeline.png"/>
          <p:cNvPicPr>
            <a:picLocks noChangeAspect="1"/>
          </p:cNvPicPr>
          <p:nvPr/>
        </p:nvPicPr>
        <p:blipFill>
          <a:blip r:embed="rId3"/>
          <a:stretch>
            <a:fillRect/>
          </a:stretch>
        </p:blipFill>
        <p:spPr>
          <a:xfrm>
            <a:off x="566928" y="1371600"/>
            <a:ext cx="11064240" cy="52767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Incremental Training Loop</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Read a mini-batch → update → repeat</a:t>
            </a:r>
          </a:p>
        </p:txBody>
      </p:sp>
      <p:sp>
        <p:nvSpPr>
          <p:cNvPr id="5" name="Rounded Rectangle 4"/>
          <p:cNvSpPr/>
          <p:nvPr/>
        </p:nvSpPr>
        <p:spPr>
          <a:xfrm>
            <a:off x="685800" y="1572768"/>
            <a:ext cx="10789920" cy="1783080"/>
          </a:xfrm>
          <a:prstGeom prst="roundRect">
            <a:avLst>
              <a:gd name="adj" fmla="val 6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83080"/>
            <a:ext cx="10332720" cy="1463040"/>
          </a:xfrm>
          <a:prstGeom prst="rect">
            <a:avLst/>
          </a:prstGeom>
          <a:noFill/>
        </p:spPr>
        <p:txBody>
          <a:bodyPr wrap="square" lIns="0" tIns="0" rIns="0" bIns="0">
            <a:spAutoFit/>
          </a:bodyPr>
          <a:lstStyle/>
          <a:p>
            <a:pPr algn="l">
              <a:spcAft>
                <a:spcPts val="600"/>
              </a:spcAft>
            </a:pPr>
            <a:r>
              <a:rPr sz="1550" b="0" i="0">
                <a:solidFill>
                  <a:srgbClr val="D8D8D8"/>
                </a:solidFill>
                <a:latin typeface="Consolas"/>
              </a:rPr>
              <a:t>for X_batch, y_batch in create_mini_batches(X_train, y_train):</a:t>
            </a:r>
          </a:p>
          <a:p>
            <a:pPr algn="l">
              <a:spcAft>
                <a:spcPts val="600"/>
              </a:spcAft>
            </a:pPr>
            <a:endParaRPr sz="1550" b="0" i="0">
              <a:solidFill>
                <a:srgbClr val="D8D8D8"/>
              </a:solidFill>
              <a:latin typeface="Consolas"/>
            </a:endParaRPr>
          </a:p>
          <a:p>
            <a:pPr algn="l">
              <a:spcAft>
                <a:spcPts val="600"/>
              </a:spcAft>
            </a:pPr>
            <a:r>
              <a:rPr sz="1550" b="0" i="0">
                <a:solidFill>
                  <a:srgbClr val="D8D8D8"/>
                </a:solidFill>
                <a:latin typeface="Consolas"/>
              </a:rPr>
              <a:t>    metrics = model.train_on_batch(X_batch, y_batch)</a:t>
            </a:r>
          </a:p>
          <a:p>
            <a:pPr algn="l">
              <a:spcAft>
                <a:spcPts val="600"/>
              </a:spcAft>
            </a:pPr>
            <a:endParaRPr sz="1550" b="0" i="0">
              <a:solidFill>
                <a:srgbClr val="D8D8D8"/>
              </a:solidFill>
              <a:latin typeface="Consolas"/>
            </a:endParaRPr>
          </a:p>
          <a:p>
            <a:pPr algn="l">
              <a:spcAft>
                <a:spcPts val="600"/>
              </a:spcAft>
            </a:pPr>
            <a:r>
              <a:rPr sz="1550" b="0" i="0">
                <a:solidFill>
                  <a:srgbClr val="D8D8D8"/>
                </a:solidFill>
                <a:latin typeface="Consolas"/>
              </a:rPr>
              <a:t>    mse_history.append(metrics[0])</a:t>
            </a:r>
          </a:p>
          <a:p>
            <a:pPr algn="l">
              <a:spcAft>
                <a:spcPts val="600"/>
              </a:spcAft>
            </a:pPr>
            <a:r>
              <a:rPr sz="1550" b="0" i="0">
                <a:solidFill>
                  <a:srgbClr val="D8D8D8"/>
                </a:solidFill>
                <a:latin typeface="Consolas"/>
              </a:rPr>
              <a:t>    memory_log.append(process.memory_info().rss / 1024**2)</a:t>
            </a:r>
          </a:p>
        </p:txBody>
      </p:sp>
      <p:sp>
        <p:nvSpPr>
          <p:cNvPr id="7" name="Rounded Rectangle 6"/>
          <p:cNvSpPr/>
          <p:nvPr/>
        </p:nvSpPr>
        <p:spPr>
          <a:xfrm>
            <a:off x="685800" y="3657600"/>
            <a:ext cx="3429000" cy="123444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3855110"/>
            <a:ext cx="3429000" cy="555498"/>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32</a:t>
            </a:r>
          </a:p>
        </p:txBody>
      </p:sp>
      <p:sp>
        <p:nvSpPr>
          <p:cNvPr id="9" name="TextBox 8"/>
          <p:cNvSpPr txBox="1"/>
          <p:nvPr/>
        </p:nvSpPr>
        <p:spPr>
          <a:xfrm>
            <a:off x="685800" y="4472330"/>
            <a:ext cx="3429000" cy="370332"/>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records per update</a:t>
            </a:r>
          </a:p>
        </p:txBody>
      </p:sp>
      <p:sp>
        <p:nvSpPr>
          <p:cNvPr id="10" name="Rounded Rectangle 9"/>
          <p:cNvSpPr/>
          <p:nvPr/>
        </p:nvSpPr>
        <p:spPr>
          <a:xfrm>
            <a:off x="4599432" y="3657600"/>
            <a:ext cx="3429000" cy="123444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9432" y="3855110"/>
            <a:ext cx="3429000" cy="555498"/>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12,500</a:t>
            </a:r>
          </a:p>
        </p:txBody>
      </p:sp>
      <p:sp>
        <p:nvSpPr>
          <p:cNvPr id="12" name="TextBox 11"/>
          <p:cNvSpPr txBox="1"/>
          <p:nvPr/>
        </p:nvSpPr>
        <p:spPr>
          <a:xfrm>
            <a:off x="4599432" y="4472330"/>
            <a:ext cx="3429000" cy="370332"/>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weight updates</a:t>
            </a:r>
          </a:p>
        </p:txBody>
      </p:sp>
      <p:sp>
        <p:nvSpPr>
          <p:cNvPr id="13" name="Rounded Rectangle 12"/>
          <p:cNvSpPr/>
          <p:nvPr/>
        </p:nvSpPr>
        <p:spPr>
          <a:xfrm>
            <a:off x="8513064" y="3657600"/>
            <a:ext cx="2962656" cy="123444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13064" y="3855110"/>
            <a:ext cx="2962656" cy="555498"/>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1</a:t>
            </a:r>
          </a:p>
        </p:txBody>
      </p:sp>
      <p:sp>
        <p:nvSpPr>
          <p:cNvPr id="15" name="TextBox 14"/>
          <p:cNvSpPr txBox="1"/>
          <p:nvPr/>
        </p:nvSpPr>
        <p:spPr>
          <a:xfrm>
            <a:off x="8513064" y="4472330"/>
            <a:ext cx="2962656" cy="370332"/>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pass over data</a:t>
            </a:r>
          </a:p>
        </p:txBody>
      </p:sp>
      <p:sp>
        <p:nvSpPr>
          <p:cNvPr id="16" name="Rounded Rectangle 15"/>
          <p:cNvSpPr/>
          <p:nvPr/>
        </p:nvSpPr>
        <p:spPr>
          <a:xfrm>
            <a:off x="685800" y="5166360"/>
            <a:ext cx="10789920" cy="914400"/>
          </a:xfrm>
          <a:prstGeom prst="roundRect">
            <a:avLst>
              <a:gd name="adj" fmla="val 6000"/>
            </a:avLst>
          </a:prstGeom>
          <a:solidFill>
            <a:srgbClr val="E2EFDA"/>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340096"/>
            <a:ext cx="10332720" cy="640080"/>
          </a:xfrm>
          <a:prstGeom prst="rect">
            <a:avLst/>
          </a:prstGeom>
          <a:noFill/>
        </p:spPr>
        <p:txBody>
          <a:bodyPr wrap="square" lIns="0" tIns="0" rIns="0" bIns="0">
            <a:spAutoFit/>
          </a:bodyPr>
          <a:lstStyle/>
          <a:p>
            <a:pPr algn="l">
              <a:spcAft>
                <a:spcPts val="600"/>
              </a:spcAft>
            </a:pPr>
            <a:r>
              <a:rPr sz="1500" b="0" i="0">
                <a:solidFill>
                  <a:srgbClr val="375A23"/>
                </a:solidFill>
                <a:latin typeface="Calibri"/>
              </a:rPr>
              <a:t>train_on_batch performs ONE gradient step on 32 records — the model never sees the full</a:t>
            </a:r>
          </a:p>
          <a:p>
            <a:pPr algn="l">
              <a:spcAft>
                <a:spcPts val="600"/>
              </a:spcAft>
            </a:pPr>
            <a:r>
              <a:rPr sz="1500" b="0" i="0">
                <a:solidFill>
                  <a:srgbClr val="375A23"/>
                </a:solidFill>
                <a:latin typeface="Calibri"/>
              </a:rPr>
              <a:t>dataset at once. This is what makes the approach viable when data exceeds 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Results — R²</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Held-out test set, never used for training or tuning</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sp>
        <p:nvSpPr>
          <p:cNvPr id="6" name="Rounded Rectangle 5"/>
          <p:cNvSpPr/>
          <p:nvPr/>
        </p:nvSpPr>
        <p:spPr>
          <a:xfrm>
            <a:off x="1051560" y="1627632"/>
            <a:ext cx="4206240" cy="178308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912924"/>
            <a:ext cx="4206240" cy="802386"/>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0.5362</a:t>
            </a:r>
          </a:p>
        </p:txBody>
      </p:sp>
      <p:sp>
        <p:nvSpPr>
          <p:cNvPr id="8" name="TextBox 7"/>
          <p:cNvSpPr txBox="1"/>
          <p:nvPr/>
        </p:nvSpPr>
        <p:spPr>
          <a:xfrm>
            <a:off x="1051560" y="2804464"/>
            <a:ext cx="4206240" cy="534924"/>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TRAINING  R²</a:t>
            </a:r>
          </a:p>
        </p:txBody>
      </p:sp>
      <p:sp>
        <p:nvSpPr>
          <p:cNvPr id="9" name="Rounded Rectangle 8"/>
          <p:cNvSpPr/>
          <p:nvPr/>
        </p:nvSpPr>
        <p:spPr>
          <a:xfrm>
            <a:off x="6446520" y="1627632"/>
            <a:ext cx="4206240" cy="1783080"/>
          </a:xfrm>
          <a:prstGeom prst="roundRect">
            <a:avLst>
              <a:gd name="adj" fmla="val 6000"/>
            </a:avLst>
          </a:prstGeom>
          <a:solidFill>
            <a:srgbClr val="E2EFDA"/>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912924"/>
            <a:ext cx="4206240" cy="802386"/>
          </a:xfrm>
          <a:prstGeom prst="rect">
            <a:avLst/>
          </a:prstGeom>
          <a:noFill/>
        </p:spPr>
        <p:txBody>
          <a:bodyPr wrap="square" lIns="0" tIns="0" rIns="0" bIns="0">
            <a:spAutoFit/>
          </a:bodyPr>
          <a:lstStyle/>
          <a:p>
            <a:pPr algn="ctr">
              <a:spcAft>
                <a:spcPts val="600"/>
              </a:spcAft>
            </a:pPr>
            <a:r>
              <a:rPr sz="3400" b="1" i="0">
                <a:solidFill>
                  <a:srgbClr val="548235"/>
                </a:solidFill>
                <a:latin typeface="Calibri"/>
              </a:rPr>
              <a:t>0.5356</a:t>
            </a:r>
          </a:p>
        </p:txBody>
      </p:sp>
      <p:sp>
        <p:nvSpPr>
          <p:cNvPr id="11" name="TextBox 10"/>
          <p:cNvSpPr txBox="1"/>
          <p:nvPr/>
        </p:nvSpPr>
        <p:spPr>
          <a:xfrm>
            <a:off x="6446520" y="2804464"/>
            <a:ext cx="4206240" cy="534924"/>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TEST  R²</a:t>
            </a:r>
          </a:p>
        </p:txBody>
      </p:sp>
      <p:graphicFrame>
        <p:nvGraphicFramePr>
          <p:cNvPr id="12" name="Table 11"/>
          <p:cNvGraphicFramePr>
            <a:graphicFrameLocks noGrp="1"/>
          </p:cNvGraphicFramePr>
          <p:nvPr/>
        </p:nvGraphicFramePr>
        <p:xfrm>
          <a:off x="1051560" y="3794760"/>
          <a:ext cx="9601200" cy="1755648"/>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438912">
                <a:tc>
                  <a:txBody>
                    <a:bodyPr/>
                    <a:lstStyle/>
                    <a:p>
                      <a:pPr algn="l"/>
                      <a:r>
                        <a:rPr sz="1500" b="1">
                          <a:solidFill>
                            <a:srgbClr val="FFFFFF"/>
                          </a:solidFill>
                          <a:latin typeface="Calibri"/>
                        </a:rPr>
                        <a:t>Benchmark</a:t>
                      </a:r>
                    </a:p>
                  </a:txBody>
                  <a:tcPr marL="82296" marT="18288" marB="18288" anchor="ctr">
                    <a:solidFill>
                      <a:srgbClr val="1F4E79"/>
                    </a:solidFill>
                  </a:tcPr>
                </a:tc>
                <a:tc>
                  <a:txBody>
                    <a:bodyPr/>
                    <a:lstStyle/>
                    <a:p>
                      <a:pPr algn="ctr"/>
                      <a:r>
                        <a:rPr sz="1500" b="1">
                          <a:solidFill>
                            <a:srgbClr val="FFFFFF"/>
                          </a:solidFill>
                          <a:latin typeface="Calibri"/>
                        </a:rPr>
                        <a:t>Test R²</a:t>
                      </a:r>
                    </a:p>
                  </a:txBody>
                  <a:tcPr marL="82296" marT="18288" marB="18288" anchor="ctr">
                    <a:solidFill>
                      <a:srgbClr val="1F4E79"/>
                    </a:solidFill>
                  </a:tcPr>
                </a:tc>
                <a:tc>
                  <a:txBody>
                    <a:bodyPr/>
                    <a:lstStyle/>
                    <a:p>
                      <a:pPr algn="ctr"/>
                      <a:r>
                        <a:rPr sz="1500" b="1">
                          <a:solidFill>
                            <a:srgbClr val="FFFFFF"/>
                          </a:solidFill>
                          <a:latin typeface="Calibri"/>
                        </a:rPr>
                        <a:t>Test MSE</a:t>
                      </a:r>
                    </a:p>
                  </a:txBody>
                  <a:tcPr marL="82296" marT="18288" marB="18288" anchor="ctr">
                    <a:solidFill>
                      <a:srgbClr val="1F4E79"/>
                    </a:solidFill>
                  </a:tcPr>
                </a:tc>
                <a:extLst>
                  <a:ext uri="{0D108BD9-81ED-4DB2-BD59-A6C34878D82A}">
                    <a16:rowId xmlns:a16="http://schemas.microsoft.com/office/drawing/2014/main" val="10000"/>
                  </a:ext>
                </a:extLst>
              </a:tr>
              <a:tr h="438912">
                <a:tc>
                  <a:txBody>
                    <a:bodyPr/>
                    <a:lstStyle/>
                    <a:p>
                      <a:pPr algn="l"/>
                      <a:r>
                        <a:rPr sz="1500" b="0">
                          <a:solidFill>
                            <a:srgbClr val="404040"/>
                          </a:solidFill>
                          <a:latin typeface="Calibri"/>
                        </a:rPr>
                        <a:t>Predict the mean</a:t>
                      </a:r>
                    </a:p>
                  </a:txBody>
                  <a:tcPr marL="82296" marT="18288" marB="18288" anchor="ctr">
                    <a:solidFill>
                      <a:srgbClr val="FFFFFF"/>
                    </a:solidFill>
                  </a:tcPr>
                </a:tc>
                <a:tc>
                  <a:txBody>
                    <a:bodyPr/>
                    <a:lstStyle/>
                    <a:p>
                      <a:pPr algn="ctr"/>
                      <a:r>
                        <a:rPr sz="1500" b="0">
                          <a:solidFill>
                            <a:srgbClr val="404040"/>
                          </a:solidFill>
                          <a:latin typeface="Calibri"/>
                        </a:rPr>
                        <a:t>0.0000</a:t>
                      </a:r>
                    </a:p>
                  </a:txBody>
                  <a:tcPr marL="82296" marT="18288" marB="18288" anchor="ctr">
                    <a:solidFill>
                      <a:srgbClr val="FFFFFF"/>
                    </a:solidFill>
                  </a:tcPr>
                </a:tc>
                <a:tc>
                  <a:txBody>
                    <a:bodyPr/>
                    <a:lstStyle/>
                    <a:p>
                      <a:pPr algn="ctr"/>
                      <a:r>
                        <a:rPr sz="1500" b="0">
                          <a:solidFill>
                            <a:srgbClr val="404040"/>
                          </a:solidFill>
                          <a:latin typeface="Calibri"/>
                        </a:rPr>
                        <a:t>2,478.8</a:t>
                      </a:r>
                    </a:p>
                  </a:txBody>
                  <a:tcPr marL="82296" marT="18288" marB="18288" anchor="ctr">
                    <a:solidFill>
                      <a:srgbClr val="FFFFFF"/>
                    </a:solidFill>
                  </a:tcPr>
                </a:tc>
                <a:extLst>
                  <a:ext uri="{0D108BD9-81ED-4DB2-BD59-A6C34878D82A}">
                    <a16:rowId xmlns:a16="http://schemas.microsoft.com/office/drawing/2014/main" val="10001"/>
                  </a:ext>
                </a:extLst>
              </a:tr>
              <a:tr h="438912">
                <a:tc>
                  <a:txBody>
                    <a:bodyPr/>
                    <a:lstStyle/>
                    <a:p>
                      <a:pPr algn="l"/>
                      <a:r>
                        <a:rPr sz="1500" b="0">
                          <a:solidFill>
                            <a:srgbClr val="404040"/>
                          </a:solidFill>
                          <a:latin typeface="Calibri"/>
                        </a:rPr>
                        <a:t>Linear regression (same split)</a:t>
                      </a:r>
                    </a:p>
                  </a:txBody>
                  <a:tcPr marL="82296" marT="18288" marB="18288" anchor="ctr">
                    <a:solidFill>
                      <a:srgbClr val="F2F2F2"/>
                    </a:solidFill>
                  </a:tcPr>
                </a:tc>
                <a:tc>
                  <a:txBody>
                    <a:bodyPr/>
                    <a:lstStyle/>
                    <a:p>
                      <a:pPr algn="ctr"/>
                      <a:r>
                        <a:rPr sz="1500" b="0">
                          <a:solidFill>
                            <a:srgbClr val="404040"/>
                          </a:solidFill>
                          <a:latin typeface="Calibri"/>
                        </a:rPr>
                        <a:t>0.3744</a:t>
                      </a:r>
                    </a:p>
                  </a:txBody>
                  <a:tcPr marL="82296" marT="18288" marB="18288" anchor="ctr">
                    <a:solidFill>
                      <a:srgbClr val="F2F2F2"/>
                    </a:solidFill>
                  </a:tcPr>
                </a:tc>
                <a:tc>
                  <a:txBody>
                    <a:bodyPr/>
                    <a:lstStyle/>
                    <a:p>
                      <a:pPr algn="ctr"/>
                      <a:r>
                        <a:rPr sz="1500" b="0">
                          <a:solidFill>
                            <a:srgbClr val="404040"/>
                          </a:solidFill>
                          <a:latin typeface="Calibri"/>
                        </a:rPr>
                        <a:t>1,550.7</a:t>
                      </a:r>
                    </a:p>
                  </a:txBody>
                  <a:tcPr marL="82296" marT="18288" marB="18288" anchor="ctr">
                    <a:solidFill>
                      <a:srgbClr val="F2F2F2"/>
                    </a:solidFill>
                  </a:tcPr>
                </a:tc>
                <a:extLst>
                  <a:ext uri="{0D108BD9-81ED-4DB2-BD59-A6C34878D82A}">
                    <a16:rowId xmlns:a16="http://schemas.microsoft.com/office/drawing/2014/main" val="10002"/>
                  </a:ext>
                </a:extLst>
              </a:tr>
              <a:tr h="438912">
                <a:tc>
                  <a:txBody>
                    <a:bodyPr/>
                    <a:lstStyle/>
                    <a:p>
                      <a:pPr algn="l"/>
                      <a:r>
                        <a:rPr sz="1500" b="1">
                          <a:solidFill>
                            <a:srgbClr val="548235"/>
                          </a:solidFill>
                          <a:latin typeface="Calibri"/>
                        </a:rPr>
                        <a:t>Our neural network</a:t>
                      </a:r>
                    </a:p>
                  </a:txBody>
                  <a:tcPr marL="82296" marT="18288" marB="18288" anchor="ctr">
                    <a:solidFill>
                      <a:srgbClr val="FFFFFF"/>
                    </a:solidFill>
                  </a:tcPr>
                </a:tc>
                <a:tc>
                  <a:txBody>
                    <a:bodyPr/>
                    <a:lstStyle/>
                    <a:p>
                      <a:pPr algn="ctr"/>
                      <a:r>
                        <a:rPr sz="1500" b="1">
                          <a:solidFill>
                            <a:srgbClr val="548235"/>
                          </a:solidFill>
                          <a:latin typeface="Calibri"/>
                        </a:rPr>
                        <a:t>0.5356</a:t>
                      </a:r>
                    </a:p>
                  </a:txBody>
                  <a:tcPr marL="82296" marT="18288" marB="18288" anchor="ctr">
                    <a:solidFill>
                      <a:srgbClr val="FFFFFF"/>
                    </a:solidFill>
                  </a:tcPr>
                </a:tc>
                <a:tc>
                  <a:txBody>
                    <a:bodyPr/>
                    <a:lstStyle/>
                    <a:p>
                      <a:pPr algn="ctr"/>
                      <a:r>
                        <a:rPr sz="1500" b="1">
                          <a:solidFill>
                            <a:srgbClr val="548235"/>
                          </a:solidFill>
                          <a:latin typeface="Calibri"/>
                        </a:rPr>
                        <a:t>1,151.2</a:t>
                      </a:r>
                    </a:p>
                  </a:txBody>
                  <a:tcPr marL="82296"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3" name="Rounded Rectangle 12"/>
          <p:cNvSpPr/>
          <p:nvPr/>
        </p:nvSpPr>
        <p:spPr>
          <a:xfrm>
            <a:off x="1051560" y="5669280"/>
            <a:ext cx="9601200" cy="777240"/>
          </a:xfrm>
          <a:prstGeom prst="roundRect">
            <a:avLst>
              <a:gd name="adj" fmla="val 6000"/>
            </a:avLst>
          </a:prstGeom>
          <a:solidFill>
            <a:srgbClr val="DEEBF7"/>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25880" y="5833872"/>
            <a:ext cx="9144000" cy="457200"/>
          </a:xfrm>
          <a:prstGeom prst="rect">
            <a:avLst/>
          </a:prstGeom>
          <a:noFill/>
        </p:spPr>
        <p:txBody>
          <a:bodyPr wrap="square" lIns="0" tIns="0" rIns="0" bIns="0">
            <a:spAutoFit/>
          </a:bodyPr>
          <a:lstStyle/>
          <a:p>
            <a:pPr algn="l">
              <a:spcAft>
                <a:spcPts val="600"/>
              </a:spcAft>
            </a:pPr>
            <a:r>
              <a:rPr sz="1500" b="1" i="0">
                <a:solidFill>
                  <a:srgbClr val="1F4E79"/>
                </a:solidFill>
                <a:latin typeface="Calibri"/>
              </a:rPr>
              <a:t>Gap between train and test = 0.0006  →  no overfitting, and we beat linear regression by 0.16 R²</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Learning Curve</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Moving-average MSE vs. instances learned</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pic>
        <p:nvPicPr>
          <p:cNvPr id="6" name="Picture 5" descr="learning_curve.png"/>
          <p:cNvPicPr>
            <a:picLocks noChangeAspect="1"/>
          </p:cNvPicPr>
          <p:nvPr/>
        </p:nvPicPr>
        <p:blipFill>
          <a:blip r:embed="rId3"/>
          <a:stretch>
            <a:fillRect/>
          </a:stretch>
        </p:blipFill>
        <p:spPr>
          <a:xfrm>
            <a:off x="1234440" y="1371600"/>
            <a:ext cx="6872218" cy="4160520"/>
          </a:xfrm>
          <a:prstGeom prst="rect">
            <a:avLst/>
          </a:prstGeom>
        </p:spPr>
      </p:pic>
      <p:sp>
        <p:nvSpPr>
          <p:cNvPr id="7" name="Rounded Rectangle 6"/>
          <p:cNvSpPr/>
          <p:nvPr/>
        </p:nvSpPr>
        <p:spPr>
          <a:xfrm>
            <a:off x="1234440" y="5742432"/>
            <a:ext cx="9692640" cy="749808"/>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81328" y="5897880"/>
            <a:ext cx="9235440" cy="457200"/>
          </a:xfrm>
          <a:prstGeom prst="rect">
            <a:avLst/>
          </a:prstGeom>
          <a:noFill/>
        </p:spPr>
        <p:txBody>
          <a:bodyPr wrap="square" lIns="0" tIns="0" rIns="0" bIns="0">
            <a:spAutoFit/>
          </a:bodyPr>
          <a:lstStyle/>
          <a:p>
            <a:pPr algn="l">
              <a:spcAft>
                <a:spcPts val="600"/>
              </a:spcAft>
            </a:pPr>
            <a:r>
              <a:rPr sz="1500" b="1" i="0">
                <a:solidFill>
                  <a:srgbClr val="1F4E79"/>
                </a:solidFill>
                <a:latin typeface="Calibri"/>
              </a:rPr>
              <a:t>Smoothed MSE falls 1,513 → 1,233 across 400,000 instances.  Noise is batch-level variance, not instability.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Variable Importance</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Permutation importance — drop in test R² when shuffled</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pic>
        <p:nvPicPr>
          <p:cNvPr id="6" name="Picture 5" descr="variable_importance.png"/>
          <p:cNvPicPr>
            <a:picLocks noChangeAspect="1"/>
          </p:cNvPicPr>
          <p:nvPr/>
        </p:nvPicPr>
        <p:blipFill>
          <a:blip r:embed="rId3"/>
          <a:stretch>
            <a:fillRect/>
          </a:stretch>
        </p:blipFill>
        <p:spPr>
          <a:xfrm>
            <a:off x="777240" y="1371600"/>
            <a:ext cx="6754577" cy="3931920"/>
          </a:xfrm>
          <a:prstGeom prst="rect">
            <a:avLst/>
          </a:prstGeom>
        </p:spPr>
      </p:pic>
      <p:sp>
        <p:nvSpPr>
          <p:cNvPr id="7" name="Rounded Rectangle 6"/>
          <p:cNvSpPr/>
          <p:nvPr/>
        </p:nvSpPr>
        <p:spPr>
          <a:xfrm>
            <a:off x="8275320" y="1463040"/>
            <a:ext cx="3246120" cy="3749039"/>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0" y="1664208"/>
            <a:ext cx="2834640" cy="320040"/>
          </a:xfrm>
          <a:prstGeom prst="rect">
            <a:avLst/>
          </a:prstGeom>
          <a:noFill/>
        </p:spPr>
        <p:txBody>
          <a:bodyPr wrap="square" lIns="0" tIns="0" rIns="0" bIns="0">
            <a:spAutoFit/>
          </a:bodyPr>
          <a:lstStyle/>
          <a:p>
            <a:pPr algn="l">
              <a:spcAft>
                <a:spcPts val="600"/>
              </a:spcAft>
            </a:pPr>
            <a:r>
              <a:rPr sz="1600" b="1" i="0">
                <a:solidFill>
                  <a:srgbClr val="1F4E79"/>
                </a:solidFill>
                <a:latin typeface="Calibri"/>
              </a:rPr>
              <a:t>Reading it</a:t>
            </a:r>
          </a:p>
        </p:txBody>
      </p:sp>
      <p:sp>
        <p:nvSpPr>
          <p:cNvPr id="9" name="Rounded Rectangle 8"/>
          <p:cNvSpPr/>
          <p:nvPr/>
        </p:nvSpPr>
        <p:spPr>
          <a:xfrm>
            <a:off x="8503920" y="222656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0" y="2148840"/>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duration dominates</a:t>
            </a:r>
          </a:p>
        </p:txBody>
      </p:sp>
      <p:sp>
        <p:nvSpPr>
          <p:cNvPr id="11" name="Rounded Rectangle 10"/>
          <p:cNvSpPr/>
          <p:nvPr/>
        </p:nvSpPr>
        <p:spPr>
          <a:xfrm>
            <a:off x="8503920" y="2610612"/>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0" y="2532888"/>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0.97 R² drop when shuffled</a:t>
            </a:r>
          </a:p>
        </p:txBody>
      </p:sp>
      <p:sp>
        <p:nvSpPr>
          <p:cNvPr id="13" name="Rounded Rectangle 12"/>
          <p:cNvSpPr/>
          <p:nvPr/>
        </p:nvSpPr>
        <p:spPr>
          <a:xfrm>
            <a:off x="8503920" y="2994660"/>
            <a:ext cx="100584" cy="100584"/>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2916936"/>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price is secondary</a:t>
            </a:r>
          </a:p>
        </p:txBody>
      </p:sp>
      <p:sp>
        <p:nvSpPr>
          <p:cNvPr id="15" name="Rounded Rectangle 14"/>
          <p:cNvSpPr/>
          <p:nvPr/>
        </p:nvSpPr>
        <p:spPr>
          <a:xfrm>
            <a:off x="8503920" y="3378708"/>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0" y="3300984"/>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0.38 R² drop</a:t>
            </a:r>
          </a:p>
        </p:txBody>
      </p:sp>
      <p:sp>
        <p:nvSpPr>
          <p:cNvPr id="17" name="Rounded Rectangle 16"/>
          <p:cNvSpPr/>
          <p:nvPr/>
        </p:nvSpPr>
        <p:spPr>
          <a:xfrm>
            <a:off x="8503920" y="376275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0" y="368503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sku, order, category</a:t>
            </a:r>
          </a:p>
        </p:txBody>
      </p:sp>
      <p:sp>
        <p:nvSpPr>
          <p:cNvPr id="19" name="Rounded Rectangle 18"/>
          <p:cNvSpPr/>
          <p:nvPr/>
        </p:nvSpPr>
        <p:spPr>
          <a:xfrm>
            <a:off x="8503920" y="4146804"/>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0" y="4069080"/>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near zero — little signal</a:t>
            </a:r>
          </a:p>
        </p:txBody>
      </p:sp>
      <p:sp>
        <p:nvSpPr>
          <p:cNvPr id="21" name="TextBox 20"/>
          <p:cNvSpPr txBox="1"/>
          <p:nvPr/>
        </p:nvSpPr>
        <p:spPr>
          <a:xfrm>
            <a:off x="8503920" y="4617720"/>
            <a:ext cx="2834640" cy="548640"/>
          </a:xfrm>
          <a:prstGeom prst="rect">
            <a:avLst/>
          </a:prstGeom>
          <a:noFill/>
        </p:spPr>
        <p:txBody>
          <a:bodyPr wrap="square" lIns="0" tIns="0" rIns="0" bIns="0">
            <a:spAutoFit/>
          </a:bodyPr>
          <a:lstStyle/>
          <a:p>
            <a:pPr algn="l">
              <a:spcAft>
                <a:spcPts val="100"/>
              </a:spcAft>
            </a:pPr>
            <a:r>
              <a:rPr sz="1150" b="0" i="1">
                <a:solidFill>
                  <a:srgbClr val="C55A11"/>
                </a:solidFill>
                <a:latin typeface="Calibri"/>
              </a:rPr>
              <a:t>A drop &gt; current R² means the</a:t>
            </a:r>
          </a:p>
          <a:p>
            <a:pPr algn="l">
              <a:spcAft>
                <a:spcPts val="100"/>
              </a:spcAft>
            </a:pPr>
            <a:r>
              <a:rPr sz="1150" b="0" i="1">
                <a:solidFill>
                  <a:srgbClr val="C55A11"/>
                </a:solidFill>
                <a:latin typeface="Calibri"/>
              </a:rPr>
              <a:t>model becomes worse than</a:t>
            </a:r>
          </a:p>
          <a:p>
            <a:pPr algn="l">
              <a:spcAft>
                <a:spcPts val="100"/>
              </a:spcAft>
            </a:pPr>
            <a:r>
              <a:rPr sz="1150" b="0" i="1">
                <a:solidFill>
                  <a:srgbClr val="C55A11"/>
                </a:solidFill>
                <a:latin typeface="Calibri"/>
              </a:rPr>
              <a:t>predicting the mean.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Partial Dependence Plots</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Effect of each feature while others are held at their means</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sp>
        <p:nvSpPr>
          <p:cNvPr id="6" name="Rounded Rectangle 5"/>
          <p:cNvSpPr/>
          <p:nvPr/>
        </p:nvSpPr>
        <p:spPr>
          <a:xfrm>
            <a:off x="685800" y="1371600"/>
            <a:ext cx="7452360" cy="4709160"/>
          </a:xfrm>
          <a:prstGeom prst="roundRect">
            <a:avLst>
              <a:gd name="adj" fmla="val 6000"/>
            </a:avLst>
          </a:prstGeom>
          <a:solidFill>
            <a:srgbClr val="FFFFFF"/>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246120"/>
            <a:ext cx="6995160" cy="1097280"/>
          </a:xfrm>
          <a:prstGeom prst="rect">
            <a:avLst/>
          </a:prstGeom>
          <a:noFill/>
        </p:spPr>
        <p:txBody>
          <a:bodyPr wrap="square" lIns="0" tIns="0" rIns="0" bIns="0">
            <a:spAutoFit/>
          </a:bodyPr>
          <a:lstStyle/>
          <a:p>
            <a:pPr algn="ctr">
              <a:spcAft>
                <a:spcPts val="600"/>
              </a:spcAft>
            </a:pPr>
            <a:r>
              <a:rPr sz="1500" b="1" i="0">
                <a:solidFill>
                  <a:srgbClr val="2E75B6"/>
                </a:solidFill>
                <a:latin typeface="Calibri"/>
              </a:rPr>
              <a:t>◼  PASTE  results/plots/partial_dependence_plots.png  HERE</a:t>
            </a:r>
          </a:p>
          <a:p>
            <a:pPr algn="ctr">
              <a:spcAft>
                <a:spcPts val="600"/>
              </a:spcAft>
            </a:pPr>
            <a:endParaRPr sz="1500" b="1" i="0">
              <a:solidFill>
                <a:srgbClr val="2E75B6"/>
              </a:solidFill>
              <a:latin typeface="Calibri"/>
            </a:endParaRPr>
          </a:p>
          <a:p>
            <a:pPr algn="ctr">
              <a:spcAft>
                <a:spcPts val="600"/>
              </a:spcAft>
            </a:pPr>
            <a:r>
              <a:rPr sz="1500" b="1" i="0">
                <a:solidFill>
                  <a:srgbClr val="2E75B6"/>
                </a:solidFill>
                <a:latin typeface="Calibri"/>
              </a:rPr>
              <a:t>(5-panel figure: sku · price · order · duration · category)</a:t>
            </a:r>
          </a:p>
        </p:txBody>
      </p:sp>
      <p:sp>
        <p:nvSpPr>
          <p:cNvPr id="8" name="Rounded Rectangle 7"/>
          <p:cNvSpPr/>
          <p:nvPr/>
        </p:nvSpPr>
        <p:spPr>
          <a:xfrm>
            <a:off x="8321040" y="1371600"/>
            <a:ext cx="3200400" cy="470916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49640" y="1572768"/>
            <a:ext cx="2743200" cy="320040"/>
          </a:xfrm>
          <a:prstGeom prst="rect">
            <a:avLst/>
          </a:prstGeom>
          <a:noFill/>
        </p:spPr>
        <p:txBody>
          <a:bodyPr wrap="square" lIns="0" tIns="0" rIns="0" bIns="0">
            <a:spAutoFit/>
          </a:bodyPr>
          <a:lstStyle/>
          <a:p>
            <a:pPr algn="l">
              <a:spcAft>
                <a:spcPts val="600"/>
              </a:spcAft>
            </a:pPr>
            <a:r>
              <a:rPr sz="1550" b="1" i="0">
                <a:solidFill>
                  <a:srgbClr val="1F4E79"/>
                </a:solidFill>
                <a:latin typeface="Calibri"/>
              </a:rPr>
              <a:t>What each panel shows</a:t>
            </a:r>
          </a:p>
        </p:txBody>
      </p:sp>
      <p:sp>
        <p:nvSpPr>
          <p:cNvPr id="10" name="Rounded Rectangle 9"/>
          <p:cNvSpPr/>
          <p:nvPr/>
        </p:nvSpPr>
        <p:spPr>
          <a:xfrm>
            <a:off x="8549640" y="2162556"/>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23960" y="2084831"/>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duration</a:t>
            </a:r>
          </a:p>
        </p:txBody>
      </p:sp>
      <p:sp>
        <p:nvSpPr>
          <p:cNvPr id="12" name="Rounded Rectangle 11"/>
          <p:cNvSpPr/>
          <p:nvPr/>
        </p:nvSpPr>
        <p:spPr>
          <a:xfrm>
            <a:off x="8549640" y="2528315"/>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23960" y="2450591"/>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steep rise — dominant</a:t>
            </a:r>
          </a:p>
        </p:txBody>
      </p:sp>
      <p:sp>
        <p:nvSpPr>
          <p:cNvPr id="14" name="Rounded Rectangle 13"/>
          <p:cNvSpPr/>
          <p:nvPr/>
        </p:nvSpPr>
        <p:spPr>
          <a:xfrm>
            <a:off x="8549640" y="2894076"/>
            <a:ext cx="100584" cy="100584"/>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23960" y="281635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price</a:t>
            </a:r>
          </a:p>
        </p:txBody>
      </p:sp>
      <p:sp>
        <p:nvSpPr>
          <p:cNvPr id="16" name="Rounded Rectangle 15"/>
          <p:cNvSpPr/>
          <p:nvPr/>
        </p:nvSpPr>
        <p:spPr>
          <a:xfrm>
            <a:off x="8549640" y="325983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23960" y="318211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sharp fall then flat</a:t>
            </a:r>
          </a:p>
        </p:txBody>
      </p:sp>
      <p:sp>
        <p:nvSpPr>
          <p:cNvPr id="18" name="Rounded Rectangle 17"/>
          <p:cNvSpPr/>
          <p:nvPr/>
        </p:nvSpPr>
        <p:spPr>
          <a:xfrm>
            <a:off x="8549640" y="3625596"/>
            <a:ext cx="100584" cy="100584"/>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23960" y="354787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order</a:t>
            </a:r>
          </a:p>
        </p:txBody>
      </p:sp>
      <p:sp>
        <p:nvSpPr>
          <p:cNvPr id="20" name="Rounded Rectangle 19"/>
          <p:cNvSpPr/>
          <p:nvPr/>
        </p:nvSpPr>
        <p:spPr>
          <a:xfrm>
            <a:off x="8549640" y="3991355"/>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23960" y="3913631"/>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rises at extreme values</a:t>
            </a:r>
          </a:p>
        </p:txBody>
      </p:sp>
      <p:sp>
        <p:nvSpPr>
          <p:cNvPr id="22" name="Rounded Rectangle 21"/>
          <p:cNvSpPr/>
          <p:nvPr/>
        </p:nvSpPr>
        <p:spPr>
          <a:xfrm>
            <a:off x="8549640" y="435711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23960" y="427939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category</a:t>
            </a:r>
          </a:p>
        </p:txBody>
      </p:sp>
      <p:sp>
        <p:nvSpPr>
          <p:cNvPr id="24" name="Rounded Rectangle 23"/>
          <p:cNvSpPr/>
          <p:nvPr/>
        </p:nvSpPr>
        <p:spPr>
          <a:xfrm>
            <a:off x="8549640" y="472287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23960" y="464515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gentle wave, ±3 units</a:t>
            </a:r>
          </a:p>
        </p:txBody>
      </p:sp>
      <p:sp>
        <p:nvSpPr>
          <p:cNvPr id="26" name="Rounded Rectangle 25"/>
          <p:cNvSpPr/>
          <p:nvPr/>
        </p:nvSpPr>
        <p:spPr>
          <a:xfrm>
            <a:off x="8549640" y="508863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23960" y="501091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sku</a:t>
            </a:r>
          </a:p>
        </p:txBody>
      </p:sp>
      <p:sp>
        <p:nvSpPr>
          <p:cNvPr id="28" name="Rounded Rectangle 27"/>
          <p:cNvSpPr/>
          <p:nvPr/>
        </p:nvSpPr>
        <p:spPr>
          <a:xfrm>
            <a:off x="8549640" y="5454396"/>
            <a:ext cx="100584" cy="1005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23960" y="5376672"/>
            <a:ext cx="2651760" cy="365760"/>
          </a:xfrm>
          <a:prstGeom prst="rect">
            <a:avLst/>
          </a:prstGeom>
          <a:noFill/>
        </p:spPr>
        <p:txBody>
          <a:bodyPr wrap="square" lIns="0" tIns="0" rIns="0" bIns="0">
            <a:spAutoFit/>
          </a:bodyPr>
          <a:lstStyle/>
          <a:p>
            <a:pPr algn="l">
              <a:spcAft>
                <a:spcPts val="600"/>
              </a:spcAft>
            </a:pPr>
            <a:r>
              <a:rPr sz="1250" b="0" i="0">
                <a:solidFill>
                  <a:srgbClr val="404040"/>
                </a:solidFill>
                <a:latin typeface="Calibri"/>
              </a:rPr>
              <a:t>flat — no signal</a:t>
            </a:r>
          </a:p>
        </p:txBody>
      </p:sp>
      <p:sp>
        <p:nvSpPr>
          <p:cNvPr id="30" name="TextBox 29"/>
          <p:cNvSpPr txBox="1"/>
          <p:nvPr/>
        </p:nvSpPr>
        <p:spPr>
          <a:xfrm>
            <a:off x="8549640" y="5532120"/>
            <a:ext cx="2743200" cy="457200"/>
          </a:xfrm>
          <a:prstGeom prst="rect">
            <a:avLst/>
          </a:prstGeom>
          <a:noFill/>
        </p:spPr>
        <p:txBody>
          <a:bodyPr wrap="square" lIns="0" tIns="0" rIns="0" bIns="0">
            <a:spAutoFit/>
          </a:bodyPr>
          <a:lstStyle/>
          <a:p>
            <a:pPr algn="l">
              <a:spcAft>
                <a:spcPts val="100"/>
              </a:spcAft>
            </a:pPr>
            <a:r>
              <a:rPr sz="1200" b="1" i="0">
                <a:solidFill>
                  <a:srgbClr val="548235"/>
                </a:solidFill>
                <a:latin typeface="Calibri"/>
              </a:rPr>
              <a:t>Ranking matches the</a:t>
            </a:r>
          </a:p>
          <a:p>
            <a:pPr algn="l">
              <a:spcAft>
                <a:spcPts val="100"/>
              </a:spcAft>
            </a:pPr>
            <a:r>
              <a:rPr sz="1200" b="1" i="0">
                <a:solidFill>
                  <a:srgbClr val="548235"/>
                </a:solidFill>
                <a:latin typeface="Calibri"/>
              </a:rPr>
              <a:t>importance plot exactly.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Reading the PDPs Correctly</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Where the curves are trustworthy — and where they are not</a:t>
            </a:r>
          </a:p>
        </p:txBody>
      </p:sp>
      <p:graphicFrame>
        <p:nvGraphicFramePr>
          <p:cNvPr id="5" name="Table 4"/>
          <p:cNvGraphicFramePr>
            <a:graphicFrameLocks noGrp="1"/>
          </p:cNvGraphicFramePr>
          <p:nvPr>
            <p:extLst>
              <p:ext uri="{D42A27DB-BD31-4B8C-83A1-F6EECF244321}">
                <p14:modId xmlns:p14="http://schemas.microsoft.com/office/powerpoint/2010/main" val="3858801459"/>
              </p:ext>
            </p:extLst>
          </p:nvPr>
        </p:nvGraphicFramePr>
        <p:xfrm>
          <a:off x="685800" y="1536192"/>
          <a:ext cx="10789918" cy="2523744"/>
        </p:xfrm>
        <a:graphic>
          <a:graphicData uri="http://schemas.openxmlformats.org/drawingml/2006/table">
            <a:tbl>
              <a:tblPr firstRow="1" bandRow="1">
                <a:tableStyleId>{5C22544A-7EE6-4342-B048-85BDC9FD1C3A}</a:tableStyleId>
              </a:tblPr>
              <a:tblGrid>
                <a:gridCol w="1749716">
                  <a:extLst>
                    <a:ext uri="{9D8B030D-6E8A-4147-A177-3AD203B41FA5}">
                      <a16:colId xmlns:a16="http://schemas.microsoft.com/office/drawing/2014/main" val="20000"/>
                    </a:ext>
                  </a:extLst>
                </a:gridCol>
                <a:gridCol w="2332955">
                  <a:extLst>
                    <a:ext uri="{9D8B030D-6E8A-4147-A177-3AD203B41FA5}">
                      <a16:colId xmlns:a16="http://schemas.microsoft.com/office/drawing/2014/main" val="20001"/>
                    </a:ext>
                  </a:extLst>
                </a:gridCol>
                <a:gridCol w="2430162">
                  <a:extLst>
                    <a:ext uri="{9D8B030D-6E8A-4147-A177-3AD203B41FA5}">
                      <a16:colId xmlns:a16="http://schemas.microsoft.com/office/drawing/2014/main" val="20002"/>
                    </a:ext>
                  </a:extLst>
                </a:gridCol>
                <a:gridCol w="4277085">
                  <a:extLst>
                    <a:ext uri="{9D8B030D-6E8A-4147-A177-3AD203B41FA5}">
                      <a16:colId xmlns:a16="http://schemas.microsoft.com/office/drawing/2014/main" val="20003"/>
                    </a:ext>
                  </a:extLst>
                </a:gridCol>
              </a:tblGrid>
              <a:tr h="420624">
                <a:tc>
                  <a:txBody>
                    <a:bodyPr/>
                    <a:lstStyle/>
                    <a:p>
                      <a:pPr algn="l"/>
                      <a:r>
                        <a:rPr sz="1350" b="1">
                          <a:solidFill>
                            <a:srgbClr val="FFFFFF"/>
                          </a:solidFill>
                          <a:latin typeface="Calibri"/>
                        </a:rPr>
                        <a:t>Feature</a:t>
                      </a:r>
                    </a:p>
                  </a:txBody>
                  <a:tcPr marL="82296" marT="18288" marB="18288" anchor="ctr">
                    <a:solidFill>
                      <a:srgbClr val="1F4E79"/>
                    </a:solidFill>
                  </a:tcPr>
                </a:tc>
                <a:tc>
                  <a:txBody>
                    <a:bodyPr/>
                    <a:lstStyle/>
                    <a:p>
                      <a:pPr algn="ctr"/>
                      <a:r>
                        <a:rPr sz="1350" b="1">
                          <a:solidFill>
                            <a:srgbClr val="FFFFFF"/>
                          </a:solidFill>
                          <a:latin typeface="Calibri"/>
                        </a:rPr>
                        <a:t>Direction</a:t>
                      </a:r>
                    </a:p>
                  </a:txBody>
                  <a:tcPr marL="82296" marT="18288" marB="18288" anchor="ctr">
                    <a:solidFill>
                      <a:srgbClr val="1F4E79"/>
                    </a:solidFill>
                  </a:tcPr>
                </a:tc>
                <a:tc>
                  <a:txBody>
                    <a:bodyPr/>
                    <a:lstStyle/>
                    <a:p>
                      <a:pPr algn="ctr"/>
                      <a:r>
                        <a:rPr sz="1350" b="1">
                          <a:solidFill>
                            <a:srgbClr val="FFFFFF"/>
                          </a:solidFill>
                          <a:latin typeface="Calibri"/>
                        </a:rPr>
                        <a:t>Trustworthy range</a:t>
                      </a:r>
                    </a:p>
                  </a:txBody>
                  <a:tcPr marL="82296" marT="18288" marB="18288" anchor="ctr">
                    <a:solidFill>
                      <a:srgbClr val="1F4E79"/>
                    </a:solidFill>
                  </a:tcPr>
                </a:tc>
                <a:tc>
                  <a:txBody>
                    <a:bodyPr/>
                    <a:lstStyle/>
                    <a:p>
                      <a:pPr algn="ctr"/>
                      <a:r>
                        <a:rPr sz="1350" b="1" dirty="0">
                          <a:solidFill>
                            <a:srgbClr val="FFFFFF"/>
                          </a:solidFill>
                          <a:latin typeface="Calibri"/>
                        </a:rPr>
                        <a:t>Caution</a:t>
                      </a:r>
                    </a:p>
                  </a:txBody>
                  <a:tcPr marL="82296" marT="18288" marB="18288" anchor="ctr">
                    <a:solidFill>
                      <a:srgbClr val="1F4E79"/>
                    </a:solidFill>
                  </a:tcPr>
                </a:tc>
                <a:extLst>
                  <a:ext uri="{0D108BD9-81ED-4DB2-BD59-A6C34878D82A}">
                    <a16:rowId xmlns:a16="http://schemas.microsoft.com/office/drawing/2014/main" val="10000"/>
                  </a:ext>
                </a:extLst>
              </a:tr>
              <a:tr h="420624">
                <a:tc>
                  <a:txBody>
                    <a:bodyPr/>
                    <a:lstStyle/>
                    <a:p>
                      <a:pPr algn="l"/>
                      <a:r>
                        <a:rPr sz="1350" b="0" dirty="0" err="1">
                          <a:solidFill>
                            <a:srgbClr val="404040"/>
                          </a:solidFill>
                          <a:latin typeface="Calibri"/>
                        </a:rPr>
                        <a:t>sku</a:t>
                      </a:r>
                      <a:endParaRPr sz="1350" b="0" dirty="0">
                        <a:solidFill>
                          <a:srgbClr val="404040"/>
                        </a:solidFill>
                        <a:latin typeface="Calibri"/>
                      </a:endParaRPr>
                    </a:p>
                  </a:txBody>
                  <a:tcPr marL="82296" marT="18288" marB="18288" anchor="ctr">
                    <a:solidFill>
                      <a:srgbClr val="FFFFFF"/>
                    </a:solidFill>
                  </a:tcPr>
                </a:tc>
                <a:tc>
                  <a:txBody>
                    <a:bodyPr/>
                    <a:lstStyle/>
                    <a:p>
                      <a:pPr algn="ctr"/>
                      <a:r>
                        <a:rPr sz="1350" b="0">
                          <a:solidFill>
                            <a:srgbClr val="404040"/>
                          </a:solidFill>
                          <a:latin typeface="Calibri"/>
                        </a:rPr>
                        <a:t>Flat</a:t>
                      </a:r>
                    </a:p>
                  </a:txBody>
                  <a:tcPr marL="82296" marT="18288" marB="18288" anchor="ctr">
                    <a:solidFill>
                      <a:srgbClr val="FFFFFF"/>
                    </a:solidFill>
                  </a:tcPr>
                </a:tc>
                <a:tc>
                  <a:txBody>
                    <a:bodyPr/>
                    <a:lstStyle/>
                    <a:p>
                      <a:pPr algn="ctr"/>
                      <a:r>
                        <a:rPr sz="1350" b="0">
                          <a:solidFill>
                            <a:srgbClr val="404040"/>
                          </a:solidFill>
                          <a:latin typeface="Calibri"/>
                        </a:rPr>
                        <a:t>full range</a:t>
                      </a:r>
                    </a:p>
                  </a:txBody>
                  <a:tcPr marL="82296" marT="18288" marB="18288" anchor="ctr">
                    <a:solidFill>
                      <a:srgbClr val="FFFFFF"/>
                    </a:solidFill>
                  </a:tcPr>
                </a:tc>
                <a:tc>
                  <a:txBody>
                    <a:bodyPr/>
                    <a:lstStyle/>
                    <a:p>
                      <a:pPr algn="ctr"/>
                      <a:r>
                        <a:rPr sz="1350" b="0" dirty="0">
                          <a:solidFill>
                            <a:srgbClr val="404040"/>
                          </a:solidFill>
                          <a:latin typeface="Calibri"/>
                        </a:rPr>
                        <a:t>Confirms near-zero importance</a:t>
                      </a:r>
                    </a:p>
                  </a:txBody>
                  <a:tcPr marL="82296" marT="18288" marB="18288" anchor="ctr">
                    <a:solidFill>
                      <a:srgbClr val="FFFFFF"/>
                    </a:solidFill>
                  </a:tcPr>
                </a:tc>
                <a:extLst>
                  <a:ext uri="{0D108BD9-81ED-4DB2-BD59-A6C34878D82A}">
                    <a16:rowId xmlns:a16="http://schemas.microsoft.com/office/drawing/2014/main" val="1216308608"/>
                  </a:ext>
                </a:extLst>
              </a:tr>
              <a:tr h="420624">
                <a:tc>
                  <a:txBody>
                    <a:bodyPr/>
                    <a:lstStyle/>
                    <a:p>
                      <a:pPr algn="l"/>
                      <a:r>
                        <a:rPr sz="1350" b="0" dirty="0">
                          <a:solidFill>
                            <a:srgbClr val="404040"/>
                          </a:solidFill>
                          <a:latin typeface="Calibri"/>
                        </a:rPr>
                        <a:t>price</a:t>
                      </a:r>
                    </a:p>
                  </a:txBody>
                  <a:tcPr marL="82296" marT="18288" marB="18288" anchor="ctr">
                    <a:solidFill>
                      <a:srgbClr val="FFFFFF"/>
                    </a:solidFill>
                  </a:tcPr>
                </a:tc>
                <a:tc>
                  <a:txBody>
                    <a:bodyPr/>
                    <a:lstStyle/>
                    <a:p>
                      <a:pPr algn="ctr"/>
                      <a:r>
                        <a:rPr sz="1350" b="0">
                          <a:solidFill>
                            <a:srgbClr val="404040"/>
                          </a:solidFill>
                          <a:latin typeface="Calibri"/>
                        </a:rPr>
                        <a:t>Negative, then flat</a:t>
                      </a:r>
                    </a:p>
                  </a:txBody>
                  <a:tcPr marL="82296" marT="18288" marB="18288" anchor="ctr">
                    <a:solidFill>
                      <a:srgbClr val="FFFFFF"/>
                    </a:solidFill>
                  </a:tcPr>
                </a:tc>
                <a:tc>
                  <a:txBody>
                    <a:bodyPr/>
                    <a:lstStyle/>
                    <a:p>
                      <a:pPr algn="ctr"/>
                      <a:r>
                        <a:rPr sz="1350" b="0">
                          <a:solidFill>
                            <a:srgbClr val="404040"/>
                          </a:solidFill>
                          <a:latin typeface="Calibri"/>
                        </a:rPr>
                        <a:t>z ≈ −0.4 to 3.7</a:t>
                      </a:r>
                    </a:p>
                  </a:txBody>
                  <a:tcPr marL="82296" marT="18288" marB="18288" anchor="ctr">
                    <a:solidFill>
                      <a:srgbClr val="FFFFFF"/>
                    </a:solidFill>
                  </a:tcPr>
                </a:tc>
                <a:tc>
                  <a:txBody>
                    <a:bodyPr/>
                    <a:lstStyle/>
                    <a:p>
                      <a:pPr algn="ctr"/>
                      <a:r>
                        <a:rPr sz="1350" b="0" dirty="0">
                          <a:solidFill>
                            <a:srgbClr val="404040"/>
                          </a:solidFill>
                          <a:latin typeface="Calibri"/>
                        </a:rPr>
                        <a:t>Drop happens almost entirely early</a:t>
                      </a:r>
                    </a:p>
                  </a:txBody>
                  <a:tcPr marL="82296" marT="18288" marB="18288" anchor="ctr">
                    <a:solidFill>
                      <a:srgbClr val="FFFFFF"/>
                    </a:solidFill>
                  </a:tcPr>
                </a:tc>
                <a:extLst>
                  <a:ext uri="{0D108BD9-81ED-4DB2-BD59-A6C34878D82A}">
                    <a16:rowId xmlns:a16="http://schemas.microsoft.com/office/drawing/2014/main" val="3823715979"/>
                  </a:ext>
                </a:extLst>
              </a:tr>
              <a:tr h="420624">
                <a:tc>
                  <a:txBody>
                    <a:bodyPr/>
                    <a:lstStyle/>
                    <a:p>
                      <a:pPr algn="l"/>
                      <a:r>
                        <a:rPr sz="1350" b="0">
                          <a:solidFill>
                            <a:srgbClr val="404040"/>
                          </a:solidFill>
                          <a:latin typeface="Calibri"/>
                        </a:rPr>
                        <a:t>order</a:t>
                      </a:r>
                    </a:p>
                  </a:txBody>
                  <a:tcPr marL="82296" marT="18288" marB="18288" anchor="ctr">
                    <a:solidFill>
                      <a:srgbClr val="FFFFFF"/>
                    </a:solidFill>
                  </a:tcPr>
                </a:tc>
                <a:tc>
                  <a:txBody>
                    <a:bodyPr/>
                    <a:lstStyle/>
                    <a:p>
                      <a:pPr algn="ctr"/>
                      <a:r>
                        <a:rPr sz="1350" b="0">
                          <a:solidFill>
                            <a:srgbClr val="404040"/>
                          </a:solidFill>
                          <a:latin typeface="Calibri"/>
                        </a:rPr>
                        <a:t>Flat where data exists</a:t>
                      </a:r>
                    </a:p>
                  </a:txBody>
                  <a:tcPr marL="82296" marT="18288" marB="18288" anchor="ctr">
                    <a:solidFill>
                      <a:srgbClr val="FFFFFF"/>
                    </a:solidFill>
                  </a:tcPr>
                </a:tc>
                <a:tc>
                  <a:txBody>
                    <a:bodyPr/>
                    <a:lstStyle/>
                    <a:p>
                      <a:pPr algn="ctr"/>
                      <a:r>
                        <a:rPr sz="1350" b="0">
                          <a:solidFill>
                            <a:srgbClr val="404040"/>
                          </a:solidFill>
                          <a:latin typeface="Calibri"/>
                        </a:rPr>
                        <a:t>z ≈ −0.5 to 4.8</a:t>
                      </a:r>
                    </a:p>
                  </a:txBody>
                  <a:tcPr marL="82296" marT="18288" marB="18288" anchor="ctr">
                    <a:solidFill>
                      <a:srgbClr val="FFFFFF"/>
                    </a:solidFill>
                  </a:tcPr>
                </a:tc>
                <a:tc>
                  <a:txBody>
                    <a:bodyPr/>
                    <a:lstStyle/>
                    <a:p>
                      <a:pPr algn="ctr"/>
                      <a:r>
                        <a:rPr sz="1350" b="0" dirty="0">
                          <a:solidFill>
                            <a:srgbClr val="404040"/>
                          </a:solidFill>
                          <a:latin typeface="Calibri"/>
                        </a:rPr>
                        <a:t>Late rise sits in a &lt;1% tail</a:t>
                      </a:r>
                    </a:p>
                  </a:txBody>
                  <a:tcPr marL="82296" marT="18288" marB="18288" anchor="ctr">
                    <a:solidFill>
                      <a:srgbClr val="FFFFFF"/>
                    </a:solidFill>
                  </a:tcPr>
                </a:tc>
                <a:extLst>
                  <a:ext uri="{0D108BD9-81ED-4DB2-BD59-A6C34878D82A}">
                    <a16:rowId xmlns:a16="http://schemas.microsoft.com/office/drawing/2014/main" val="10003"/>
                  </a:ext>
                </a:extLst>
              </a:tr>
              <a:tr h="420624">
                <a:tc>
                  <a:txBody>
                    <a:bodyPr/>
                    <a:lstStyle/>
                    <a:p>
                      <a:pPr algn="l"/>
                      <a:r>
                        <a:rPr sz="1350" b="0" dirty="0">
                          <a:solidFill>
                            <a:srgbClr val="404040"/>
                          </a:solidFill>
                          <a:latin typeface="Calibri"/>
                        </a:rPr>
                        <a:t>duration</a:t>
                      </a:r>
                    </a:p>
                  </a:txBody>
                  <a:tcPr marL="82296" marT="18288" marB="18288" anchor="ctr">
                    <a:solidFill>
                      <a:srgbClr val="F2F2F2"/>
                    </a:solidFill>
                  </a:tcPr>
                </a:tc>
                <a:tc>
                  <a:txBody>
                    <a:bodyPr/>
                    <a:lstStyle/>
                    <a:p>
                      <a:pPr algn="ctr"/>
                      <a:r>
                        <a:rPr sz="1350" b="0">
                          <a:solidFill>
                            <a:srgbClr val="404040"/>
                          </a:solidFill>
                          <a:latin typeface="Calibri"/>
                        </a:rPr>
                        <a:t>Strong positive</a:t>
                      </a:r>
                    </a:p>
                  </a:txBody>
                  <a:tcPr marL="82296" marT="18288" marB="18288" anchor="ctr">
                    <a:solidFill>
                      <a:srgbClr val="F2F2F2"/>
                    </a:solidFill>
                  </a:tcPr>
                </a:tc>
                <a:tc>
                  <a:txBody>
                    <a:bodyPr/>
                    <a:lstStyle/>
                    <a:p>
                      <a:pPr algn="ctr"/>
                      <a:r>
                        <a:rPr sz="1350" b="0">
                          <a:solidFill>
                            <a:srgbClr val="404040"/>
                          </a:solidFill>
                          <a:latin typeface="Calibri"/>
                        </a:rPr>
                        <a:t>z ≈ −0.8 to 4</a:t>
                      </a:r>
                    </a:p>
                  </a:txBody>
                  <a:tcPr marL="82296" marT="18288" marB="18288" anchor="ctr">
                    <a:solidFill>
                      <a:srgbClr val="F2F2F2"/>
                    </a:solidFill>
                  </a:tcPr>
                </a:tc>
                <a:tc>
                  <a:txBody>
                    <a:bodyPr/>
                    <a:lstStyle/>
                    <a:p>
                      <a:pPr algn="ctr"/>
                      <a:r>
                        <a:rPr sz="1350" b="0" dirty="0">
                          <a:solidFill>
                            <a:srgbClr val="404040"/>
                          </a:solidFill>
                          <a:latin typeface="Calibri"/>
                        </a:rPr>
                        <a:t>98% of data sits below z = 4</a:t>
                      </a:r>
                    </a:p>
                  </a:txBody>
                  <a:tcPr marL="82296" marT="18288" marB="18288" anchor="ctr">
                    <a:solidFill>
                      <a:srgbClr val="F2F2F2"/>
                    </a:solidFill>
                  </a:tcPr>
                </a:tc>
                <a:extLst>
                  <a:ext uri="{0D108BD9-81ED-4DB2-BD59-A6C34878D82A}">
                    <a16:rowId xmlns:a16="http://schemas.microsoft.com/office/drawing/2014/main" val="1916188446"/>
                  </a:ext>
                </a:extLst>
              </a:tr>
              <a:tr h="420624">
                <a:tc>
                  <a:txBody>
                    <a:bodyPr/>
                    <a:lstStyle/>
                    <a:p>
                      <a:pPr algn="l"/>
                      <a:r>
                        <a:rPr sz="1350" b="0" dirty="0">
                          <a:solidFill>
                            <a:srgbClr val="404040"/>
                          </a:solidFill>
                          <a:latin typeface="Calibri"/>
                        </a:rPr>
                        <a:t>category</a:t>
                      </a:r>
                    </a:p>
                  </a:txBody>
                  <a:tcPr marL="82296" marT="18288" marB="18288" anchor="ctr">
                    <a:solidFill>
                      <a:srgbClr val="F2F2F2"/>
                    </a:solidFill>
                  </a:tcPr>
                </a:tc>
                <a:tc>
                  <a:txBody>
                    <a:bodyPr/>
                    <a:lstStyle/>
                    <a:p>
                      <a:pPr algn="ctr"/>
                      <a:r>
                        <a:rPr sz="1350" b="0" dirty="0">
                          <a:solidFill>
                            <a:srgbClr val="404040"/>
                          </a:solidFill>
                          <a:latin typeface="Calibri"/>
                        </a:rPr>
                        <a:t>Mild wave</a:t>
                      </a:r>
                    </a:p>
                  </a:txBody>
                  <a:tcPr marL="82296" marT="18288" marB="18288" anchor="ctr">
                    <a:solidFill>
                      <a:srgbClr val="F2F2F2"/>
                    </a:solidFill>
                  </a:tcPr>
                </a:tc>
                <a:tc>
                  <a:txBody>
                    <a:bodyPr/>
                    <a:lstStyle/>
                    <a:p>
                      <a:pPr algn="ctr"/>
                      <a:r>
                        <a:rPr sz="1350" b="0" dirty="0">
                          <a:solidFill>
                            <a:srgbClr val="404040"/>
                          </a:solidFill>
                          <a:latin typeface="Calibri"/>
                        </a:rPr>
                        <a:t>full range</a:t>
                      </a:r>
                    </a:p>
                  </a:txBody>
                  <a:tcPr marL="82296" marT="18288" marB="18288" anchor="ctr">
                    <a:solidFill>
                      <a:srgbClr val="F2F2F2"/>
                    </a:solidFill>
                  </a:tcPr>
                </a:tc>
                <a:tc>
                  <a:txBody>
                    <a:bodyPr/>
                    <a:lstStyle/>
                    <a:p>
                      <a:pPr algn="ctr"/>
                      <a:r>
                        <a:rPr sz="1350" b="0" dirty="0">
                          <a:solidFill>
                            <a:srgbClr val="404040"/>
                          </a:solidFill>
                          <a:latin typeface="Calibri"/>
                        </a:rPr>
                        <a:t>Encoded as numeric, not one-hot</a:t>
                      </a:r>
                    </a:p>
                  </a:txBody>
                  <a:tcPr marL="82296" marT="18288" marB="18288" anchor="ctr">
                    <a:solidFill>
                      <a:srgbClr val="F2F2F2"/>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685800" y="4160520"/>
            <a:ext cx="5257800" cy="1920240"/>
          </a:xfrm>
          <a:prstGeom prst="roundRect">
            <a:avLst>
              <a:gd name="adj" fmla="val 6000"/>
            </a:avLst>
          </a:prstGeom>
          <a:solidFill>
            <a:srgbClr val="FFF2CC"/>
          </a:solidFill>
          <a:ln w="158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343400"/>
            <a:ext cx="4800600" cy="320040"/>
          </a:xfrm>
          <a:prstGeom prst="rect">
            <a:avLst/>
          </a:prstGeom>
          <a:noFill/>
        </p:spPr>
        <p:txBody>
          <a:bodyPr wrap="square" lIns="0" tIns="0" rIns="0" bIns="0">
            <a:spAutoFit/>
          </a:bodyPr>
          <a:lstStyle/>
          <a:p>
            <a:pPr algn="l">
              <a:spcAft>
                <a:spcPts val="600"/>
              </a:spcAft>
            </a:pPr>
            <a:r>
              <a:rPr sz="1600" b="1" i="0">
                <a:solidFill>
                  <a:srgbClr val="7F6000"/>
                </a:solidFill>
                <a:latin typeface="Calibri"/>
              </a:rPr>
              <a:t>⚠  Extrapolation caveat</a:t>
            </a:r>
          </a:p>
        </p:txBody>
      </p:sp>
      <p:sp>
        <p:nvSpPr>
          <p:cNvPr id="8" name="TextBox 7"/>
          <p:cNvSpPr txBox="1"/>
          <p:nvPr/>
        </p:nvSpPr>
        <p:spPr>
          <a:xfrm>
            <a:off x="914400" y="4773168"/>
            <a:ext cx="4800600" cy="1188720"/>
          </a:xfrm>
          <a:prstGeom prst="rect">
            <a:avLst/>
          </a:prstGeom>
          <a:noFill/>
        </p:spPr>
        <p:txBody>
          <a:bodyPr wrap="square" lIns="0" tIns="0" rIns="0" bIns="0">
            <a:spAutoFit/>
          </a:bodyPr>
          <a:lstStyle/>
          <a:p>
            <a:pPr algn="l">
              <a:spcAft>
                <a:spcPts val="200"/>
              </a:spcAft>
            </a:pPr>
            <a:r>
              <a:rPr sz="1350" b="0" i="0">
                <a:solidFill>
                  <a:srgbClr val="404040"/>
                </a:solidFill>
                <a:latin typeface="Calibri"/>
              </a:rPr>
              <a:t>price, order and duration are heavily right-skewed.</a:t>
            </a:r>
          </a:p>
          <a:p>
            <a:pPr algn="l">
              <a:spcAft>
                <a:spcPts val="200"/>
              </a:spcAft>
            </a:pPr>
            <a:r>
              <a:rPr sz="1350" b="0" i="0">
                <a:solidFill>
                  <a:srgbClr val="404040"/>
                </a:solidFill>
                <a:latin typeface="Calibri"/>
              </a:rPr>
              <a:t>Plotting their full min–max range means most of</a:t>
            </a:r>
          </a:p>
          <a:p>
            <a:pPr algn="l">
              <a:spcAft>
                <a:spcPts val="200"/>
              </a:spcAft>
            </a:pPr>
            <a:r>
              <a:rPr sz="1350" b="0" i="0">
                <a:solidFill>
                  <a:srgbClr val="404040"/>
                </a:solidFill>
                <a:latin typeface="Calibri"/>
              </a:rPr>
              <a:t>the x-axis holds under 2% of the data — so the</a:t>
            </a:r>
          </a:p>
          <a:p>
            <a:pPr algn="l">
              <a:spcAft>
                <a:spcPts val="200"/>
              </a:spcAft>
            </a:pPr>
            <a:r>
              <a:rPr sz="1350" b="0" i="0">
                <a:solidFill>
                  <a:srgbClr val="404040"/>
                </a:solidFill>
                <a:latin typeface="Calibri"/>
              </a:rPr>
              <a:t>dramatic tail behaviour is model extrapolation.</a:t>
            </a:r>
          </a:p>
        </p:txBody>
      </p:sp>
      <p:sp>
        <p:nvSpPr>
          <p:cNvPr id="9" name="Rounded Rectangle 8"/>
          <p:cNvSpPr/>
          <p:nvPr/>
        </p:nvSpPr>
        <p:spPr>
          <a:xfrm>
            <a:off x="6217920" y="4160520"/>
            <a:ext cx="5257800" cy="1920240"/>
          </a:xfrm>
          <a:prstGeom prst="roundRect">
            <a:avLst>
              <a:gd name="adj" fmla="val 6000"/>
            </a:avLst>
          </a:prstGeom>
          <a:solidFill>
            <a:srgbClr val="E2EFDA"/>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4343400"/>
            <a:ext cx="4800600" cy="320040"/>
          </a:xfrm>
          <a:prstGeom prst="rect">
            <a:avLst/>
          </a:prstGeom>
          <a:noFill/>
        </p:spPr>
        <p:txBody>
          <a:bodyPr wrap="square" lIns="0" tIns="0" rIns="0" bIns="0">
            <a:spAutoFit/>
          </a:bodyPr>
          <a:lstStyle/>
          <a:p>
            <a:pPr algn="l">
              <a:spcAft>
                <a:spcPts val="600"/>
              </a:spcAft>
            </a:pPr>
            <a:r>
              <a:rPr sz="1600" b="1" i="0">
                <a:solidFill>
                  <a:srgbClr val="375A23"/>
                </a:solidFill>
                <a:latin typeface="Calibri"/>
              </a:rPr>
              <a:t>✓  What we conclude</a:t>
            </a:r>
          </a:p>
        </p:txBody>
      </p:sp>
      <p:sp>
        <p:nvSpPr>
          <p:cNvPr id="11" name="TextBox 10"/>
          <p:cNvSpPr txBox="1"/>
          <p:nvPr/>
        </p:nvSpPr>
        <p:spPr>
          <a:xfrm>
            <a:off x="6446520" y="4773168"/>
            <a:ext cx="4800600" cy="1188720"/>
          </a:xfrm>
          <a:prstGeom prst="rect">
            <a:avLst/>
          </a:prstGeom>
          <a:noFill/>
        </p:spPr>
        <p:txBody>
          <a:bodyPr wrap="square" lIns="0" tIns="0" rIns="0" bIns="0">
            <a:spAutoFit/>
          </a:bodyPr>
          <a:lstStyle/>
          <a:p>
            <a:pPr algn="l">
              <a:spcAft>
                <a:spcPts val="200"/>
              </a:spcAft>
            </a:pPr>
            <a:r>
              <a:rPr sz="1350" b="0" i="0">
                <a:solidFill>
                  <a:srgbClr val="404040"/>
                </a:solidFill>
                <a:latin typeface="Calibri"/>
              </a:rPr>
              <a:t>Duration is the dominant driver and price the</a:t>
            </a:r>
          </a:p>
          <a:p>
            <a:pPr algn="l">
              <a:spcAft>
                <a:spcPts val="200"/>
              </a:spcAft>
            </a:pPr>
            <a:r>
              <a:rPr sz="1350" b="0" i="0">
                <a:solidFill>
                  <a:srgbClr val="404040"/>
                </a:solidFill>
                <a:latin typeface="Calibri"/>
              </a:rPr>
              <a:t>secondary one — both confirmed by importance</a:t>
            </a:r>
          </a:p>
          <a:p>
            <a:pPr algn="l">
              <a:spcAft>
                <a:spcPts val="200"/>
              </a:spcAft>
            </a:pPr>
            <a:r>
              <a:rPr sz="1350" b="0" i="0">
                <a:solidFill>
                  <a:srgbClr val="404040"/>
                </a:solidFill>
                <a:latin typeface="Calibri"/>
              </a:rPr>
              <a:t>and by economic logic. Weak features (sku, order)</a:t>
            </a:r>
          </a:p>
          <a:p>
            <a:pPr algn="l">
              <a:spcAft>
                <a:spcPts val="200"/>
              </a:spcAft>
            </a:pPr>
            <a:r>
              <a:rPr sz="1350" b="0" i="0">
                <a:solidFill>
                  <a:srgbClr val="404040"/>
                </a:solidFill>
                <a:latin typeface="Calibri"/>
              </a:rPr>
              <a:t>could be dropped with little loss.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RAM Usage</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Measured with psutil at every batch</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sp>
        <p:nvSpPr>
          <p:cNvPr id="6" name="Rounded Rectangle 5"/>
          <p:cNvSpPr/>
          <p:nvPr/>
        </p:nvSpPr>
        <p:spPr>
          <a:xfrm>
            <a:off x="822960" y="1600200"/>
            <a:ext cx="3291840" cy="1554480"/>
          </a:xfrm>
          <a:prstGeom prst="roundRect">
            <a:avLst>
              <a:gd name="adj" fmla="val 6000"/>
            </a:avLst>
          </a:prstGeom>
          <a:solidFill>
            <a:srgbClr val="E2EFDA"/>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48916"/>
            <a:ext cx="3291840" cy="699516"/>
          </a:xfrm>
          <a:prstGeom prst="rect">
            <a:avLst/>
          </a:prstGeom>
          <a:noFill/>
        </p:spPr>
        <p:txBody>
          <a:bodyPr wrap="square" lIns="0" tIns="0" rIns="0" bIns="0">
            <a:spAutoFit/>
          </a:bodyPr>
          <a:lstStyle/>
          <a:p>
            <a:pPr algn="ctr">
              <a:spcAft>
                <a:spcPts val="600"/>
              </a:spcAft>
            </a:pPr>
            <a:r>
              <a:rPr sz="3400" b="1" i="0">
                <a:solidFill>
                  <a:srgbClr val="548235"/>
                </a:solidFill>
                <a:latin typeface="Calibri"/>
              </a:rPr>
              <a:t>6.5 MB</a:t>
            </a:r>
          </a:p>
        </p:txBody>
      </p:sp>
      <p:sp>
        <p:nvSpPr>
          <p:cNvPr id="8" name="TextBox 7"/>
          <p:cNvSpPr txBox="1"/>
          <p:nvPr/>
        </p:nvSpPr>
        <p:spPr>
          <a:xfrm>
            <a:off x="822960" y="2626156"/>
            <a:ext cx="3291840" cy="466344"/>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drift across 12,500 updates</a:t>
            </a:r>
          </a:p>
        </p:txBody>
      </p:sp>
      <p:sp>
        <p:nvSpPr>
          <p:cNvPr id="9" name="Rounded Rectangle 8"/>
          <p:cNvSpPr/>
          <p:nvPr/>
        </p:nvSpPr>
        <p:spPr>
          <a:xfrm>
            <a:off x="4443984" y="1600200"/>
            <a:ext cx="3291840" cy="155448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43984" y="1848916"/>
            <a:ext cx="3291840" cy="699516"/>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423.7 MB</a:t>
            </a:r>
          </a:p>
        </p:txBody>
      </p:sp>
      <p:sp>
        <p:nvSpPr>
          <p:cNvPr id="11" name="TextBox 10"/>
          <p:cNvSpPr txBox="1"/>
          <p:nvPr/>
        </p:nvSpPr>
        <p:spPr>
          <a:xfrm>
            <a:off x="4443984" y="2626156"/>
            <a:ext cx="3291840" cy="466344"/>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peak during training</a:t>
            </a:r>
          </a:p>
        </p:txBody>
      </p:sp>
      <p:sp>
        <p:nvSpPr>
          <p:cNvPr id="12" name="Rounded Rectangle 11"/>
          <p:cNvSpPr/>
          <p:nvPr/>
        </p:nvSpPr>
        <p:spPr>
          <a:xfrm>
            <a:off x="8065008" y="1600200"/>
            <a:ext cx="3291840" cy="155448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65008" y="1848916"/>
            <a:ext cx="3291840" cy="699516"/>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77.4 MB</a:t>
            </a:r>
          </a:p>
        </p:txBody>
      </p:sp>
      <p:sp>
        <p:nvSpPr>
          <p:cNvPr id="14" name="TextBox 13"/>
          <p:cNvSpPr txBox="1"/>
          <p:nvPr/>
        </p:nvSpPr>
        <p:spPr>
          <a:xfrm>
            <a:off x="8065008" y="2626156"/>
            <a:ext cx="3291840" cy="466344"/>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growth from start</a:t>
            </a:r>
          </a:p>
        </p:txBody>
      </p:sp>
      <p:graphicFrame>
        <p:nvGraphicFramePr>
          <p:cNvPr id="15" name="Table 14"/>
          <p:cNvGraphicFramePr>
            <a:graphicFrameLocks noGrp="1"/>
          </p:cNvGraphicFramePr>
          <p:nvPr/>
        </p:nvGraphicFramePr>
        <p:xfrm>
          <a:off x="822960" y="3429000"/>
          <a:ext cx="10515600" cy="2011680"/>
        </p:xfrm>
        <a:graphic>
          <a:graphicData uri="http://schemas.openxmlformats.org/drawingml/2006/table">
            <a:tbl>
              <a:tblPr firstRow="1" bandRow="1">
                <a:tableStyleId>{5C22544A-7EE6-4342-B048-85BDC9FD1C3A}</a:tableStyleId>
              </a:tblPr>
              <a:tblGrid>
                <a:gridCol w="3575304">
                  <a:extLst>
                    <a:ext uri="{9D8B030D-6E8A-4147-A177-3AD203B41FA5}">
                      <a16:colId xmlns:a16="http://schemas.microsoft.com/office/drawing/2014/main" val="20000"/>
                    </a:ext>
                  </a:extLst>
                </a:gridCol>
                <a:gridCol w="2523744">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402336">
                <a:tc>
                  <a:txBody>
                    <a:bodyPr/>
                    <a:lstStyle/>
                    <a:p>
                      <a:pPr algn="l"/>
                      <a:r>
                        <a:rPr sz="1400" b="1">
                          <a:solidFill>
                            <a:srgbClr val="FFFFFF"/>
                          </a:solidFill>
                          <a:latin typeface="Calibri"/>
                        </a:rPr>
                        <a:t>Stage</a:t>
                      </a:r>
                    </a:p>
                  </a:txBody>
                  <a:tcPr marL="82296" marT="18288" marB="18288" anchor="ctr">
                    <a:solidFill>
                      <a:srgbClr val="1F4E79"/>
                    </a:solidFill>
                  </a:tcPr>
                </a:tc>
                <a:tc>
                  <a:txBody>
                    <a:bodyPr/>
                    <a:lstStyle/>
                    <a:p>
                      <a:pPr algn="ctr"/>
                      <a:r>
                        <a:rPr sz="1400" b="1">
                          <a:solidFill>
                            <a:srgbClr val="FFFFFF"/>
                          </a:solidFill>
                          <a:latin typeface="Calibri"/>
                        </a:rPr>
                        <a:t>RSS memory</a:t>
                      </a:r>
                    </a:p>
                  </a:txBody>
                  <a:tcPr marL="82296" marT="18288" marB="18288" anchor="ctr">
                    <a:solidFill>
                      <a:srgbClr val="1F4E79"/>
                    </a:solidFill>
                  </a:tcPr>
                </a:tc>
                <a:tc>
                  <a:txBody>
                    <a:bodyPr/>
                    <a:lstStyle/>
                    <a:p>
                      <a:pPr algn="ctr"/>
                      <a:r>
                        <a:rPr sz="1400" b="1">
                          <a:solidFill>
                            <a:srgbClr val="FFFFFF"/>
                          </a:solidFill>
                          <a:latin typeface="Calibri"/>
                        </a:rPr>
                        <a:t>Note</a:t>
                      </a:r>
                    </a:p>
                  </a:txBody>
                  <a:tcPr marL="82296" marT="18288" marB="18288" anchor="ctr">
                    <a:solidFill>
                      <a:srgbClr val="1F4E79"/>
                    </a:solidFill>
                  </a:tcPr>
                </a:tc>
                <a:extLst>
                  <a:ext uri="{0D108BD9-81ED-4DB2-BD59-A6C34878D82A}">
                    <a16:rowId xmlns:a16="http://schemas.microsoft.com/office/drawing/2014/main" val="10000"/>
                  </a:ext>
                </a:extLst>
              </a:tr>
              <a:tr h="402336">
                <a:tc>
                  <a:txBody>
                    <a:bodyPr/>
                    <a:lstStyle/>
                    <a:p>
                      <a:pPr algn="l"/>
                      <a:r>
                        <a:rPr sz="1400" b="0">
                          <a:solidFill>
                            <a:srgbClr val="404040"/>
                          </a:solidFill>
                          <a:latin typeface="Calibri"/>
                        </a:rPr>
                        <a:t>Process start</a:t>
                      </a:r>
                    </a:p>
                  </a:txBody>
                  <a:tcPr marL="82296" marT="18288" marB="18288" anchor="ctr">
                    <a:solidFill>
                      <a:srgbClr val="FFFFFF"/>
                    </a:solidFill>
                  </a:tcPr>
                </a:tc>
                <a:tc>
                  <a:txBody>
                    <a:bodyPr/>
                    <a:lstStyle/>
                    <a:p>
                      <a:pPr algn="ctr"/>
                      <a:r>
                        <a:rPr sz="1400" b="0">
                          <a:solidFill>
                            <a:srgbClr val="404040"/>
                          </a:solidFill>
                          <a:latin typeface="Calibri"/>
                        </a:rPr>
                        <a:t>346.4 MB</a:t>
                      </a:r>
                    </a:p>
                  </a:txBody>
                  <a:tcPr marL="82296" marT="18288" marB="18288" anchor="ctr">
                    <a:solidFill>
                      <a:srgbClr val="FFFFFF"/>
                    </a:solidFill>
                  </a:tcPr>
                </a:tc>
                <a:tc>
                  <a:txBody>
                    <a:bodyPr/>
                    <a:lstStyle/>
                    <a:p>
                      <a:pPr algn="ctr"/>
                      <a:r>
                        <a:rPr sz="1400" b="0">
                          <a:solidFill>
                            <a:srgbClr val="404040"/>
                          </a:solidFill>
                          <a:latin typeface="Calibri"/>
                        </a:rPr>
                        <a:t>Python + TensorFlow</a:t>
                      </a:r>
                    </a:p>
                  </a:txBody>
                  <a:tcPr marL="82296" marT="18288" marB="18288" anchor="ctr">
                    <a:solidFill>
                      <a:srgbClr val="FFFFFF"/>
                    </a:solidFill>
                  </a:tcPr>
                </a:tc>
                <a:extLst>
                  <a:ext uri="{0D108BD9-81ED-4DB2-BD59-A6C34878D82A}">
                    <a16:rowId xmlns:a16="http://schemas.microsoft.com/office/drawing/2014/main" val="10001"/>
                  </a:ext>
                </a:extLst>
              </a:tr>
              <a:tr h="402336">
                <a:tc>
                  <a:txBody>
                    <a:bodyPr/>
                    <a:lstStyle/>
                    <a:p>
                      <a:pPr algn="l"/>
                      <a:r>
                        <a:rPr sz="1400" b="0">
                          <a:solidFill>
                            <a:srgbClr val="404040"/>
                          </a:solidFill>
                          <a:latin typeface="Calibri"/>
                        </a:rPr>
                        <a:t>After data load</a:t>
                      </a:r>
                    </a:p>
                  </a:txBody>
                  <a:tcPr marL="82296" marT="18288" marB="18288" anchor="ctr">
                    <a:solidFill>
                      <a:srgbClr val="F2F2F2"/>
                    </a:solidFill>
                  </a:tcPr>
                </a:tc>
                <a:tc>
                  <a:txBody>
                    <a:bodyPr/>
                    <a:lstStyle/>
                    <a:p>
                      <a:pPr algn="ctr"/>
                      <a:r>
                        <a:rPr sz="1400" b="0">
                          <a:solidFill>
                            <a:srgbClr val="404040"/>
                          </a:solidFill>
                          <a:latin typeface="Calibri"/>
                        </a:rPr>
                        <a:t>383.7 MB</a:t>
                      </a:r>
                    </a:p>
                  </a:txBody>
                  <a:tcPr marL="82296" marT="18288" marB="18288" anchor="ctr">
                    <a:solidFill>
                      <a:srgbClr val="F2F2F2"/>
                    </a:solidFill>
                  </a:tcPr>
                </a:tc>
                <a:tc>
                  <a:txBody>
                    <a:bodyPr/>
                    <a:lstStyle/>
                    <a:p>
                      <a:pPr algn="ctr"/>
                      <a:r>
                        <a:rPr sz="1400" b="0">
                          <a:solidFill>
                            <a:srgbClr val="404040"/>
                          </a:solidFill>
                          <a:latin typeface="Calibri"/>
                        </a:rPr>
                        <a:t>full CSV in memory</a:t>
                      </a:r>
                    </a:p>
                  </a:txBody>
                  <a:tcPr marL="82296" marT="18288" marB="18288" anchor="ctr">
                    <a:solidFill>
                      <a:srgbClr val="F2F2F2"/>
                    </a:solidFill>
                  </a:tcPr>
                </a:tc>
                <a:extLst>
                  <a:ext uri="{0D108BD9-81ED-4DB2-BD59-A6C34878D82A}">
                    <a16:rowId xmlns:a16="http://schemas.microsoft.com/office/drawing/2014/main" val="10002"/>
                  </a:ext>
                </a:extLst>
              </a:tr>
              <a:tr h="402336">
                <a:tc>
                  <a:txBody>
                    <a:bodyPr/>
                    <a:lstStyle/>
                    <a:p>
                      <a:pPr algn="l"/>
                      <a:r>
                        <a:rPr sz="1400" b="0">
                          <a:solidFill>
                            <a:srgbClr val="404040"/>
                          </a:solidFill>
                          <a:latin typeface="Calibri"/>
                        </a:rPr>
                        <a:t>After model build</a:t>
                      </a:r>
                    </a:p>
                  </a:txBody>
                  <a:tcPr marL="82296" marT="18288" marB="18288" anchor="ctr">
                    <a:solidFill>
                      <a:srgbClr val="FFFFFF"/>
                    </a:solidFill>
                  </a:tcPr>
                </a:tc>
                <a:tc>
                  <a:txBody>
                    <a:bodyPr/>
                    <a:lstStyle/>
                    <a:p>
                      <a:pPr algn="ctr"/>
                      <a:r>
                        <a:rPr sz="1400" b="0">
                          <a:solidFill>
                            <a:srgbClr val="404040"/>
                          </a:solidFill>
                          <a:latin typeface="Calibri"/>
                        </a:rPr>
                        <a:t>391.9 MB</a:t>
                      </a:r>
                    </a:p>
                  </a:txBody>
                  <a:tcPr marL="82296" marT="18288" marB="18288" anchor="ctr">
                    <a:solidFill>
                      <a:srgbClr val="FFFFFF"/>
                    </a:solidFill>
                  </a:tcPr>
                </a:tc>
                <a:tc>
                  <a:txBody>
                    <a:bodyPr/>
                    <a:lstStyle/>
                    <a:p>
                      <a:pPr algn="ctr"/>
                      <a:r>
                        <a:rPr sz="1400" b="0">
                          <a:solidFill>
                            <a:srgbClr val="404040"/>
                          </a:solidFill>
                          <a:latin typeface="Calibri"/>
                        </a:rPr>
                        <a:t>3,009 parameters</a:t>
                      </a:r>
                    </a:p>
                  </a:txBody>
                  <a:tcPr marL="82296" marT="18288" marB="18288" anchor="ctr">
                    <a:solidFill>
                      <a:srgbClr val="FFFFFF"/>
                    </a:solidFill>
                  </a:tcPr>
                </a:tc>
                <a:extLst>
                  <a:ext uri="{0D108BD9-81ED-4DB2-BD59-A6C34878D82A}">
                    <a16:rowId xmlns:a16="http://schemas.microsoft.com/office/drawing/2014/main" val="10003"/>
                  </a:ext>
                </a:extLst>
              </a:tr>
              <a:tr h="402336">
                <a:tc>
                  <a:txBody>
                    <a:bodyPr/>
                    <a:lstStyle/>
                    <a:p>
                      <a:pPr algn="l"/>
                      <a:r>
                        <a:rPr sz="1400" b="0">
                          <a:solidFill>
                            <a:srgbClr val="404040"/>
                          </a:solidFill>
                          <a:latin typeface="Calibri"/>
                        </a:rPr>
                        <a:t>End of training loop</a:t>
                      </a:r>
                    </a:p>
                  </a:txBody>
                  <a:tcPr marL="82296" marT="18288" marB="18288" anchor="ctr">
                    <a:solidFill>
                      <a:srgbClr val="F2F2F2"/>
                    </a:solidFill>
                  </a:tcPr>
                </a:tc>
                <a:tc>
                  <a:txBody>
                    <a:bodyPr/>
                    <a:lstStyle/>
                    <a:p>
                      <a:pPr algn="ctr"/>
                      <a:r>
                        <a:rPr sz="1400" b="0">
                          <a:solidFill>
                            <a:srgbClr val="404040"/>
                          </a:solidFill>
                          <a:latin typeface="Calibri"/>
                        </a:rPr>
                        <a:t>423.7 MB</a:t>
                      </a:r>
                    </a:p>
                  </a:txBody>
                  <a:tcPr marL="82296" marT="18288" marB="18288" anchor="ctr">
                    <a:solidFill>
                      <a:srgbClr val="F2F2F2"/>
                    </a:solidFill>
                  </a:tcPr>
                </a:tc>
                <a:tc>
                  <a:txBody>
                    <a:bodyPr/>
                    <a:lstStyle/>
                    <a:p>
                      <a:pPr algn="ctr"/>
                      <a:r>
                        <a:rPr sz="1400" b="0">
                          <a:solidFill>
                            <a:srgbClr val="404040"/>
                          </a:solidFill>
                          <a:latin typeface="Calibri"/>
                        </a:rPr>
                        <a:t>12,500 batches later</a:t>
                      </a:r>
                    </a:p>
                  </a:txBody>
                  <a:tcPr marL="82296" marT="18288" marB="18288" anchor="ctr">
                    <a:solidFill>
                      <a:srgbClr val="F2F2F2"/>
                    </a:solidFill>
                  </a:tcPr>
                </a:tc>
                <a:extLst>
                  <a:ext uri="{0D108BD9-81ED-4DB2-BD59-A6C34878D82A}">
                    <a16:rowId xmlns:a16="http://schemas.microsoft.com/office/drawing/2014/main" val="10004"/>
                  </a:ext>
                </a:extLst>
              </a:tr>
            </a:tbl>
          </a:graphicData>
        </a:graphic>
      </p:graphicFrame>
      <p:sp>
        <p:nvSpPr>
          <p:cNvPr id="16" name="Rounded Rectangle 15"/>
          <p:cNvSpPr/>
          <p:nvPr/>
        </p:nvSpPr>
        <p:spPr>
          <a:xfrm>
            <a:off x="822960" y="5440680"/>
            <a:ext cx="10515600" cy="960120"/>
          </a:xfrm>
          <a:prstGeom prst="roundRect">
            <a:avLst>
              <a:gd name="adj" fmla="val 6000"/>
            </a:avLst>
          </a:prstGeom>
          <a:solidFill>
            <a:srgbClr val="DEEBF7"/>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5623560"/>
            <a:ext cx="10058400" cy="640080"/>
          </a:xfrm>
          <a:prstGeom prst="rect">
            <a:avLst/>
          </a:prstGeom>
          <a:noFill/>
        </p:spPr>
        <p:txBody>
          <a:bodyPr wrap="square" lIns="0" tIns="0" rIns="0" bIns="0">
            <a:spAutoFit/>
          </a:bodyPr>
          <a:lstStyle/>
          <a:p>
            <a:pPr algn="l">
              <a:spcAft>
                <a:spcPts val="600"/>
              </a:spcAft>
            </a:pPr>
            <a:r>
              <a:rPr sz="1500" b="1" i="0">
                <a:solidFill>
                  <a:srgbClr val="1F4E79"/>
                </a:solidFill>
                <a:latin typeface="Calibri"/>
              </a:rPr>
              <a:t>Memory stayed flat during training — 417.2 → 423.7 MB over 12,500 updates.</a:t>
            </a:r>
          </a:p>
          <a:p>
            <a:pPr algn="l">
              <a:spcAft>
                <a:spcPts val="600"/>
              </a:spcAft>
            </a:pPr>
            <a:r>
              <a:rPr sz="1500" b="1" i="0">
                <a:solidFill>
                  <a:srgbClr val="1F4E79"/>
                </a:solidFill>
                <a:latin typeface="Calibri"/>
              </a:rPr>
              <a:t>Mini-batching means cost scales with BATCH SIZE, not with dataset size.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Training Time</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Single pass over 400,000 records</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sp>
        <p:nvSpPr>
          <p:cNvPr id="6" name="Rounded Rectangle 5"/>
          <p:cNvSpPr/>
          <p:nvPr/>
        </p:nvSpPr>
        <p:spPr>
          <a:xfrm>
            <a:off x="1051560" y="1691640"/>
            <a:ext cx="3017520" cy="164592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954987"/>
            <a:ext cx="3017520" cy="740664"/>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45.0 s</a:t>
            </a:r>
          </a:p>
        </p:txBody>
      </p:sp>
      <p:sp>
        <p:nvSpPr>
          <p:cNvPr id="8" name="TextBox 7"/>
          <p:cNvSpPr txBox="1"/>
          <p:nvPr/>
        </p:nvSpPr>
        <p:spPr>
          <a:xfrm>
            <a:off x="1051560" y="2777947"/>
            <a:ext cx="3017520" cy="493776"/>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total training</a:t>
            </a:r>
          </a:p>
        </p:txBody>
      </p:sp>
      <p:sp>
        <p:nvSpPr>
          <p:cNvPr id="9" name="Rounded Rectangle 8"/>
          <p:cNvSpPr/>
          <p:nvPr/>
        </p:nvSpPr>
        <p:spPr>
          <a:xfrm>
            <a:off x="4416552" y="1691640"/>
            <a:ext cx="3017520" cy="164592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16552" y="1954987"/>
            <a:ext cx="3017520" cy="740664"/>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3.6 ms</a:t>
            </a:r>
          </a:p>
        </p:txBody>
      </p:sp>
      <p:sp>
        <p:nvSpPr>
          <p:cNvPr id="11" name="TextBox 10"/>
          <p:cNvSpPr txBox="1"/>
          <p:nvPr/>
        </p:nvSpPr>
        <p:spPr>
          <a:xfrm>
            <a:off x="4416552" y="2777947"/>
            <a:ext cx="3017520" cy="493776"/>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per mini-batch</a:t>
            </a:r>
          </a:p>
        </p:txBody>
      </p:sp>
      <p:sp>
        <p:nvSpPr>
          <p:cNvPr id="12" name="Rounded Rectangle 11"/>
          <p:cNvSpPr/>
          <p:nvPr/>
        </p:nvSpPr>
        <p:spPr>
          <a:xfrm>
            <a:off x="7781544" y="1691640"/>
            <a:ext cx="3017520" cy="1645920"/>
          </a:xfrm>
          <a:prstGeom prst="roundRect">
            <a:avLst>
              <a:gd name="adj" fmla="val 6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81544" y="1954987"/>
            <a:ext cx="3017520" cy="740664"/>
          </a:xfrm>
          <a:prstGeom prst="rect">
            <a:avLst/>
          </a:prstGeom>
          <a:noFill/>
        </p:spPr>
        <p:txBody>
          <a:bodyPr wrap="square" lIns="0" tIns="0" rIns="0" bIns="0">
            <a:spAutoFit/>
          </a:bodyPr>
          <a:lstStyle/>
          <a:p>
            <a:pPr algn="ctr">
              <a:spcAft>
                <a:spcPts val="600"/>
              </a:spcAft>
            </a:pPr>
            <a:r>
              <a:rPr sz="3400" b="1" i="0">
                <a:solidFill>
                  <a:srgbClr val="1F4E79"/>
                </a:solidFill>
                <a:latin typeface="Calibri"/>
              </a:rPr>
              <a:t>8,900</a:t>
            </a:r>
          </a:p>
        </p:txBody>
      </p:sp>
      <p:sp>
        <p:nvSpPr>
          <p:cNvPr id="14" name="TextBox 13"/>
          <p:cNvSpPr txBox="1"/>
          <p:nvPr/>
        </p:nvSpPr>
        <p:spPr>
          <a:xfrm>
            <a:off x="7781544" y="2777947"/>
            <a:ext cx="3017520" cy="493776"/>
          </a:xfrm>
          <a:prstGeom prst="rect">
            <a:avLst/>
          </a:prstGeom>
          <a:noFill/>
        </p:spPr>
        <p:txBody>
          <a:bodyPr wrap="square" lIns="0" tIns="0" rIns="0" bIns="0">
            <a:spAutoFit/>
          </a:bodyPr>
          <a:lstStyle/>
          <a:p>
            <a:pPr algn="ctr">
              <a:spcAft>
                <a:spcPts val="600"/>
              </a:spcAft>
            </a:pPr>
            <a:r>
              <a:rPr sz="1250" b="0" i="0">
                <a:solidFill>
                  <a:srgbClr val="595959"/>
                </a:solidFill>
                <a:latin typeface="Calibri"/>
              </a:rPr>
              <a:t>records / second</a:t>
            </a:r>
          </a:p>
        </p:txBody>
      </p:sp>
      <p:graphicFrame>
        <p:nvGraphicFramePr>
          <p:cNvPr id="15" name="Table 14"/>
          <p:cNvGraphicFramePr>
            <a:graphicFrameLocks noGrp="1"/>
          </p:cNvGraphicFramePr>
          <p:nvPr/>
        </p:nvGraphicFramePr>
        <p:xfrm>
          <a:off x="2743200" y="3794760"/>
          <a:ext cx="6675119" cy="2194560"/>
        </p:xfrm>
        <a:graphic>
          <a:graphicData uri="http://schemas.openxmlformats.org/drawingml/2006/table">
            <a:tbl>
              <a:tblPr firstRow="1" bandRow="1">
                <a:tableStyleId>{5C22544A-7EE6-4342-B048-85BDC9FD1C3A}</a:tableStyleId>
              </a:tblPr>
              <a:tblGrid>
                <a:gridCol w="4767942">
                  <a:extLst>
                    <a:ext uri="{9D8B030D-6E8A-4147-A177-3AD203B41FA5}">
                      <a16:colId xmlns:a16="http://schemas.microsoft.com/office/drawing/2014/main" val="20000"/>
                    </a:ext>
                  </a:extLst>
                </a:gridCol>
                <a:gridCol w="1907177">
                  <a:extLst>
                    <a:ext uri="{9D8B030D-6E8A-4147-A177-3AD203B41FA5}">
                      <a16:colId xmlns:a16="http://schemas.microsoft.com/office/drawing/2014/main" val="20001"/>
                    </a:ext>
                  </a:extLst>
                </a:gridCol>
              </a:tblGrid>
              <a:tr h="438912">
                <a:tc>
                  <a:txBody>
                    <a:bodyPr/>
                    <a:lstStyle/>
                    <a:p>
                      <a:pPr algn="l"/>
                      <a:r>
                        <a:rPr sz="1500" b="1">
                          <a:solidFill>
                            <a:srgbClr val="FFFFFF"/>
                          </a:solidFill>
                          <a:latin typeface="Calibri"/>
                        </a:rPr>
                        <a:t>Phase</a:t>
                      </a:r>
                    </a:p>
                  </a:txBody>
                  <a:tcPr marL="82296" marT="18288" marB="18288" anchor="ctr">
                    <a:solidFill>
                      <a:srgbClr val="1F4E79"/>
                    </a:solidFill>
                  </a:tcPr>
                </a:tc>
                <a:tc>
                  <a:txBody>
                    <a:bodyPr/>
                    <a:lstStyle/>
                    <a:p>
                      <a:pPr algn="ctr"/>
                      <a:r>
                        <a:rPr sz="1500" b="1">
                          <a:solidFill>
                            <a:srgbClr val="FFFFFF"/>
                          </a:solidFill>
                          <a:latin typeface="Calibri"/>
                        </a:rPr>
                        <a:t>Time</a:t>
                      </a:r>
                    </a:p>
                  </a:txBody>
                  <a:tcPr marL="82296" marT="18288" marB="18288" anchor="ctr">
                    <a:solidFill>
                      <a:srgbClr val="1F4E79"/>
                    </a:solidFill>
                  </a:tcPr>
                </a:tc>
                <a:extLst>
                  <a:ext uri="{0D108BD9-81ED-4DB2-BD59-A6C34878D82A}">
                    <a16:rowId xmlns:a16="http://schemas.microsoft.com/office/drawing/2014/main" val="10000"/>
                  </a:ext>
                </a:extLst>
              </a:tr>
              <a:tr h="438912">
                <a:tc>
                  <a:txBody>
                    <a:bodyPr/>
                    <a:lstStyle/>
                    <a:p>
                      <a:pPr algn="l"/>
                      <a:r>
                        <a:rPr sz="1500" b="0">
                          <a:solidFill>
                            <a:srgbClr val="404040"/>
                          </a:solidFill>
                          <a:latin typeface="Calibri"/>
                        </a:rPr>
                        <a:t>Load and split 500,000 rows</a:t>
                      </a:r>
                    </a:p>
                  </a:txBody>
                  <a:tcPr marL="82296" marT="18288" marB="18288" anchor="ctr">
                    <a:solidFill>
                      <a:srgbClr val="FFFFFF"/>
                    </a:solidFill>
                  </a:tcPr>
                </a:tc>
                <a:tc>
                  <a:txBody>
                    <a:bodyPr/>
                    <a:lstStyle/>
                    <a:p>
                      <a:pPr algn="ctr"/>
                      <a:r>
                        <a:rPr sz="1500" b="0">
                          <a:solidFill>
                            <a:srgbClr val="404040"/>
                          </a:solidFill>
                          <a:latin typeface="Calibri"/>
                        </a:rPr>
                        <a:t>≈ 2 s</a:t>
                      </a:r>
                    </a:p>
                  </a:txBody>
                  <a:tcPr marL="82296" marT="18288" marB="18288" anchor="ctr">
                    <a:solidFill>
                      <a:srgbClr val="FFFFFF"/>
                    </a:solidFill>
                  </a:tcPr>
                </a:tc>
                <a:extLst>
                  <a:ext uri="{0D108BD9-81ED-4DB2-BD59-A6C34878D82A}">
                    <a16:rowId xmlns:a16="http://schemas.microsoft.com/office/drawing/2014/main" val="10001"/>
                  </a:ext>
                </a:extLst>
              </a:tr>
              <a:tr h="438912">
                <a:tc>
                  <a:txBody>
                    <a:bodyPr/>
                    <a:lstStyle/>
                    <a:p>
                      <a:pPr algn="l"/>
                      <a:r>
                        <a:rPr sz="1500" b="0">
                          <a:solidFill>
                            <a:srgbClr val="404040"/>
                          </a:solidFill>
                          <a:latin typeface="Calibri"/>
                        </a:rPr>
                        <a:t>Incremental training — 12,500 batches</a:t>
                      </a:r>
                    </a:p>
                  </a:txBody>
                  <a:tcPr marL="82296" marT="18288" marB="18288" anchor="ctr">
                    <a:solidFill>
                      <a:srgbClr val="F2F2F2"/>
                    </a:solidFill>
                  </a:tcPr>
                </a:tc>
                <a:tc>
                  <a:txBody>
                    <a:bodyPr/>
                    <a:lstStyle/>
                    <a:p>
                      <a:pPr algn="ctr"/>
                      <a:r>
                        <a:rPr sz="1500" b="0">
                          <a:solidFill>
                            <a:srgbClr val="404040"/>
                          </a:solidFill>
                          <a:latin typeface="Calibri"/>
                        </a:rPr>
                        <a:t>45.0 s</a:t>
                      </a:r>
                    </a:p>
                  </a:txBody>
                  <a:tcPr marL="82296" marT="18288" marB="18288" anchor="ctr">
                    <a:solidFill>
                      <a:srgbClr val="F2F2F2"/>
                    </a:solidFill>
                  </a:tcPr>
                </a:tc>
                <a:extLst>
                  <a:ext uri="{0D108BD9-81ED-4DB2-BD59-A6C34878D82A}">
                    <a16:rowId xmlns:a16="http://schemas.microsoft.com/office/drawing/2014/main" val="10002"/>
                  </a:ext>
                </a:extLst>
              </a:tr>
              <a:tr h="438912">
                <a:tc>
                  <a:txBody>
                    <a:bodyPr/>
                    <a:lstStyle/>
                    <a:p>
                      <a:pPr algn="l"/>
                      <a:r>
                        <a:rPr sz="1500" b="0">
                          <a:solidFill>
                            <a:srgbClr val="404040"/>
                          </a:solidFill>
                          <a:latin typeface="Calibri"/>
                        </a:rPr>
                        <a:t>Evaluation and plotting</a:t>
                      </a:r>
                    </a:p>
                  </a:txBody>
                  <a:tcPr marL="82296" marT="18288" marB="18288" anchor="ctr">
                    <a:solidFill>
                      <a:srgbClr val="FFFFFF"/>
                    </a:solidFill>
                  </a:tcPr>
                </a:tc>
                <a:tc>
                  <a:txBody>
                    <a:bodyPr/>
                    <a:lstStyle/>
                    <a:p>
                      <a:pPr algn="ctr"/>
                      <a:r>
                        <a:rPr sz="1500" b="0">
                          <a:solidFill>
                            <a:srgbClr val="404040"/>
                          </a:solidFill>
                          <a:latin typeface="Calibri"/>
                        </a:rPr>
                        <a:t>≈ 5 s</a:t>
                      </a:r>
                    </a:p>
                  </a:txBody>
                  <a:tcPr marL="82296" marT="18288" marB="18288" anchor="ctr">
                    <a:solidFill>
                      <a:srgbClr val="FFFFFF"/>
                    </a:solidFill>
                  </a:tcPr>
                </a:tc>
                <a:extLst>
                  <a:ext uri="{0D108BD9-81ED-4DB2-BD59-A6C34878D82A}">
                    <a16:rowId xmlns:a16="http://schemas.microsoft.com/office/drawing/2014/main" val="10003"/>
                  </a:ext>
                </a:extLst>
              </a:tr>
              <a:tr h="438912">
                <a:tc>
                  <a:txBody>
                    <a:bodyPr/>
                    <a:lstStyle/>
                    <a:p>
                      <a:pPr algn="l"/>
                      <a:r>
                        <a:rPr sz="1500" b="1">
                          <a:solidFill>
                            <a:srgbClr val="1F4E79"/>
                          </a:solidFill>
                          <a:latin typeface="Calibri"/>
                        </a:rPr>
                        <a:t>Total end-to-end</a:t>
                      </a:r>
                    </a:p>
                  </a:txBody>
                  <a:tcPr marL="82296" marT="18288" marB="18288" anchor="ctr">
                    <a:solidFill>
                      <a:srgbClr val="F2F2F2"/>
                    </a:solidFill>
                  </a:tcPr>
                </a:tc>
                <a:tc>
                  <a:txBody>
                    <a:bodyPr/>
                    <a:lstStyle/>
                    <a:p>
                      <a:pPr algn="ctr"/>
                      <a:r>
                        <a:rPr sz="1500" b="1">
                          <a:solidFill>
                            <a:srgbClr val="1F4E79"/>
                          </a:solidFill>
                          <a:latin typeface="Calibri"/>
                        </a:rPr>
                        <a:t>≈ 52 s</a:t>
                      </a:r>
                    </a:p>
                  </a:txBody>
                  <a:tcPr marL="82296" marT="18288" marB="18288" anchor="ctr">
                    <a:solidFill>
                      <a:srgbClr val="F2F2F2"/>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1051560" y="5897880"/>
            <a:ext cx="10058400" cy="365760"/>
          </a:xfrm>
          <a:prstGeom prst="rect">
            <a:avLst/>
          </a:prstGeom>
          <a:noFill/>
        </p:spPr>
        <p:txBody>
          <a:bodyPr wrap="square" lIns="0" tIns="0" rIns="0" bIns="0">
            <a:spAutoFit/>
          </a:bodyPr>
          <a:lstStyle/>
          <a:p>
            <a:pPr algn="ctr">
              <a:spcAft>
                <a:spcPts val="600"/>
              </a:spcAft>
            </a:pPr>
            <a:r>
              <a:rPr sz="1400" b="0" i="1">
                <a:solidFill>
                  <a:srgbClr val="595959"/>
                </a:solidFill>
                <a:latin typeface="Calibri"/>
              </a:rPr>
              <a:t>Per-batch overhead dominates: 12,500 separate Python-level calls into TensorFlow.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Team Contributions</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Group 7</a:t>
            </a:r>
          </a:p>
        </p:txBody>
      </p:sp>
      <p:sp>
        <p:nvSpPr>
          <p:cNvPr id="5" name="Rounded Rectangle 4"/>
          <p:cNvSpPr/>
          <p:nvPr/>
        </p:nvSpPr>
        <p:spPr>
          <a:xfrm>
            <a:off x="10378440" y="347472"/>
            <a:ext cx="1325880" cy="329184"/>
          </a:xfrm>
          <a:prstGeom prst="roundRect">
            <a:avLst>
              <a:gd name="adj" fmla="val 6000"/>
            </a:avLst>
          </a:prstGeom>
          <a:solidFill>
            <a:srgbClr val="E2EFDA"/>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548235"/>
                </a:solidFill>
              </a:rPr>
              <a:t>REQUIRED</a:t>
            </a:r>
          </a:p>
        </p:txBody>
      </p:sp>
      <p:graphicFrame>
        <p:nvGraphicFramePr>
          <p:cNvPr id="6" name="Table 5"/>
          <p:cNvGraphicFramePr>
            <a:graphicFrameLocks noGrp="1"/>
          </p:cNvGraphicFramePr>
          <p:nvPr/>
        </p:nvGraphicFramePr>
        <p:xfrm>
          <a:off x="685800" y="1600200"/>
          <a:ext cx="10789919" cy="4681728"/>
        </p:xfrm>
        <a:graphic>
          <a:graphicData uri="http://schemas.openxmlformats.org/drawingml/2006/table">
            <a:tbl>
              <a:tblPr firstRow="1" bandRow="1">
                <a:tableStyleId>{5C22544A-7EE6-4342-B048-85BDC9FD1C3A}</a:tableStyleId>
              </a:tblPr>
              <a:tblGrid>
                <a:gridCol w="1780860">
                  <a:extLst>
                    <a:ext uri="{9D8B030D-6E8A-4147-A177-3AD203B41FA5}">
                      <a16:colId xmlns:a16="http://schemas.microsoft.com/office/drawing/2014/main" val="20000"/>
                    </a:ext>
                  </a:extLst>
                </a:gridCol>
                <a:gridCol w="5866364">
                  <a:extLst>
                    <a:ext uri="{9D8B030D-6E8A-4147-A177-3AD203B41FA5}">
                      <a16:colId xmlns:a16="http://schemas.microsoft.com/office/drawing/2014/main" val="20001"/>
                    </a:ext>
                  </a:extLst>
                </a:gridCol>
                <a:gridCol w="3142695">
                  <a:extLst>
                    <a:ext uri="{9D8B030D-6E8A-4147-A177-3AD203B41FA5}">
                      <a16:colId xmlns:a16="http://schemas.microsoft.com/office/drawing/2014/main" val="20002"/>
                    </a:ext>
                  </a:extLst>
                </a:gridCol>
              </a:tblGrid>
              <a:tr h="1170432">
                <a:tc>
                  <a:txBody>
                    <a:bodyPr/>
                    <a:lstStyle/>
                    <a:p>
                      <a:pPr algn="l"/>
                      <a:r>
                        <a:rPr sz="1350" b="1">
                          <a:solidFill>
                            <a:srgbClr val="FFFFFF"/>
                          </a:solidFill>
                          <a:latin typeface="Calibri"/>
                        </a:rPr>
                        <a:t>Member</a:t>
                      </a:r>
                    </a:p>
                  </a:txBody>
                  <a:tcPr marL="82296" marT="18288" marB="18288" anchor="ctr">
                    <a:solidFill>
                      <a:srgbClr val="1F4E79"/>
                    </a:solidFill>
                  </a:tcPr>
                </a:tc>
                <a:tc>
                  <a:txBody>
                    <a:bodyPr/>
                    <a:lstStyle/>
                    <a:p>
                      <a:pPr algn="ctr"/>
                      <a:r>
                        <a:rPr sz="1350" b="1">
                          <a:solidFill>
                            <a:srgbClr val="FFFFFF"/>
                          </a:solidFill>
                          <a:latin typeface="Calibri"/>
                        </a:rPr>
                        <a:t>Responsibilities</a:t>
                      </a:r>
                    </a:p>
                  </a:txBody>
                  <a:tcPr marL="82296" marT="18288" marB="18288" anchor="ctr">
                    <a:solidFill>
                      <a:srgbClr val="1F4E79"/>
                    </a:solidFill>
                  </a:tcPr>
                </a:tc>
                <a:tc>
                  <a:txBody>
                    <a:bodyPr/>
                    <a:lstStyle/>
                    <a:p>
                      <a:pPr algn="ctr"/>
                      <a:r>
                        <a:rPr sz="1350" b="1">
                          <a:solidFill>
                            <a:srgbClr val="FFFFFF"/>
                          </a:solidFill>
                          <a:latin typeface="Calibri"/>
                        </a:rPr>
                        <a:t>Deliverables</a:t>
                      </a:r>
                    </a:p>
                  </a:txBody>
                  <a:tcPr marL="82296" marT="18288" marB="18288" anchor="ctr">
                    <a:solidFill>
                      <a:srgbClr val="1F4E79"/>
                    </a:solidFill>
                  </a:tcPr>
                </a:tc>
                <a:extLst>
                  <a:ext uri="{0D108BD9-81ED-4DB2-BD59-A6C34878D82A}">
                    <a16:rowId xmlns:a16="http://schemas.microsoft.com/office/drawing/2014/main" val="10000"/>
                  </a:ext>
                </a:extLst>
              </a:tr>
              <a:tr h="1170432">
                <a:tc>
                  <a:txBody>
                    <a:bodyPr/>
                    <a:lstStyle/>
                    <a:p>
                      <a:pPr algn="l"/>
                      <a:r>
                        <a:rPr sz="1350" b="0">
                          <a:solidFill>
                            <a:srgbClr val="404040"/>
                          </a:solidFill>
                          <a:latin typeface="Calibri"/>
                        </a:rPr>
                        <a:t>Ansley</a:t>
                      </a:r>
                    </a:p>
                  </a:txBody>
                  <a:tcPr marL="82296" marT="18288" marB="18288" anchor="ctr">
                    <a:solidFill>
                      <a:srgbClr val="FFFFFF"/>
                    </a:solidFill>
                  </a:tcPr>
                </a:tc>
                <a:tc>
                  <a:txBody>
                    <a:bodyPr/>
                    <a:lstStyle/>
                    <a:p>
                      <a:pPr algn="ctr"/>
                      <a:r>
                        <a:rPr sz="1350" b="0">
                          <a:solidFill>
                            <a:srgbClr val="404040"/>
                          </a:solidFill>
                          <a:latin typeface="Calibri"/>
                        </a:rPr>
                        <a:t>Data exploration · mini-batch loader ·</a:t>
                      </a:r>
                    </a:p>
                    <a:p>
                      <a:r>
                        <a:t>incremental training loop · memory tracking ·</a:t>
                      </a:r>
                    </a:p>
                    <a:p>
                      <a:r>
                        <a:t>full-dataset run</a:t>
                      </a:r>
                    </a:p>
                  </a:txBody>
                  <a:tcPr marL="82296" marT="18288" marB="18288" anchor="ctr">
                    <a:solidFill>
                      <a:srgbClr val="FFFFFF"/>
                    </a:solidFill>
                  </a:tcPr>
                </a:tc>
                <a:tc>
                  <a:txBody>
                    <a:bodyPr/>
                    <a:lstStyle/>
                    <a:p>
                      <a:pPr algn="ctr"/>
                      <a:r>
                        <a:rPr sz="1350" b="0">
                          <a:solidFill>
                            <a:srgbClr val="404040"/>
                          </a:solidFill>
                          <a:latin typeface="Calibri"/>
                        </a:rPr>
                        <a:t>data_handler.py</a:t>
                      </a:r>
                    </a:p>
                    <a:p>
                      <a:r>
                        <a:t>main.py</a:t>
                      </a:r>
                    </a:p>
                    <a:p>
                      <a:r>
                        <a:t>memory_log.csv</a:t>
                      </a:r>
                    </a:p>
                  </a:txBody>
                  <a:tcPr marL="82296" marT="18288" marB="18288" anchor="ctr">
                    <a:solidFill>
                      <a:srgbClr val="FFFFFF"/>
                    </a:solidFill>
                  </a:tcPr>
                </a:tc>
                <a:extLst>
                  <a:ext uri="{0D108BD9-81ED-4DB2-BD59-A6C34878D82A}">
                    <a16:rowId xmlns:a16="http://schemas.microsoft.com/office/drawing/2014/main" val="10001"/>
                  </a:ext>
                </a:extLst>
              </a:tr>
              <a:tr h="1170432">
                <a:tc>
                  <a:txBody>
                    <a:bodyPr/>
                    <a:lstStyle/>
                    <a:p>
                      <a:pPr algn="l"/>
                      <a:r>
                        <a:rPr sz="1350" b="0">
                          <a:solidFill>
                            <a:srgbClr val="404040"/>
                          </a:solidFill>
                          <a:latin typeface="Calibri"/>
                        </a:rPr>
                        <a:t>Rebecca</a:t>
                      </a:r>
                    </a:p>
                  </a:txBody>
                  <a:tcPr marL="82296" marT="18288" marB="18288" anchor="ctr">
                    <a:solidFill>
                      <a:srgbClr val="F2F2F2"/>
                    </a:solidFill>
                  </a:tcPr>
                </a:tc>
                <a:tc>
                  <a:txBody>
                    <a:bodyPr/>
                    <a:lstStyle/>
                    <a:p>
                      <a:pPr algn="ctr"/>
                      <a:r>
                        <a:rPr sz="1350" b="0">
                          <a:solidFill>
                            <a:srgbClr val="404040"/>
                          </a:solidFill>
                          <a:latin typeface="Calibri"/>
                        </a:rPr>
                        <a:t>Network architecture · R² and MSE functions ·</a:t>
                      </a:r>
                    </a:p>
                    <a:p>
                      <a:r>
                        <a:t>moving average · variable importance ·</a:t>
                      </a:r>
                    </a:p>
                    <a:p>
                      <a:r>
                        <a:t>partial dependence analysis</a:t>
                      </a:r>
                    </a:p>
                  </a:txBody>
                  <a:tcPr marL="82296" marT="18288" marB="18288" anchor="ctr">
                    <a:solidFill>
                      <a:srgbClr val="F2F2F2"/>
                    </a:solidFill>
                  </a:tcPr>
                </a:tc>
                <a:tc>
                  <a:txBody>
                    <a:bodyPr/>
                    <a:lstStyle/>
                    <a:p>
                      <a:pPr algn="ctr"/>
                      <a:r>
                        <a:rPr sz="1350" b="0">
                          <a:solidFill>
                            <a:srgbClr val="404040"/>
                          </a:solidFill>
                          <a:latin typeface="Calibri"/>
                        </a:rPr>
                        <a:t>model.py</a:t>
                      </a:r>
                    </a:p>
                    <a:p>
                      <a:r>
                        <a:t>evaluate.py</a:t>
                      </a:r>
                    </a:p>
                    <a:p>
                      <a:r>
                        <a:t>plots + PDP analysis</a:t>
                      </a:r>
                    </a:p>
                  </a:txBody>
                  <a:tcPr marL="82296" marT="18288" marB="18288" anchor="ctr">
                    <a:solidFill>
                      <a:srgbClr val="F2F2F2"/>
                    </a:solidFill>
                  </a:tcPr>
                </a:tc>
                <a:extLst>
                  <a:ext uri="{0D108BD9-81ED-4DB2-BD59-A6C34878D82A}">
                    <a16:rowId xmlns:a16="http://schemas.microsoft.com/office/drawing/2014/main" val="10002"/>
                  </a:ext>
                </a:extLst>
              </a:tr>
              <a:tr h="1170432">
                <a:tc>
                  <a:txBody>
                    <a:bodyPr/>
                    <a:lstStyle/>
                    <a:p>
                      <a:pPr algn="l"/>
                      <a:r>
                        <a:rPr sz="1350" b="0">
                          <a:solidFill>
                            <a:srgbClr val="404040"/>
                          </a:solidFill>
                          <a:latin typeface="Calibri"/>
                        </a:rPr>
                        <a:t>Ximin</a:t>
                      </a:r>
                    </a:p>
                  </a:txBody>
                  <a:tcPr marL="82296" marT="18288" marB="18288" anchor="ctr">
                    <a:solidFill>
                      <a:srgbClr val="FFFFFF"/>
                    </a:solidFill>
                  </a:tcPr>
                </a:tc>
                <a:tc>
                  <a:txBody>
                    <a:bodyPr/>
                    <a:lstStyle/>
                    <a:p>
                      <a:pPr algn="ctr"/>
                      <a:r>
                        <a:rPr sz="1350" b="0">
                          <a:solidFill>
                            <a:srgbClr val="404040"/>
                          </a:solidFill>
                          <a:latin typeface="Calibri"/>
                        </a:rPr>
                        <a:t>Testing checklist · sample datasets ·</a:t>
                      </a:r>
                    </a:p>
                    <a:p>
                      <a:r>
                        <a:t>run log and issue tracking · results</a:t>
                      </a:r>
                    </a:p>
                    <a:p>
                      <a:r>
                        <a:t>organization · presentation</a:t>
                      </a:r>
                    </a:p>
                  </a:txBody>
                  <a:tcPr marL="82296" marT="18288" marB="18288" anchor="ctr">
                    <a:solidFill>
                      <a:srgbClr val="FFFFFF"/>
                    </a:solidFill>
                  </a:tcPr>
                </a:tc>
                <a:tc>
                  <a:txBody>
                    <a:bodyPr/>
                    <a:lstStyle/>
                    <a:p>
                      <a:pPr algn="ctr"/>
                      <a:r>
                        <a:rPr sz="1350" b="0">
                          <a:solidFill>
                            <a:srgbClr val="404040"/>
                          </a:solidFill>
                          <a:latin typeface="Calibri"/>
                        </a:rPr>
                        <a:t>test samples</a:t>
                      </a:r>
                    </a:p>
                    <a:p>
                      <a:r>
                        <a:t>RUN_LOG.md</a:t>
                      </a:r>
                    </a:p>
                    <a:p>
                      <a:r>
                        <a:t>this deck</a:t>
                      </a:r>
                    </a:p>
                  </a:txBody>
                  <a:tcPr marL="82296"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5989320"/>
            <a:ext cx="10789920" cy="365760"/>
          </a:xfrm>
          <a:prstGeom prst="rect">
            <a:avLst/>
          </a:prstGeom>
          <a:noFill/>
        </p:spPr>
        <p:txBody>
          <a:bodyPr wrap="square" lIns="0" tIns="0" rIns="0" bIns="0">
            <a:spAutoFit/>
          </a:bodyPr>
          <a:lstStyle/>
          <a:p>
            <a:pPr algn="ctr">
              <a:spcAft>
                <a:spcPts val="600"/>
              </a:spcAft>
            </a:pPr>
            <a:r>
              <a:rPr sz="1400" b="0" i="1">
                <a:solidFill>
                  <a:srgbClr val="595959"/>
                </a:solidFill>
                <a:latin typeface="Calibri"/>
              </a:rPr>
              <a:t>All three members reviewed the final results and validated the metrics independently.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82296"/>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9692640" cy="640080"/>
          </a:xfrm>
          <a:prstGeom prst="rect">
            <a:avLst/>
          </a:prstGeom>
          <a:noFill/>
        </p:spPr>
        <p:txBody>
          <a:bodyPr wrap="square" lIns="0" tIns="0" rIns="0" bIns="0">
            <a:spAutoFit/>
          </a:bodyPr>
          <a:lstStyle/>
          <a:p>
            <a:pPr algn="l">
              <a:spcAft>
                <a:spcPts val="600"/>
              </a:spcAft>
            </a:pPr>
            <a:r>
              <a:rPr sz="3000" b="1" i="0">
                <a:solidFill>
                  <a:srgbClr val="1F4E79"/>
                </a:solidFill>
                <a:latin typeface="Calibri"/>
              </a:rPr>
              <a:t>What We Learned</a:t>
            </a:r>
          </a:p>
        </p:txBody>
      </p:sp>
      <p:sp>
        <p:nvSpPr>
          <p:cNvPr id="4" name="TextBox 3"/>
          <p:cNvSpPr txBox="1"/>
          <p:nvPr/>
        </p:nvSpPr>
        <p:spPr>
          <a:xfrm>
            <a:off x="521207" y="932688"/>
            <a:ext cx="9692640" cy="384048"/>
          </a:xfrm>
          <a:prstGeom prst="rect">
            <a:avLst/>
          </a:prstGeom>
          <a:noFill/>
        </p:spPr>
        <p:txBody>
          <a:bodyPr wrap="square" lIns="0" tIns="0" rIns="0" bIns="0">
            <a:spAutoFit/>
          </a:bodyPr>
          <a:lstStyle/>
          <a:p>
            <a:pPr algn="l">
              <a:spcAft>
                <a:spcPts val="600"/>
              </a:spcAft>
            </a:pPr>
            <a:r>
              <a:rPr sz="1350" b="0" i="1">
                <a:solidFill>
                  <a:srgbClr val="595959"/>
                </a:solidFill>
                <a:latin typeface="Calibri"/>
              </a:rPr>
              <a:t>Honest limitations and next steps</a:t>
            </a:r>
          </a:p>
        </p:txBody>
      </p:sp>
      <p:sp>
        <p:nvSpPr>
          <p:cNvPr id="5" name="Rounded Rectangle 4"/>
          <p:cNvSpPr/>
          <p:nvPr/>
        </p:nvSpPr>
        <p:spPr>
          <a:xfrm>
            <a:off x="685800" y="1572768"/>
            <a:ext cx="5257800" cy="4206240"/>
          </a:xfrm>
          <a:prstGeom prst="roundRect">
            <a:avLst>
              <a:gd name="adj" fmla="val 6000"/>
            </a:avLst>
          </a:prstGeom>
          <a:solidFill>
            <a:srgbClr val="E2EFDA"/>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83080"/>
            <a:ext cx="4800600" cy="365760"/>
          </a:xfrm>
          <a:prstGeom prst="rect">
            <a:avLst/>
          </a:prstGeom>
          <a:noFill/>
        </p:spPr>
        <p:txBody>
          <a:bodyPr wrap="square" lIns="0" tIns="0" rIns="0" bIns="0">
            <a:spAutoFit/>
          </a:bodyPr>
          <a:lstStyle/>
          <a:p>
            <a:pPr algn="l">
              <a:spcAft>
                <a:spcPts val="600"/>
              </a:spcAft>
            </a:pPr>
            <a:r>
              <a:rPr sz="1800" b="1" i="0">
                <a:solidFill>
                  <a:srgbClr val="375A23"/>
                </a:solidFill>
                <a:latin typeface="Calibri"/>
              </a:rPr>
              <a:t>✓  What worked</a:t>
            </a:r>
          </a:p>
        </p:txBody>
      </p:sp>
      <p:sp>
        <p:nvSpPr>
          <p:cNvPr id="7" name="Rounded Rectangle 6"/>
          <p:cNvSpPr/>
          <p:nvPr/>
        </p:nvSpPr>
        <p:spPr>
          <a:xfrm>
            <a:off x="960120" y="2455164"/>
            <a:ext cx="100584" cy="100584"/>
          </a:xfrm>
          <a:prstGeom prst="roundRect">
            <a:avLst>
              <a:gd name="adj" fmla="val 6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34440" y="237744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Memory flat across 12,500 updates</a:t>
            </a:r>
          </a:p>
        </p:txBody>
      </p:sp>
      <p:sp>
        <p:nvSpPr>
          <p:cNvPr id="9" name="Rounded Rectangle 8"/>
          <p:cNvSpPr/>
          <p:nvPr/>
        </p:nvSpPr>
        <p:spPr>
          <a:xfrm>
            <a:off x="960120" y="2958084"/>
            <a:ext cx="100584" cy="100584"/>
          </a:xfrm>
          <a:prstGeom prst="roundRect">
            <a:avLst>
              <a:gd name="adj" fmla="val 6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34440" y="288036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Test R² 0.5356 beats linear (0.3744)</a:t>
            </a:r>
          </a:p>
        </p:txBody>
      </p:sp>
      <p:sp>
        <p:nvSpPr>
          <p:cNvPr id="11" name="Rounded Rectangle 10"/>
          <p:cNvSpPr/>
          <p:nvPr/>
        </p:nvSpPr>
        <p:spPr>
          <a:xfrm>
            <a:off x="960120" y="3461004"/>
            <a:ext cx="100584" cy="100584"/>
          </a:xfrm>
          <a:prstGeom prst="roundRect">
            <a:avLst>
              <a:gd name="adj" fmla="val 6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34440" y="338328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No overfitting — gap of 0.0006</a:t>
            </a:r>
          </a:p>
        </p:txBody>
      </p:sp>
      <p:sp>
        <p:nvSpPr>
          <p:cNvPr id="13" name="Rounded Rectangle 12"/>
          <p:cNvSpPr/>
          <p:nvPr/>
        </p:nvSpPr>
        <p:spPr>
          <a:xfrm>
            <a:off x="960120" y="3963924"/>
            <a:ext cx="100584" cy="100584"/>
          </a:xfrm>
          <a:prstGeom prst="roundRect">
            <a:avLst>
              <a:gd name="adj" fmla="val 6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34440" y="388620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Clean split, scaler fit on train only</a:t>
            </a:r>
          </a:p>
        </p:txBody>
      </p:sp>
      <p:sp>
        <p:nvSpPr>
          <p:cNvPr id="15" name="Rounded Rectangle 14"/>
          <p:cNvSpPr/>
          <p:nvPr/>
        </p:nvSpPr>
        <p:spPr>
          <a:xfrm>
            <a:off x="960120" y="4466844"/>
            <a:ext cx="100584" cy="100584"/>
          </a:xfrm>
          <a:prstGeom prst="roundRect">
            <a:avLst>
              <a:gd name="adj" fmla="val 6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34440" y="438912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PDPs match importance ranking</a:t>
            </a:r>
          </a:p>
        </p:txBody>
      </p:sp>
      <p:sp>
        <p:nvSpPr>
          <p:cNvPr id="17" name="Rounded Rectangle 16"/>
          <p:cNvSpPr/>
          <p:nvPr/>
        </p:nvSpPr>
        <p:spPr>
          <a:xfrm>
            <a:off x="960120" y="4969764"/>
            <a:ext cx="100584" cy="100584"/>
          </a:xfrm>
          <a:prstGeom prst="roundRect">
            <a:avLst>
              <a:gd name="adj" fmla="val 6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34440" y="489204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Every metric logged to disk</a:t>
            </a:r>
          </a:p>
        </p:txBody>
      </p:sp>
      <p:sp>
        <p:nvSpPr>
          <p:cNvPr id="19" name="Rounded Rectangle 18"/>
          <p:cNvSpPr/>
          <p:nvPr/>
        </p:nvSpPr>
        <p:spPr>
          <a:xfrm>
            <a:off x="6217920" y="1572768"/>
            <a:ext cx="5257800" cy="4206240"/>
          </a:xfrm>
          <a:prstGeom prst="roundRect">
            <a:avLst>
              <a:gd name="adj" fmla="val 6000"/>
            </a:avLst>
          </a:prstGeom>
          <a:solidFill>
            <a:srgbClr val="FFF2CC"/>
          </a:solidFill>
          <a:ln w="158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1783080"/>
            <a:ext cx="4800600" cy="365760"/>
          </a:xfrm>
          <a:prstGeom prst="rect">
            <a:avLst/>
          </a:prstGeom>
          <a:noFill/>
        </p:spPr>
        <p:txBody>
          <a:bodyPr wrap="square" lIns="0" tIns="0" rIns="0" bIns="0">
            <a:spAutoFit/>
          </a:bodyPr>
          <a:lstStyle/>
          <a:p>
            <a:pPr algn="l">
              <a:spcAft>
                <a:spcPts val="600"/>
              </a:spcAft>
            </a:pPr>
            <a:r>
              <a:rPr sz="1800" b="1" i="0">
                <a:solidFill>
                  <a:srgbClr val="7F6000"/>
                </a:solidFill>
                <a:latin typeface="Calibri"/>
              </a:rPr>
              <a:t>→  What we would change</a:t>
            </a:r>
          </a:p>
        </p:txBody>
      </p:sp>
      <p:sp>
        <p:nvSpPr>
          <p:cNvPr id="21" name="Rounded Rectangle 20"/>
          <p:cNvSpPr/>
          <p:nvPr/>
        </p:nvSpPr>
        <p:spPr>
          <a:xfrm>
            <a:off x="6492240" y="245516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59" y="237744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Chunk the CSV read (pd.read_csv chunksize)</a:t>
            </a:r>
          </a:p>
        </p:txBody>
      </p:sp>
      <p:sp>
        <p:nvSpPr>
          <p:cNvPr id="23" name="Rounded Rectangle 22"/>
          <p:cNvSpPr/>
          <p:nvPr/>
        </p:nvSpPr>
        <p:spPr>
          <a:xfrm>
            <a:off x="6492240" y="295808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66559" y="288036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More epochs — curve still declining</a:t>
            </a:r>
          </a:p>
        </p:txBody>
      </p:sp>
      <p:sp>
        <p:nvSpPr>
          <p:cNvPr id="25" name="Rounded Rectangle 24"/>
          <p:cNvSpPr/>
          <p:nvPr/>
        </p:nvSpPr>
        <p:spPr>
          <a:xfrm>
            <a:off x="6492240" y="346100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59" y="338328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Batch 256 + 10 epochs ≈ +0.02 R²</a:t>
            </a:r>
          </a:p>
        </p:txBody>
      </p:sp>
      <p:sp>
        <p:nvSpPr>
          <p:cNvPr id="27" name="Rounded Rectangle 26"/>
          <p:cNvSpPr/>
          <p:nvPr/>
        </p:nvSpPr>
        <p:spPr>
          <a:xfrm>
            <a:off x="6492240" y="396392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6559" y="388620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One-hot encode category, not numeric</a:t>
            </a:r>
          </a:p>
        </p:txBody>
      </p:sp>
      <p:sp>
        <p:nvSpPr>
          <p:cNvPr id="29" name="Rounded Rectangle 28"/>
          <p:cNvSpPr/>
          <p:nvPr/>
        </p:nvSpPr>
        <p:spPr>
          <a:xfrm>
            <a:off x="6492240" y="446684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66559" y="438912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Seed weight init for reproducibility</a:t>
            </a:r>
          </a:p>
        </p:txBody>
      </p:sp>
      <p:sp>
        <p:nvSpPr>
          <p:cNvPr id="31" name="Rounded Rectangle 30"/>
          <p:cNvSpPr/>
          <p:nvPr/>
        </p:nvSpPr>
        <p:spPr>
          <a:xfrm>
            <a:off x="6492240" y="4969764"/>
            <a:ext cx="100584" cy="100584"/>
          </a:xfrm>
          <a:prstGeom prst="roundRect">
            <a:avLst>
              <a:gd name="adj" fmla="val 6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66559" y="4892040"/>
            <a:ext cx="4572000" cy="365760"/>
          </a:xfrm>
          <a:prstGeom prst="rect">
            <a:avLst/>
          </a:prstGeom>
          <a:noFill/>
        </p:spPr>
        <p:txBody>
          <a:bodyPr wrap="square" lIns="0" tIns="0" rIns="0" bIns="0">
            <a:spAutoFit/>
          </a:bodyPr>
          <a:lstStyle/>
          <a:p>
            <a:pPr algn="l">
              <a:spcAft>
                <a:spcPts val="600"/>
              </a:spcAft>
            </a:pPr>
            <a:r>
              <a:rPr sz="1450" b="0" i="0">
                <a:solidFill>
                  <a:srgbClr val="404040"/>
                </a:solidFill>
                <a:latin typeface="Calibri"/>
              </a:rPr>
              <a:t>Clip PDP grids to 1st–99th percentile</a:t>
            </a:r>
          </a:p>
        </p:txBody>
      </p:sp>
      <p:sp>
        <p:nvSpPr>
          <p:cNvPr id="33" name="TextBox 32"/>
          <p:cNvSpPr txBox="1"/>
          <p:nvPr/>
        </p:nvSpPr>
        <p:spPr>
          <a:xfrm>
            <a:off x="685800" y="5989320"/>
            <a:ext cx="10789920" cy="365760"/>
          </a:xfrm>
          <a:prstGeom prst="rect">
            <a:avLst/>
          </a:prstGeom>
          <a:noFill/>
        </p:spPr>
        <p:txBody>
          <a:bodyPr wrap="square" lIns="0" tIns="0" rIns="0" bIns="0">
            <a:spAutoFit/>
          </a:bodyPr>
          <a:lstStyle/>
          <a:p>
            <a:pPr algn="ctr">
              <a:spcAft>
                <a:spcPts val="600"/>
              </a:spcAft>
            </a:pPr>
            <a:r>
              <a:rPr sz="1450" b="1" i="0">
                <a:solidFill>
                  <a:srgbClr val="1F4E79"/>
                </a:solidFill>
                <a:latin typeface="Calibri"/>
              </a:rPr>
              <a:t>Sigmoid was required here; ReLU would likely train faster, since stacked sigmoids shrink gradients.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2752</Words>
  <Application>Microsoft Office PowerPoint</Application>
  <PresentationFormat>Widescreen</PresentationFormat>
  <Paragraphs>367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xzeng3</cp:lastModifiedBy>
  <cp:revision>2</cp:revision>
  <dcterms:created xsi:type="dcterms:W3CDTF">2013-01-27T09:14:16Z</dcterms:created>
  <dcterms:modified xsi:type="dcterms:W3CDTF">2026-09-19T04:23:20Z</dcterms:modified>
  <cp:category/>
</cp:coreProperties>
</file>