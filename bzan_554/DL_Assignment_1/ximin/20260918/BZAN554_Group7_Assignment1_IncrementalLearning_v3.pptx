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9" r:id="rId3"/>
    <p:sldId id="257" r:id="rId4"/>
    <p:sldId id="258" r:id="rId5"/>
    <p:sldId id="259" r:id="rId6"/>
    <p:sldId id="260" r:id="rId7"/>
    <p:sldId id="261" r:id="rId8"/>
    <p:sldId id="262" r:id="rId9"/>
    <p:sldId id="263" r:id="rId10"/>
    <p:sldId id="264"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428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Group 7. Lead with the headline: test R2 = 0.536, which is well above a linear regression baseline of 0.374 on the identical split. 500,000 records learned one mini-batch at a time, 45 seconds, under 424 MB of RAM during training.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grader's index. Every item in the assignment PDF is listed with the slide that answers it. The only open item is the partial dependence plots: run make_pdp_v2.py, paste the PNG onto slide 10, then change 'To insert' to 'Done'.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Categoricals are already integer-encoded and numerics divided by a constant, per the assignment note. Zero missing values, so no imputation. The key observation is the target scale: mean 23 but max 4,165. That skew drove a design decision on slide 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Matches the specification exactly: three hidden layers, sigmoid activation. Parameter count derivation, useful for the exam: (5x64+64)=384, (64x32+32)=2080, (32x16+16)=528, (16x1+1)=17, total 3,009. Why 64-32-16? A funnel compresses 5 inputs into progressively coarser features. Why is the output layer linear? Quantity is unbounded and positive; a sigmoid output would squash predictions into (0,1) and cap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Modular by design so three people could work in parallel. config.py holds every hyperparameter, so no value is ever edited inline and runs stay traceable. The critical correctness detail: StandardScaler is fit on the training split only, then applied to test. Fitting on all 500k rows first would leak test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strongest slide for showing understanding. The target-scaling fix was diagnosed, not guessed: raw y has mean 23 and max 4,165 while inputs sit near zero, so the network had to emit large values, producing large gradients that pushed the sigmoid units into their flat regions where the derivative approaches zero. Standardizing y fixed it and gained about 0.17 R2. IMPORTANT: do not attribute the improvement from 0.32 to 0.54 to random seed variation. It came from these two deliberate changes. Also note MSE is reported in original units by multiplying by the variance of y (sigma squared, not sigma).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set created by train_test_split with seed 42, 400k train / 100k test, and never used for training or tuning. The gap between train and test is 0.0007, so there is no overfitting. The comparison table is what makes the number meaningful: R2 = 0.536 on its own is just a number, but beating a linear model by 0.16 shows the network is capturing genuine non-linearity. R2 = 0 is exactly the performance of predicting the mean for every row.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X-axis is instances learned, y-axis is the moving average of MSE, exactly as specified. The moving average is essential: a single 32-row batch ranges from about 300 to 5,000 MSE, so raw per-batch values look like pure noise. Do NOT quote MSE_first_batch (455) against MSE_last_batch (1,747) from metrics.csv as evidence of anything. Those are single batches and they suggest the model got worse, which is an artifact of batch-level variance. The smoothed trend is the honest measure. The curve is still descending at the end, which tells us a second epoch would likely help.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Method: permutation importance. Shuffle one feature in the test set, re-predict, and measure how far R2 falls. Averaged over 5 shuffles; error bars are one standard deviation. Why can the drop exceed 1.0? Shuffling duration makes predictions worse than simply predicting the mean, so R2 goes negative and the drop from 0.536 exceeds 1. That is expected, not a bug. Caveat worth mentioning: sku and category were standardized as if numeric, which understates their importance because the network sees a meaningless ordering. One-hot encoding would be the fix.</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Measured with psutil at every batch, 12,506 rows logged in memory_log.csv. The number that matters is the drift: 6.5 MB across 12,500 updates, meaning no memory leak and no accumulation. Be ready for this question: metrics.csv reports a peak of 553 MB, higher than the 424 MB shown here. That spike happens AFTER the training loop, when model.predict is called on all 400k rows at once for evaluation. The training loop itself never exceeded 424 MB. Quoting 553 MB would undercut our own argument. Anticipate the fair challenge that this dataset fits in RAM, so address it directly as shown in the orange box.</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Required by the assignment. Confirm each description with Ansley and Rebecca before submitting so everyone agrees with how their work is represented.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on limitations reads as understanding rather than oversight. The batch-size figure comes from an actual sweep: at a fixed single epoch, larger batches are WORSE (batch 256 scores about 0.521 versus 0.532 at batch 32) because batch size divides the number of weight updates. 400k rows at batch 32 gives 12,500 updates; at batch 256 only 1,563. Larger batches only win when the saved time is spent on more epochs. A gradient boosting model on these same five features reaches about 0.589, so the remaining gap is mostly the three sigmoid layers, not the batch size.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dirty="0"/>
          </a:p>
        </p:txBody>
      </p:sp>
      <p:sp>
        <p:nvSpPr>
          <p:cNvPr id="4" name="TextBox 3"/>
          <p:cNvSpPr txBox="1"/>
          <p:nvPr/>
        </p:nvSpPr>
        <p:spPr>
          <a:xfrm>
            <a:off x="731520" y="1051560"/>
            <a:ext cx="10789920" cy="830997"/>
          </a:xfrm>
          <a:prstGeom prst="rect">
            <a:avLst/>
          </a:prstGeom>
          <a:noFill/>
        </p:spPr>
        <p:txBody>
          <a:bodyPr wrap="square" anchor="t">
            <a:spAutoFit/>
          </a:bodyPr>
          <a:lstStyle/>
          <a:p>
            <a:pPr algn="l">
              <a:lnSpc>
                <a:spcPct val="100000"/>
              </a:lnSpc>
            </a:pPr>
            <a:r>
              <a:rPr sz="4800" b="1" dirty="0">
                <a:solidFill>
                  <a:srgbClr val="FFFFFF"/>
                </a:solidFill>
                <a:latin typeface="Calibri"/>
              </a:rPr>
              <a:t>Incremental Learning on Large Data</a:t>
            </a:r>
          </a:p>
        </p:txBody>
      </p:sp>
      <p:sp>
        <p:nvSpPr>
          <p:cNvPr id="5" name="TextBox 4"/>
          <p:cNvSpPr txBox="1"/>
          <p:nvPr/>
        </p:nvSpPr>
        <p:spPr>
          <a:xfrm>
            <a:off x="731520" y="2606040"/>
            <a:ext cx="10789920" cy="548640"/>
          </a:xfrm>
          <a:prstGeom prst="rect">
            <a:avLst/>
          </a:prstGeom>
          <a:noFill/>
        </p:spPr>
        <p:txBody>
          <a:bodyPr wrap="square" anchor="t">
            <a:spAutoFit/>
          </a:bodyPr>
          <a:lstStyle/>
          <a:p>
            <a:pPr algn="l">
              <a:lnSpc>
                <a:spcPct val="100000"/>
              </a:lnSpc>
            </a:pPr>
            <a:r>
              <a:rPr sz="2100" b="0" dirty="0">
                <a:solidFill>
                  <a:srgbClr val="1F2A37"/>
                </a:solidFill>
                <a:latin typeface="Calibri"/>
              </a:rPr>
              <a:t>Feed-forward neural network predicting quantity sold</a:t>
            </a:r>
          </a:p>
        </p:txBody>
      </p:sp>
      <p:sp>
        <p:nvSpPr>
          <p:cNvPr id="6" name="TextBox 5"/>
          <p:cNvSpPr txBox="1"/>
          <p:nvPr/>
        </p:nvSpPr>
        <p:spPr>
          <a:xfrm>
            <a:off x="731520" y="191911"/>
            <a:ext cx="10789920" cy="707886"/>
          </a:xfrm>
          <a:prstGeom prst="rect">
            <a:avLst/>
          </a:prstGeom>
          <a:noFill/>
        </p:spPr>
        <p:txBody>
          <a:bodyPr wrap="square" anchor="t">
            <a:spAutoFit/>
          </a:bodyPr>
          <a:lstStyle/>
          <a:p>
            <a:pPr algn="l">
              <a:lnSpc>
                <a:spcPct val="100000"/>
              </a:lnSpc>
            </a:pPr>
            <a:r>
              <a:rPr sz="4000" b="1" dirty="0">
                <a:solidFill>
                  <a:schemeClr val="bg1"/>
                </a:solidFill>
                <a:latin typeface="Calibri"/>
              </a:rPr>
              <a:t>BZAN 554  ·  Group Assignment 1</a:t>
            </a:r>
          </a:p>
        </p:txBody>
      </p:sp>
      <p:sp>
        <p:nvSpPr>
          <p:cNvPr id="11" name="TextBox 10"/>
          <p:cNvSpPr txBox="1"/>
          <p:nvPr/>
        </p:nvSpPr>
        <p:spPr>
          <a:xfrm>
            <a:off x="2953512" y="5669280"/>
            <a:ext cx="10789920" cy="461665"/>
          </a:xfrm>
          <a:prstGeom prst="rect">
            <a:avLst/>
          </a:prstGeom>
          <a:noFill/>
        </p:spPr>
        <p:txBody>
          <a:bodyPr wrap="square" anchor="t">
            <a:spAutoFit/>
          </a:bodyPr>
          <a:lstStyle/>
          <a:p>
            <a:pPr algn="l">
              <a:lnSpc>
                <a:spcPct val="100000"/>
              </a:lnSpc>
            </a:pPr>
            <a:r>
              <a:rPr lang="en-US" sz="2400" b="0" dirty="0">
                <a:latin typeface="Calibri"/>
              </a:rPr>
              <a:t>Group 7:  </a:t>
            </a:r>
            <a:r>
              <a:rPr sz="2400" b="0" dirty="0">
                <a:latin typeface="Calibri"/>
              </a:rPr>
              <a:t>Ansley </a:t>
            </a:r>
            <a:r>
              <a:rPr lang="en-US" sz="2400" b="0" dirty="0">
                <a:latin typeface="Calibri"/>
              </a:rPr>
              <a:t>Smith,</a:t>
            </a:r>
            <a:r>
              <a:rPr sz="2400" b="0" dirty="0">
                <a:latin typeface="Calibri"/>
              </a:rPr>
              <a:t>  Rebecca </a:t>
            </a:r>
            <a:r>
              <a:rPr lang="en-US" sz="2400" b="0" dirty="0">
                <a:latin typeface="Calibri"/>
              </a:rPr>
              <a:t>Drake &amp;</a:t>
            </a:r>
            <a:r>
              <a:rPr sz="2400" b="0" dirty="0">
                <a:latin typeface="Calibri"/>
              </a:rPr>
              <a:t> Ximin</a:t>
            </a:r>
            <a:r>
              <a:rPr lang="en-US" sz="2400" b="0" dirty="0">
                <a:latin typeface="Calibri"/>
              </a:rPr>
              <a:t> Zeng</a:t>
            </a:r>
            <a:endParaRPr sz="2400" b="0" dirty="0">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6">
            <a:extLst>
              <a:ext uri="{FF2B5EF4-FFF2-40B4-BE49-F238E27FC236}">
                <a16:creationId xmlns:a16="http://schemas.microsoft.com/office/drawing/2014/main" id="{A1D3ECCE-3728-5B8C-9BB8-F646951C7F1C}"/>
              </a:ext>
            </a:extLst>
          </p:cNvPr>
          <p:cNvSpPr/>
          <p:nvPr/>
        </p:nvSpPr>
        <p:spPr>
          <a:xfrm>
            <a:off x="731520" y="2825495"/>
            <a:ext cx="2606040" cy="137160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chemeClr val="tx1"/>
                </a:solidFill>
              </a:rPr>
              <a:t>Test R²</a:t>
            </a:r>
          </a:p>
          <a:p>
            <a:pPr algn="ctr"/>
            <a:r>
              <a:rPr sz="4200" b="1" dirty="0">
                <a:solidFill>
                  <a:srgbClr val="2F855A"/>
                </a:solidFill>
              </a:rPr>
              <a:t>0.536</a:t>
            </a:r>
          </a:p>
        </p:txBody>
      </p:sp>
      <p:sp>
        <p:nvSpPr>
          <p:cNvPr id="5" name="Rounded Rectangle 7">
            <a:extLst>
              <a:ext uri="{FF2B5EF4-FFF2-40B4-BE49-F238E27FC236}">
                <a16:creationId xmlns:a16="http://schemas.microsoft.com/office/drawing/2014/main" id="{CB18C481-CF70-A960-12BB-1255AE5AA989}"/>
              </a:ext>
            </a:extLst>
          </p:cNvPr>
          <p:cNvSpPr/>
          <p:nvPr/>
        </p:nvSpPr>
        <p:spPr>
          <a:xfrm>
            <a:off x="3657600" y="2825495"/>
            <a:ext cx="26060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rgbClr val="1F2A37"/>
                </a:solidFill>
              </a:rPr>
              <a:t>Training time</a:t>
            </a:r>
            <a:endParaRPr lang="en-US" sz="3200" b="1" dirty="0">
              <a:solidFill>
                <a:srgbClr val="2E5FA3"/>
              </a:solidFill>
            </a:endParaRPr>
          </a:p>
          <a:p>
            <a:pPr algn="ctr"/>
            <a:r>
              <a:rPr sz="4200" b="1" dirty="0">
                <a:solidFill>
                  <a:srgbClr val="2E5FA3"/>
                </a:solidFill>
              </a:rPr>
              <a:t>45 s</a:t>
            </a:r>
          </a:p>
        </p:txBody>
      </p:sp>
      <p:sp>
        <p:nvSpPr>
          <p:cNvPr id="7" name="Rounded Rectangle 8">
            <a:extLst>
              <a:ext uri="{FF2B5EF4-FFF2-40B4-BE49-F238E27FC236}">
                <a16:creationId xmlns:a16="http://schemas.microsoft.com/office/drawing/2014/main" id="{3F68C551-D347-7362-6BE4-960E53836424}"/>
              </a:ext>
            </a:extLst>
          </p:cNvPr>
          <p:cNvSpPr/>
          <p:nvPr/>
        </p:nvSpPr>
        <p:spPr>
          <a:xfrm>
            <a:off x="6583680" y="2825495"/>
            <a:ext cx="26060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rgbClr val="1F2A37"/>
                </a:solidFill>
              </a:rPr>
              <a:t>Peak RAM</a:t>
            </a:r>
            <a:endParaRPr lang="en-US" sz="3200" b="1" dirty="0">
              <a:solidFill>
                <a:srgbClr val="2E5FA3"/>
              </a:solidFill>
            </a:endParaRPr>
          </a:p>
          <a:p>
            <a:pPr algn="ctr"/>
            <a:r>
              <a:rPr sz="3800" b="1" dirty="0">
                <a:solidFill>
                  <a:srgbClr val="2E5FA3"/>
                </a:solidFill>
              </a:rPr>
              <a:t>424 MB</a:t>
            </a:r>
          </a:p>
        </p:txBody>
      </p:sp>
      <p:sp>
        <p:nvSpPr>
          <p:cNvPr id="9" name="Rounded Rectangle 9">
            <a:extLst>
              <a:ext uri="{FF2B5EF4-FFF2-40B4-BE49-F238E27FC236}">
                <a16:creationId xmlns:a16="http://schemas.microsoft.com/office/drawing/2014/main" id="{05CF61B1-0C36-8E28-E8F1-CD5607088B7C}"/>
              </a:ext>
            </a:extLst>
          </p:cNvPr>
          <p:cNvSpPr/>
          <p:nvPr/>
        </p:nvSpPr>
        <p:spPr>
          <a:xfrm>
            <a:off x="9509760" y="2825495"/>
            <a:ext cx="19202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chemeClr val="tx1"/>
                </a:solidFill>
              </a:rPr>
              <a:t>Records</a:t>
            </a:r>
          </a:p>
          <a:p>
            <a:pPr algn="ctr"/>
            <a:r>
              <a:rPr sz="3600" b="1" dirty="0">
                <a:solidFill>
                  <a:srgbClr val="2E5FA3"/>
                </a:solidFill>
              </a:rPr>
              <a:t>500k</a:t>
            </a:r>
          </a:p>
        </p:txBody>
      </p:sp>
      <p:sp>
        <p:nvSpPr>
          <p:cNvPr id="11" name="TextBox 10">
            <a:extLst>
              <a:ext uri="{FF2B5EF4-FFF2-40B4-BE49-F238E27FC236}">
                <a16:creationId xmlns:a16="http://schemas.microsoft.com/office/drawing/2014/main" id="{904C93D5-3CDA-1167-F8E9-5F4541712FEB}"/>
              </a:ext>
            </a:extLst>
          </p:cNvPr>
          <p:cNvSpPr txBox="1"/>
          <p:nvPr/>
        </p:nvSpPr>
        <p:spPr>
          <a:xfrm>
            <a:off x="502920" y="201168"/>
            <a:ext cx="8778240" cy="738664"/>
          </a:xfrm>
          <a:prstGeom prst="rect">
            <a:avLst/>
          </a:prstGeom>
          <a:noFill/>
        </p:spPr>
        <p:txBody>
          <a:bodyPr wrap="square" anchor="t">
            <a:spAutoFit/>
          </a:bodyPr>
          <a:lstStyle/>
          <a:p>
            <a:pPr algn="l">
              <a:lnSpc>
                <a:spcPct val="100000"/>
              </a:lnSpc>
            </a:pPr>
            <a:r>
              <a:rPr lang="en-US" sz="4200" b="1" dirty="0">
                <a:solidFill>
                  <a:srgbClr val="2E5FA3"/>
                </a:solidFill>
                <a:latin typeface="Calibri"/>
              </a:rPr>
              <a:t>Key Results</a:t>
            </a:r>
            <a:endParaRPr sz="4200" b="1" dirty="0">
              <a:solidFill>
                <a:srgbClr val="2E5FA3"/>
              </a:solidFill>
              <a:latin typeface="Calibri"/>
            </a:endParaRPr>
          </a:p>
        </p:txBody>
      </p:sp>
      <p:sp>
        <p:nvSpPr>
          <p:cNvPr id="13" name="Rectangle 12">
            <a:extLst>
              <a:ext uri="{FF2B5EF4-FFF2-40B4-BE49-F238E27FC236}">
                <a16:creationId xmlns:a16="http://schemas.microsoft.com/office/drawing/2014/main" id="{18CB60F5-0CFF-9518-83AC-675A2C2DDF18}"/>
              </a:ext>
            </a:extLst>
          </p:cNvPr>
          <p:cNvSpPr/>
          <p:nvPr/>
        </p:nvSpPr>
        <p:spPr>
          <a:xfrm>
            <a:off x="502920" y="1097280"/>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64963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Deliverables — Where to Find Them</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148300485"/>
              </p:ext>
            </p:extLst>
          </p:nvPr>
        </p:nvGraphicFramePr>
        <p:xfrm>
          <a:off x="731520" y="1371600"/>
          <a:ext cx="10698480" cy="3730752"/>
        </p:xfrm>
        <a:graphic>
          <a:graphicData uri="http://schemas.openxmlformats.org/drawingml/2006/table">
            <a:tbl>
              <a:tblPr firstRow="1" bandRow="1">
                <a:tableStyleId>{5C22544A-7EE6-4342-B048-85BDC9FD1C3A}</a:tableStyleId>
              </a:tblPr>
              <a:tblGrid>
                <a:gridCol w="6949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66344">
                <a:tc>
                  <a:txBody>
                    <a:bodyPr/>
                    <a:lstStyle/>
                    <a:p>
                      <a:r>
                        <a:rPr sz="1500" b="1">
                          <a:solidFill>
                            <a:srgbClr val="FFFFFF"/>
                          </a:solidFill>
                          <a:latin typeface="Calibri"/>
                        </a:rPr>
                        <a:t>Requirement</a:t>
                      </a:r>
                    </a:p>
                  </a:txBody>
                  <a:tcPr marL="101600" marT="38100" marB="38100" anchor="ctr">
                    <a:solidFill>
                      <a:srgbClr val="2E5FA3"/>
                    </a:solidFill>
                  </a:tcPr>
                </a:tc>
                <a:tc>
                  <a:txBody>
                    <a:bodyPr/>
                    <a:lstStyle/>
                    <a:p>
                      <a:pPr algn="ctr"/>
                      <a:r>
                        <a:rPr sz="1500" b="1">
                          <a:solidFill>
                            <a:srgbClr val="FFFFFF"/>
                          </a:solidFill>
                          <a:latin typeface="Calibri"/>
                        </a:rPr>
                        <a:t>Slide</a:t>
                      </a:r>
                    </a:p>
                  </a:txBody>
                  <a:tcPr marL="101600" marT="38100" marB="38100" anchor="ctr">
                    <a:solidFill>
                      <a:srgbClr val="2E5FA3"/>
                    </a:solidFill>
                  </a:tcPr>
                </a:tc>
                <a:tc>
                  <a:txBody>
                    <a:bodyPr/>
                    <a:lstStyle/>
                    <a:p>
                      <a:pPr algn="ctr"/>
                      <a:r>
                        <a:rPr sz="1500" b="1">
                          <a:solidFill>
                            <a:srgbClr val="FFFFFF"/>
                          </a:solidFill>
                          <a:latin typeface="Calibri"/>
                        </a:rPr>
                        <a:t>Status</a:t>
                      </a:r>
                    </a:p>
                  </a:txBody>
                  <a:tcPr marL="101600" marT="38100" marB="38100" anchor="ctr">
                    <a:solidFill>
                      <a:srgbClr val="2E5FA3"/>
                    </a:solidFill>
                  </a:tcPr>
                </a:tc>
                <a:extLst>
                  <a:ext uri="{0D108BD9-81ED-4DB2-BD59-A6C34878D82A}">
                    <a16:rowId xmlns:a16="http://schemas.microsoft.com/office/drawing/2014/main" val="10000"/>
                  </a:ext>
                </a:extLst>
              </a:tr>
              <a:tr h="466344">
                <a:tc>
                  <a:txBody>
                    <a:bodyPr/>
                    <a:lstStyle/>
                    <a:p>
                      <a:r>
                        <a:rPr sz="1500">
                          <a:solidFill>
                            <a:srgbClr val="1F2A37"/>
                          </a:solidFill>
                          <a:latin typeface="Calibri"/>
                        </a:rPr>
                        <a:t>R² on training and test set</a:t>
                      </a:r>
                    </a:p>
                  </a:txBody>
                  <a:tcPr marL="101600" marT="38100" marB="38100" anchor="ctr">
                    <a:solidFill>
                      <a:srgbClr val="FFFFFF"/>
                    </a:solidFill>
                  </a:tcPr>
                </a:tc>
                <a:tc>
                  <a:txBody>
                    <a:bodyPr/>
                    <a:lstStyle/>
                    <a:p>
                      <a:pPr algn="ctr"/>
                      <a:r>
                        <a:rPr sz="1500">
                          <a:solidFill>
                            <a:srgbClr val="1F2A37"/>
                          </a:solidFill>
                          <a:latin typeface="Calibri"/>
                        </a:rPr>
                        <a:t>7</a:t>
                      </a:r>
                    </a:p>
                  </a:txBody>
                  <a:tcPr marL="101600" marT="38100" marB="38100" anchor="ctr">
                    <a:solidFill>
                      <a:srgbClr val="FFFFFF"/>
                    </a:solidFill>
                  </a:tcPr>
                </a:tc>
                <a:tc>
                  <a:txBody>
                    <a:bodyPr/>
                    <a:lstStyle/>
                    <a:p>
                      <a:pPr algn="ctr"/>
                      <a:r>
                        <a:rPr sz="1500" b="1">
                          <a:solidFill>
                            <a:srgbClr val="2F855A"/>
                          </a:solidFill>
                          <a:latin typeface="Calibri"/>
                        </a:rPr>
                        <a:t>Done</a:t>
                      </a:r>
                    </a:p>
                  </a:txBody>
                  <a:tcPr marL="101600" marT="38100" marB="38100" anchor="ctr">
                    <a:solidFill>
                      <a:srgbClr val="FFFFFF"/>
                    </a:solidFill>
                  </a:tcPr>
                </a:tc>
                <a:extLst>
                  <a:ext uri="{0D108BD9-81ED-4DB2-BD59-A6C34878D82A}">
                    <a16:rowId xmlns:a16="http://schemas.microsoft.com/office/drawing/2014/main" val="10001"/>
                  </a:ext>
                </a:extLst>
              </a:tr>
              <a:tr h="466344">
                <a:tc>
                  <a:txBody>
                    <a:bodyPr/>
                    <a:lstStyle/>
                    <a:p>
                      <a:r>
                        <a:rPr sz="1500">
                          <a:solidFill>
                            <a:srgbClr val="1F2A37"/>
                          </a:solidFill>
                          <a:latin typeface="Calibri"/>
                        </a:rPr>
                        <a:t>Learning curve (MSE moving average)</a:t>
                      </a:r>
                    </a:p>
                  </a:txBody>
                  <a:tcPr marL="101600" marT="38100" marB="38100" anchor="ctr">
                    <a:solidFill>
                      <a:srgbClr val="F4F6FA"/>
                    </a:solidFill>
                  </a:tcPr>
                </a:tc>
                <a:tc>
                  <a:txBody>
                    <a:bodyPr/>
                    <a:lstStyle/>
                    <a:p>
                      <a:pPr algn="ctr"/>
                      <a:r>
                        <a:rPr sz="1500">
                          <a:solidFill>
                            <a:srgbClr val="1F2A37"/>
                          </a:solidFill>
                          <a:latin typeface="Calibri"/>
                        </a:rPr>
                        <a:t>8</a:t>
                      </a:r>
                    </a:p>
                  </a:txBody>
                  <a:tcPr marL="101600" marT="38100" marB="38100" anchor="ctr">
                    <a:solidFill>
                      <a:srgbClr val="F4F6FA"/>
                    </a:solidFill>
                  </a:tcPr>
                </a:tc>
                <a:tc>
                  <a:txBody>
                    <a:bodyPr/>
                    <a:lstStyle/>
                    <a:p>
                      <a:pPr algn="ctr"/>
                      <a:r>
                        <a:rPr sz="1500" b="1">
                          <a:solidFill>
                            <a:srgbClr val="2F855A"/>
                          </a:solidFill>
                          <a:latin typeface="Calibri"/>
                        </a:rPr>
                        <a:t>Done</a:t>
                      </a:r>
                    </a:p>
                  </a:txBody>
                  <a:tcPr marL="101600" marT="38100" marB="38100" anchor="ctr">
                    <a:solidFill>
                      <a:srgbClr val="F4F6FA"/>
                    </a:solidFill>
                  </a:tcPr>
                </a:tc>
                <a:extLst>
                  <a:ext uri="{0D108BD9-81ED-4DB2-BD59-A6C34878D82A}">
                    <a16:rowId xmlns:a16="http://schemas.microsoft.com/office/drawing/2014/main" val="10002"/>
                  </a:ext>
                </a:extLst>
              </a:tr>
              <a:tr h="466344">
                <a:tc>
                  <a:txBody>
                    <a:bodyPr/>
                    <a:lstStyle/>
                    <a:p>
                      <a:r>
                        <a:rPr sz="1500">
                          <a:solidFill>
                            <a:srgbClr val="1F2A37"/>
                          </a:solidFill>
                          <a:latin typeface="Calibri"/>
                        </a:rPr>
                        <a:t>Variable importance plot</a:t>
                      </a:r>
                    </a:p>
                  </a:txBody>
                  <a:tcPr marL="101600" marT="38100" marB="38100" anchor="ctr">
                    <a:solidFill>
                      <a:srgbClr val="FFFFFF"/>
                    </a:solidFill>
                  </a:tcPr>
                </a:tc>
                <a:tc>
                  <a:txBody>
                    <a:bodyPr/>
                    <a:lstStyle/>
                    <a:p>
                      <a:pPr algn="ctr"/>
                      <a:r>
                        <a:rPr sz="1500">
                          <a:solidFill>
                            <a:srgbClr val="1F2A37"/>
                          </a:solidFill>
                          <a:latin typeface="Calibri"/>
                        </a:rPr>
                        <a:t>9</a:t>
                      </a:r>
                    </a:p>
                  </a:txBody>
                  <a:tcPr marL="101600" marT="38100" marB="38100" anchor="ctr">
                    <a:solidFill>
                      <a:srgbClr val="FFFFFF"/>
                    </a:solidFill>
                  </a:tcPr>
                </a:tc>
                <a:tc>
                  <a:txBody>
                    <a:bodyPr/>
                    <a:lstStyle/>
                    <a:p>
                      <a:pPr algn="ctr"/>
                      <a:r>
                        <a:rPr sz="1500" b="1">
                          <a:solidFill>
                            <a:srgbClr val="2F855A"/>
                          </a:solidFill>
                          <a:latin typeface="Calibri"/>
                        </a:rPr>
                        <a:t>Done</a:t>
                      </a:r>
                    </a:p>
                  </a:txBody>
                  <a:tcPr marL="101600" marT="38100" marB="38100" anchor="ctr">
                    <a:solidFill>
                      <a:srgbClr val="FFFFFF"/>
                    </a:solidFill>
                  </a:tcPr>
                </a:tc>
                <a:extLst>
                  <a:ext uri="{0D108BD9-81ED-4DB2-BD59-A6C34878D82A}">
                    <a16:rowId xmlns:a16="http://schemas.microsoft.com/office/drawing/2014/main" val="10003"/>
                  </a:ext>
                </a:extLst>
              </a:tr>
              <a:tr h="466344">
                <a:tc>
                  <a:txBody>
                    <a:bodyPr/>
                    <a:lstStyle/>
                    <a:p>
                      <a:r>
                        <a:rPr sz="1500" dirty="0">
                          <a:solidFill>
                            <a:srgbClr val="1F2A37"/>
                          </a:solidFill>
                          <a:latin typeface="Calibri"/>
                        </a:rPr>
                        <a:t>Multiple partial dependence plots</a:t>
                      </a:r>
                    </a:p>
                  </a:txBody>
                  <a:tcPr marL="101600" marT="38100" marB="38100" anchor="ctr">
                    <a:solidFill>
                      <a:srgbClr val="F4F6FA"/>
                    </a:solidFill>
                  </a:tcPr>
                </a:tc>
                <a:tc>
                  <a:txBody>
                    <a:bodyPr/>
                    <a:lstStyle/>
                    <a:p>
                      <a:pPr algn="ctr"/>
                      <a:r>
                        <a:rPr sz="1500">
                          <a:solidFill>
                            <a:srgbClr val="1F2A37"/>
                          </a:solidFill>
                          <a:latin typeface="Calibri"/>
                        </a:rPr>
                        <a:t>10</a:t>
                      </a:r>
                    </a:p>
                  </a:txBody>
                  <a:tcPr marL="101600" marT="38100" marB="38100" anchor="ctr">
                    <a:solidFill>
                      <a:srgbClr val="F4F6FA"/>
                    </a:solidFill>
                  </a:tcPr>
                </a:tc>
                <a:tc>
                  <a:txBody>
                    <a:bodyPr/>
                    <a:lstStyle/>
                    <a:p>
                      <a:pPr algn="ctr"/>
                      <a:r>
                        <a:rPr lang="en-US" sz="1500" b="1" dirty="0">
                          <a:solidFill>
                            <a:srgbClr val="C05621"/>
                          </a:solidFill>
                          <a:latin typeface="Calibri"/>
                        </a:rPr>
                        <a:t>Missing</a:t>
                      </a:r>
                      <a:endParaRPr sz="1500" b="1" dirty="0">
                        <a:solidFill>
                          <a:srgbClr val="C05621"/>
                        </a:solidFill>
                        <a:latin typeface="Calibri"/>
                      </a:endParaRPr>
                    </a:p>
                  </a:txBody>
                  <a:tcPr marL="101600" marT="38100" marB="38100" anchor="ctr">
                    <a:solidFill>
                      <a:srgbClr val="F4F6FA"/>
                    </a:solidFill>
                  </a:tcPr>
                </a:tc>
                <a:extLst>
                  <a:ext uri="{0D108BD9-81ED-4DB2-BD59-A6C34878D82A}">
                    <a16:rowId xmlns:a16="http://schemas.microsoft.com/office/drawing/2014/main" val="10004"/>
                  </a:ext>
                </a:extLst>
              </a:tr>
              <a:tr h="466344">
                <a:tc>
                  <a:txBody>
                    <a:bodyPr/>
                    <a:lstStyle/>
                    <a:p>
                      <a:r>
                        <a:rPr sz="1500">
                          <a:solidFill>
                            <a:srgbClr val="1F2A37"/>
                          </a:solidFill>
                          <a:latin typeface="Calibri"/>
                        </a:rPr>
                        <a:t>RAM usage</a:t>
                      </a:r>
                    </a:p>
                  </a:txBody>
                  <a:tcPr marL="101600" marT="38100" marB="38100" anchor="ctr">
                    <a:solidFill>
                      <a:srgbClr val="FFFFFF"/>
                    </a:solidFill>
                  </a:tcPr>
                </a:tc>
                <a:tc>
                  <a:txBody>
                    <a:bodyPr/>
                    <a:lstStyle/>
                    <a:p>
                      <a:pPr algn="ctr"/>
                      <a:r>
                        <a:rPr sz="1500">
                          <a:solidFill>
                            <a:srgbClr val="1F2A37"/>
                          </a:solidFill>
                          <a:latin typeface="Calibri"/>
                        </a:rPr>
                        <a:t>11</a:t>
                      </a:r>
                    </a:p>
                  </a:txBody>
                  <a:tcPr marL="101600" marT="38100" marB="38100" anchor="ctr">
                    <a:solidFill>
                      <a:srgbClr val="FFFFFF"/>
                    </a:solidFill>
                  </a:tcPr>
                </a:tc>
                <a:tc>
                  <a:txBody>
                    <a:bodyPr/>
                    <a:lstStyle/>
                    <a:p>
                      <a:pPr algn="ctr"/>
                      <a:r>
                        <a:rPr sz="1500" b="1">
                          <a:solidFill>
                            <a:srgbClr val="2F855A"/>
                          </a:solidFill>
                          <a:latin typeface="Calibri"/>
                        </a:rPr>
                        <a:t>Done</a:t>
                      </a:r>
                    </a:p>
                  </a:txBody>
                  <a:tcPr marL="101600" marT="38100" marB="38100" anchor="ctr">
                    <a:solidFill>
                      <a:srgbClr val="FFFFFF"/>
                    </a:solidFill>
                  </a:tcPr>
                </a:tc>
                <a:extLst>
                  <a:ext uri="{0D108BD9-81ED-4DB2-BD59-A6C34878D82A}">
                    <a16:rowId xmlns:a16="http://schemas.microsoft.com/office/drawing/2014/main" val="10005"/>
                  </a:ext>
                </a:extLst>
              </a:tr>
              <a:tr h="466344">
                <a:tc>
                  <a:txBody>
                    <a:bodyPr/>
                    <a:lstStyle/>
                    <a:p>
                      <a:r>
                        <a:rPr sz="1500">
                          <a:solidFill>
                            <a:srgbClr val="1F2A37"/>
                          </a:solidFill>
                          <a:latin typeface="Calibri"/>
                        </a:rPr>
                        <a:t>Training time</a:t>
                      </a:r>
                    </a:p>
                  </a:txBody>
                  <a:tcPr marL="101600" marT="38100" marB="38100" anchor="ctr">
                    <a:solidFill>
                      <a:srgbClr val="F4F6FA"/>
                    </a:solidFill>
                  </a:tcPr>
                </a:tc>
                <a:tc>
                  <a:txBody>
                    <a:bodyPr/>
                    <a:lstStyle/>
                    <a:p>
                      <a:pPr algn="ctr"/>
                      <a:r>
                        <a:rPr sz="1500">
                          <a:solidFill>
                            <a:srgbClr val="1F2A37"/>
                          </a:solidFill>
                          <a:latin typeface="Calibri"/>
                        </a:rPr>
                        <a:t>11</a:t>
                      </a:r>
                    </a:p>
                  </a:txBody>
                  <a:tcPr marL="101600" marT="38100" marB="38100" anchor="ctr">
                    <a:solidFill>
                      <a:srgbClr val="F4F6FA"/>
                    </a:solidFill>
                  </a:tcPr>
                </a:tc>
                <a:tc>
                  <a:txBody>
                    <a:bodyPr/>
                    <a:lstStyle/>
                    <a:p>
                      <a:pPr algn="ctr"/>
                      <a:r>
                        <a:rPr sz="1500" b="1">
                          <a:solidFill>
                            <a:srgbClr val="2F855A"/>
                          </a:solidFill>
                          <a:latin typeface="Calibri"/>
                        </a:rPr>
                        <a:t>Done</a:t>
                      </a:r>
                    </a:p>
                  </a:txBody>
                  <a:tcPr marL="101600" marT="38100" marB="38100" anchor="ctr">
                    <a:solidFill>
                      <a:srgbClr val="F4F6FA"/>
                    </a:solidFill>
                  </a:tcPr>
                </a:tc>
                <a:extLst>
                  <a:ext uri="{0D108BD9-81ED-4DB2-BD59-A6C34878D82A}">
                    <a16:rowId xmlns:a16="http://schemas.microsoft.com/office/drawing/2014/main" val="10006"/>
                  </a:ext>
                </a:extLst>
              </a:tr>
              <a:tr h="466344">
                <a:tc>
                  <a:txBody>
                    <a:bodyPr/>
                    <a:lstStyle/>
                    <a:p>
                      <a:r>
                        <a:rPr sz="1500">
                          <a:solidFill>
                            <a:srgbClr val="1F2A37"/>
                          </a:solidFill>
                          <a:latin typeface="Calibri"/>
                        </a:rPr>
                        <a:t>Who did what</a:t>
                      </a:r>
                    </a:p>
                  </a:txBody>
                  <a:tcPr marL="101600" marT="38100" marB="38100" anchor="ctr">
                    <a:solidFill>
                      <a:srgbClr val="FFFFFF"/>
                    </a:solidFill>
                  </a:tcPr>
                </a:tc>
                <a:tc>
                  <a:txBody>
                    <a:bodyPr/>
                    <a:lstStyle/>
                    <a:p>
                      <a:pPr algn="ctr"/>
                      <a:r>
                        <a:rPr sz="1500">
                          <a:solidFill>
                            <a:srgbClr val="1F2A37"/>
                          </a:solidFill>
                          <a:latin typeface="Calibri"/>
                        </a:rPr>
                        <a:t>12</a:t>
                      </a:r>
                    </a:p>
                  </a:txBody>
                  <a:tcPr marL="101600" marT="38100" marB="38100" anchor="ctr">
                    <a:solidFill>
                      <a:srgbClr val="FFFFFF"/>
                    </a:solidFill>
                  </a:tcPr>
                </a:tc>
                <a:tc>
                  <a:txBody>
                    <a:bodyPr/>
                    <a:lstStyle/>
                    <a:p>
                      <a:pPr algn="ctr"/>
                      <a:r>
                        <a:rPr sz="1500" b="1" dirty="0">
                          <a:solidFill>
                            <a:srgbClr val="2F855A"/>
                          </a:solidFill>
                          <a:latin typeface="Calibri"/>
                        </a:rPr>
                        <a:t>Done</a:t>
                      </a:r>
                    </a:p>
                  </a:txBody>
                  <a:tcPr marL="101600" marT="38100" marB="38100"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dirty="0">
                <a:solidFill>
                  <a:srgbClr val="2E5FA3"/>
                </a:solidFill>
                <a:latin typeface="Calibri"/>
              </a:rPr>
              <a:t>The Data</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25880"/>
            <a:ext cx="246888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E5FA3"/>
                </a:solidFill>
              </a:rPr>
              <a:t>500,000</a:t>
            </a:r>
          </a:p>
          <a:p>
            <a:pPr algn="ctr"/>
            <a:r>
              <a:rPr sz="1300">
                <a:solidFill>
                  <a:srgbClr val="1F2A37"/>
                </a:solidFill>
              </a:rPr>
              <a:t>records</a:t>
            </a:r>
          </a:p>
        </p:txBody>
      </p:sp>
      <p:sp>
        <p:nvSpPr>
          <p:cNvPr id="6" name="Rounded Rectangle 5"/>
          <p:cNvSpPr/>
          <p:nvPr/>
        </p:nvSpPr>
        <p:spPr>
          <a:xfrm>
            <a:off x="3429000" y="1325880"/>
            <a:ext cx="246888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E5FA3"/>
                </a:solidFill>
              </a:rPr>
              <a:t>5</a:t>
            </a:r>
          </a:p>
          <a:p>
            <a:pPr algn="ctr"/>
            <a:r>
              <a:rPr sz="1300">
                <a:solidFill>
                  <a:srgbClr val="1F2A37"/>
                </a:solidFill>
              </a:rPr>
              <a:t>input features</a:t>
            </a:r>
          </a:p>
        </p:txBody>
      </p:sp>
      <p:sp>
        <p:nvSpPr>
          <p:cNvPr id="7" name="Rounded Rectangle 6"/>
          <p:cNvSpPr/>
          <p:nvPr/>
        </p:nvSpPr>
        <p:spPr>
          <a:xfrm>
            <a:off x="6126480" y="1325880"/>
            <a:ext cx="2468880" cy="123444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F855A"/>
                </a:solidFill>
              </a:rPr>
              <a:t>0</a:t>
            </a:r>
          </a:p>
          <a:p>
            <a:pPr algn="ctr"/>
            <a:r>
              <a:rPr sz="1300">
                <a:solidFill>
                  <a:srgbClr val="1F2A37"/>
                </a:solidFill>
              </a:rPr>
              <a:t>missing values</a:t>
            </a:r>
          </a:p>
        </p:txBody>
      </p:sp>
      <p:sp>
        <p:nvSpPr>
          <p:cNvPr id="8" name="Rounded Rectangle 7"/>
          <p:cNvSpPr/>
          <p:nvPr/>
        </p:nvSpPr>
        <p:spPr>
          <a:xfrm>
            <a:off x="8823960" y="1325880"/>
            <a:ext cx="260604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2E5FA3"/>
                </a:solidFill>
              </a:rPr>
              <a:t>19 MB</a:t>
            </a:r>
          </a:p>
          <a:p>
            <a:pPr algn="ctr"/>
            <a:r>
              <a:rPr sz="1300">
                <a:solidFill>
                  <a:srgbClr val="1F2A37"/>
                </a:solidFill>
              </a:rPr>
              <a:t>on disk</a:t>
            </a:r>
          </a:p>
        </p:txBody>
      </p:sp>
      <p:sp>
        <p:nvSpPr>
          <p:cNvPr id="9" name="TextBox 8"/>
          <p:cNvSpPr txBox="1"/>
          <p:nvPr/>
        </p:nvSpPr>
        <p:spPr>
          <a:xfrm>
            <a:off x="731520" y="2834640"/>
            <a:ext cx="5486400" cy="365760"/>
          </a:xfrm>
          <a:prstGeom prst="rect">
            <a:avLst/>
          </a:prstGeom>
          <a:noFill/>
        </p:spPr>
        <p:txBody>
          <a:bodyPr wrap="square" anchor="t">
            <a:spAutoFit/>
          </a:bodyPr>
          <a:lstStyle/>
          <a:p>
            <a:pPr algn="l">
              <a:lnSpc>
                <a:spcPct val="100000"/>
              </a:lnSpc>
            </a:pPr>
            <a:r>
              <a:rPr sz="1900" b="1">
                <a:solidFill>
                  <a:srgbClr val="2E5FA3"/>
                </a:solidFill>
                <a:latin typeface="Calibri"/>
              </a:rPr>
              <a:t>Inputs → predict quantity</a:t>
            </a:r>
          </a:p>
        </p:txBody>
      </p:sp>
      <p:sp>
        <p:nvSpPr>
          <p:cNvPr id="10" name="TextBox 9"/>
          <p:cNvSpPr txBox="1"/>
          <p:nvPr/>
        </p:nvSpPr>
        <p:spPr>
          <a:xfrm>
            <a:off x="731520" y="3291840"/>
            <a:ext cx="5486400" cy="2377440"/>
          </a:xfrm>
          <a:prstGeom prst="rect">
            <a:avLst/>
          </a:prstGeom>
          <a:noFill/>
        </p:spPr>
        <p:txBody>
          <a:bodyPr wrap="square">
            <a:spAutoFit/>
          </a:bodyPr>
          <a:lstStyle/>
          <a:p>
            <a:pPr>
              <a:spcAft>
                <a:spcPts val="1000"/>
              </a:spcAft>
            </a:pPr>
            <a:r>
              <a:rPr sz="1600">
                <a:solidFill>
                  <a:srgbClr val="1F2A37"/>
                </a:solidFill>
                <a:latin typeface="Calibri"/>
              </a:rPr>
              <a:t>•  sku  —  product identifier</a:t>
            </a:r>
          </a:p>
          <a:p>
            <a:pPr>
              <a:spcAft>
                <a:spcPts val="1000"/>
              </a:spcAft>
            </a:pPr>
            <a:r>
              <a:rPr sz="1600">
                <a:solidFill>
                  <a:srgbClr val="1F2A37"/>
                </a:solidFill>
                <a:latin typeface="Calibri"/>
              </a:rPr>
              <a:t>•  price  —  listed price</a:t>
            </a:r>
          </a:p>
          <a:p>
            <a:pPr>
              <a:spcAft>
                <a:spcPts val="1000"/>
              </a:spcAft>
            </a:pPr>
            <a:r>
              <a:rPr sz="1600">
                <a:solidFill>
                  <a:srgbClr val="1F2A37"/>
                </a:solidFill>
                <a:latin typeface="Calibri"/>
              </a:rPr>
              <a:t>•  order  —  nth time in stock</a:t>
            </a:r>
          </a:p>
          <a:p>
            <a:pPr>
              <a:spcAft>
                <a:spcPts val="1000"/>
              </a:spcAft>
            </a:pPr>
            <a:r>
              <a:rPr sz="1600">
                <a:solidFill>
                  <a:srgbClr val="1F2A37"/>
                </a:solidFill>
                <a:latin typeface="Calibri"/>
              </a:rPr>
              <a:t>•  duration  —  time on site</a:t>
            </a:r>
          </a:p>
          <a:p>
            <a:pPr>
              <a:spcAft>
                <a:spcPts val="1000"/>
              </a:spcAft>
            </a:pPr>
            <a:r>
              <a:rPr sz="1600">
                <a:solidFill>
                  <a:srgbClr val="1F2A37"/>
                </a:solidFill>
                <a:latin typeface="Calibri"/>
              </a:rPr>
              <a:t>•  category  —  product category</a:t>
            </a:r>
          </a:p>
        </p:txBody>
      </p:sp>
      <p:sp>
        <p:nvSpPr>
          <p:cNvPr id="11" name="TextBox 10"/>
          <p:cNvSpPr txBox="1"/>
          <p:nvPr/>
        </p:nvSpPr>
        <p:spPr>
          <a:xfrm>
            <a:off x="6675120" y="2834640"/>
            <a:ext cx="4846320" cy="365760"/>
          </a:xfrm>
          <a:prstGeom prst="rect">
            <a:avLst/>
          </a:prstGeom>
          <a:noFill/>
        </p:spPr>
        <p:txBody>
          <a:bodyPr wrap="square" anchor="t">
            <a:spAutoFit/>
          </a:bodyPr>
          <a:lstStyle/>
          <a:p>
            <a:pPr algn="l">
              <a:lnSpc>
                <a:spcPct val="100000"/>
              </a:lnSpc>
            </a:pPr>
            <a:r>
              <a:rPr sz="1900" b="1">
                <a:solidFill>
                  <a:srgbClr val="2E5FA3"/>
                </a:solidFill>
                <a:latin typeface="Calibri"/>
              </a:rPr>
              <a:t>Target: quantity</a:t>
            </a:r>
          </a:p>
        </p:txBody>
      </p:sp>
      <p:graphicFrame>
        <p:nvGraphicFramePr>
          <p:cNvPr id="12" name="Table 11"/>
          <p:cNvGraphicFramePr>
            <a:graphicFrameLocks noGrp="1"/>
          </p:cNvGraphicFramePr>
          <p:nvPr/>
        </p:nvGraphicFramePr>
        <p:xfrm>
          <a:off x="6675120" y="3291840"/>
          <a:ext cx="4754880" cy="16459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11480">
                <a:tc>
                  <a:txBody>
                    <a:bodyPr/>
                    <a:lstStyle/>
                    <a:p>
                      <a:r>
                        <a:rPr sz="1400" b="1">
                          <a:solidFill>
                            <a:srgbClr val="FFFFFF"/>
                          </a:solidFill>
                          <a:latin typeface="Calibri"/>
                        </a:rPr>
                        <a:t>Statistic</a:t>
                      </a:r>
                    </a:p>
                  </a:txBody>
                  <a:tcPr marL="101600" marT="38100" marB="38100" anchor="ctr">
                    <a:solidFill>
                      <a:srgbClr val="2E5FA3"/>
                    </a:solidFill>
                  </a:tcPr>
                </a:tc>
                <a:tc>
                  <a:txBody>
                    <a:bodyPr/>
                    <a:lstStyle/>
                    <a:p>
                      <a:pPr algn="ctr"/>
                      <a:r>
                        <a:rPr sz="1400" b="1">
                          <a:solidFill>
                            <a:srgbClr val="FFFFFF"/>
                          </a:solidFill>
                          <a:latin typeface="Calibri"/>
                        </a:rPr>
                        <a:t>Value</a:t>
                      </a:r>
                    </a:p>
                  </a:txBody>
                  <a:tcPr marL="101600" marT="38100" marB="38100" anchor="ctr">
                    <a:solidFill>
                      <a:srgbClr val="2E5FA3"/>
                    </a:solidFill>
                  </a:tcPr>
                </a:tc>
                <a:extLst>
                  <a:ext uri="{0D108BD9-81ED-4DB2-BD59-A6C34878D82A}">
                    <a16:rowId xmlns:a16="http://schemas.microsoft.com/office/drawing/2014/main" val="10000"/>
                  </a:ext>
                </a:extLst>
              </a:tr>
              <a:tr h="411480">
                <a:tc>
                  <a:txBody>
                    <a:bodyPr/>
                    <a:lstStyle/>
                    <a:p>
                      <a:r>
                        <a:rPr sz="1400">
                          <a:solidFill>
                            <a:srgbClr val="1F2A37"/>
                          </a:solidFill>
                          <a:latin typeface="Calibri"/>
                        </a:rPr>
                        <a:t>Mean</a:t>
                      </a:r>
                    </a:p>
                  </a:txBody>
                  <a:tcPr marL="101600" marT="38100" marB="38100" anchor="ctr">
                    <a:solidFill>
                      <a:srgbClr val="FFFFFF"/>
                    </a:solidFill>
                  </a:tcPr>
                </a:tc>
                <a:tc>
                  <a:txBody>
                    <a:bodyPr/>
                    <a:lstStyle/>
                    <a:p>
                      <a:pPr algn="ctr"/>
                      <a:r>
                        <a:rPr sz="1400">
                          <a:solidFill>
                            <a:srgbClr val="1F2A37"/>
                          </a:solidFill>
                          <a:latin typeface="Calibri"/>
                        </a:rPr>
                        <a:t>22.82</a:t>
                      </a:r>
                    </a:p>
                  </a:txBody>
                  <a:tcPr marL="101600" marT="38100" marB="38100" anchor="ctr">
                    <a:solidFill>
                      <a:srgbClr val="FFFFFF"/>
                    </a:solidFill>
                  </a:tcPr>
                </a:tc>
                <a:extLst>
                  <a:ext uri="{0D108BD9-81ED-4DB2-BD59-A6C34878D82A}">
                    <a16:rowId xmlns:a16="http://schemas.microsoft.com/office/drawing/2014/main" val="10001"/>
                  </a:ext>
                </a:extLst>
              </a:tr>
              <a:tr h="411480">
                <a:tc>
                  <a:txBody>
                    <a:bodyPr/>
                    <a:lstStyle/>
                    <a:p>
                      <a:r>
                        <a:rPr sz="1400">
                          <a:solidFill>
                            <a:srgbClr val="1F2A37"/>
                          </a:solidFill>
                          <a:latin typeface="Calibri"/>
                        </a:rPr>
                        <a:t>Std. deviation</a:t>
                      </a:r>
                    </a:p>
                  </a:txBody>
                  <a:tcPr marL="101600" marT="38100" marB="38100" anchor="ctr">
                    <a:solidFill>
                      <a:srgbClr val="F4F6FA"/>
                    </a:solidFill>
                  </a:tcPr>
                </a:tc>
                <a:tc>
                  <a:txBody>
                    <a:bodyPr/>
                    <a:lstStyle/>
                    <a:p>
                      <a:pPr algn="ctr"/>
                      <a:r>
                        <a:rPr sz="1400">
                          <a:solidFill>
                            <a:srgbClr val="1F2A37"/>
                          </a:solidFill>
                          <a:latin typeface="Calibri"/>
                        </a:rPr>
                        <a:t>50.51</a:t>
                      </a:r>
                    </a:p>
                  </a:txBody>
                  <a:tcPr marL="101600" marT="38100" marB="38100" anchor="ctr">
                    <a:solidFill>
                      <a:srgbClr val="F4F6FA"/>
                    </a:solidFill>
                  </a:tcPr>
                </a:tc>
                <a:extLst>
                  <a:ext uri="{0D108BD9-81ED-4DB2-BD59-A6C34878D82A}">
                    <a16:rowId xmlns:a16="http://schemas.microsoft.com/office/drawing/2014/main" val="10002"/>
                  </a:ext>
                </a:extLst>
              </a:tr>
              <a:tr h="411480">
                <a:tc>
                  <a:txBody>
                    <a:bodyPr/>
                    <a:lstStyle/>
                    <a:p>
                      <a:r>
                        <a:rPr sz="1400">
                          <a:solidFill>
                            <a:srgbClr val="1F2A37"/>
                          </a:solidFill>
                          <a:latin typeface="Calibri"/>
                        </a:rPr>
                        <a:t>Range</a:t>
                      </a:r>
                    </a:p>
                  </a:txBody>
                  <a:tcPr marL="101600" marT="38100" marB="38100" anchor="ctr">
                    <a:solidFill>
                      <a:srgbClr val="FFFFFF"/>
                    </a:solidFill>
                  </a:tcPr>
                </a:tc>
                <a:tc>
                  <a:txBody>
                    <a:bodyPr/>
                    <a:lstStyle/>
                    <a:p>
                      <a:pPr algn="ctr"/>
                      <a:r>
                        <a:rPr sz="1400">
                          <a:solidFill>
                            <a:srgbClr val="1F2A37"/>
                          </a:solidFill>
                          <a:latin typeface="Calibri"/>
                        </a:rPr>
                        <a:t>0 – 4,165</a:t>
                      </a: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6675120" y="5120640"/>
            <a:ext cx="4754880" cy="731520"/>
          </a:xfrm>
          <a:prstGeom prst="rect">
            <a:avLst/>
          </a:prstGeom>
          <a:noFill/>
        </p:spPr>
        <p:txBody>
          <a:bodyPr wrap="square" anchor="t">
            <a:spAutoFit/>
          </a:bodyPr>
          <a:lstStyle/>
          <a:p>
            <a:pPr algn="l">
              <a:lnSpc>
                <a:spcPct val="100000"/>
              </a:lnSpc>
            </a:pPr>
            <a:r>
              <a:rPr sz="1350" b="0">
                <a:solidFill>
                  <a:srgbClr val="C05621"/>
                </a:solidFill>
                <a:latin typeface="Calibri"/>
              </a:rPr>
              <a:t>Heavily right-skewed → we standardize</a:t>
            </a:r>
          </a:p>
          <a:p>
            <a:pPr algn="l">
              <a:lnSpc>
                <a:spcPct val="100000"/>
              </a:lnSpc>
            </a:pPr>
            <a:r>
              <a:rPr sz="1350" b="0">
                <a:solidFill>
                  <a:srgbClr val="C05621"/>
                </a:solidFill>
                <a:latin typeface="Calibri"/>
              </a:rPr>
              <a:t>the target before training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dirty="0">
                <a:solidFill>
                  <a:srgbClr val="2E5FA3"/>
                </a:solidFill>
                <a:latin typeface="Calibri"/>
              </a:rPr>
              <a:t>Network Architecture</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 y="585904"/>
            <a:ext cx="7626096" cy="338554"/>
          </a:xfrm>
          <a:prstGeom prst="rect">
            <a:avLst/>
          </a:prstGeom>
          <a:noFill/>
        </p:spPr>
        <p:txBody>
          <a:bodyPr wrap="square" lIns="0" rIns="0" anchor="t">
            <a:spAutoFit/>
          </a:bodyPr>
          <a:lstStyle/>
          <a:p>
            <a:pPr algn="ctr">
              <a:lnSpc>
                <a:spcPct val="100000"/>
              </a:lnSpc>
            </a:pPr>
            <a:r>
              <a:rPr sz="1600" b="1" dirty="0">
                <a:solidFill>
                  <a:srgbClr val="2E5FA3"/>
                </a:solidFill>
                <a:latin typeface="Calibri"/>
              </a:rPr>
              <a:t>3 hidden layers  ·  sigmoid activation  ·  linear output for regression</a:t>
            </a:r>
            <a:r>
              <a:rPr lang="en-US" sz="1600" b="1" dirty="0">
                <a:solidFill>
                  <a:srgbClr val="2E5FA3"/>
                </a:solidFill>
              </a:rPr>
              <a:t> ·  One pass</a:t>
            </a:r>
            <a:endParaRPr sz="1600" b="1" dirty="0">
              <a:solidFill>
                <a:srgbClr val="2E5FA3"/>
              </a:solidFill>
              <a:latin typeface="Calibri"/>
            </a:endParaRPr>
          </a:p>
        </p:txBody>
      </p:sp>
      <p:pic>
        <p:nvPicPr>
          <p:cNvPr id="9" name="Picture 8">
            <a:extLst>
              <a:ext uri="{FF2B5EF4-FFF2-40B4-BE49-F238E27FC236}">
                <a16:creationId xmlns:a16="http://schemas.microsoft.com/office/drawing/2014/main" id="{305C81CE-C86A-F53F-9D42-E33DCECBE4D0}"/>
              </a:ext>
            </a:extLst>
          </p:cNvPr>
          <p:cNvPicPr>
            <a:picLocks noChangeAspect="1"/>
          </p:cNvPicPr>
          <p:nvPr/>
        </p:nvPicPr>
        <p:blipFill>
          <a:blip r:embed="rId3"/>
          <a:srcRect b="3512"/>
          <a:stretch>
            <a:fillRect/>
          </a:stretch>
        </p:blipFill>
        <p:spPr>
          <a:xfrm>
            <a:off x="1612659" y="1044244"/>
            <a:ext cx="8966681" cy="57678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Code Architecture</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rch_pipeline.png"/>
          <p:cNvPicPr>
            <a:picLocks noChangeAspect="1"/>
          </p:cNvPicPr>
          <p:nvPr/>
        </p:nvPicPr>
        <p:blipFill>
          <a:blip r:embed="rId3"/>
          <a:stretch>
            <a:fillRect/>
          </a:stretch>
        </p:blipFill>
        <p:spPr>
          <a:xfrm>
            <a:off x="502920" y="1115568"/>
            <a:ext cx="11155680" cy="56636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How the Model Learns Incrementally</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25880"/>
            <a:ext cx="6583680" cy="2103120"/>
          </a:xfrm>
          <a:prstGeom prst="round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wrap="square" lIns="203200" tIns="177800" rtlCol="0" anchor="ctr"/>
          <a:lstStyle/>
          <a:p>
            <a:pPr algn="ctr"/>
            <a:r>
              <a:rPr sz="1450" b="0">
                <a:solidFill>
                  <a:srgbClr val="E5E9EF"/>
                </a:solidFill>
                <a:latin typeface="Consolas"/>
              </a:rPr>
              <a:t>for X_batch, y_batch in create_mini_batches(X_train, y_train):</a:t>
            </a:r>
          </a:p>
          <a:p>
            <a:r>
              <a:rPr sz="1450" b="1">
                <a:solidFill>
                  <a:srgbClr val="8FD69E"/>
                </a:solidFill>
                <a:latin typeface="Consolas"/>
              </a:rPr>
              <a:t>    model.train_on_batch(X_batch, y_batch)</a:t>
            </a:r>
          </a:p>
          <a:p>
            <a:r>
              <a:rPr sz="1450" b="0">
                <a:solidFill>
                  <a:srgbClr val="E5E9EF"/>
                </a:solidFill>
                <a:latin typeface="Consolas"/>
              </a:rPr>
              <a:t>    mse_history.append(loss)</a:t>
            </a:r>
          </a:p>
          <a:p>
            <a:r>
              <a:rPr sz="1450" b="0">
                <a:solidFill>
                  <a:srgbClr val="E5E9EF"/>
                </a:solidFill>
                <a:latin typeface="Consolas"/>
              </a:rPr>
              <a:t>    log_memory(batch_count)</a:t>
            </a:r>
          </a:p>
        </p:txBody>
      </p:sp>
      <p:sp>
        <p:nvSpPr>
          <p:cNvPr id="6" name="TextBox 5"/>
          <p:cNvSpPr txBox="1"/>
          <p:nvPr/>
        </p:nvSpPr>
        <p:spPr>
          <a:xfrm>
            <a:off x="7680960" y="1325880"/>
            <a:ext cx="3840480" cy="365760"/>
          </a:xfrm>
          <a:prstGeom prst="rect">
            <a:avLst/>
          </a:prstGeom>
          <a:noFill/>
        </p:spPr>
        <p:txBody>
          <a:bodyPr wrap="square" anchor="t">
            <a:spAutoFit/>
          </a:bodyPr>
          <a:lstStyle/>
          <a:p>
            <a:pPr algn="l">
              <a:lnSpc>
                <a:spcPct val="100000"/>
              </a:lnSpc>
            </a:pPr>
            <a:r>
              <a:rPr sz="1600" b="1">
                <a:solidFill>
                  <a:srgbClr val="C05621"/>
                </a:solidFill>
                <a:latin typeface="Calibri"/>
              </a:rPr>
              <a:t>Never .fit() on the full data</a:t>
            </a:r>
          </a:p>
        </p:txBody>
      </p:sp>
      <p:sp>
        <p:nvSpPr>
          <p:cNvPr id="7" name="TextBox 6"/>
          <p:cNvSpPr txBox="1"/>
          <p:nvPr/>
        </p:nvSpPr>
        <p:spPr>
          <a:xfrm>
            <a:off x="7680960" y="1783080"/>
            <a:ext cx="3931920" cy="1828800"/>
          </a:xfrm>
          <a:prstGeom prst="rect">
            <a:avLst/>
          </a:prstGeom>
          <a:noFill/>
        </p:spPr>
        <p:txBody>
          <a:bodyPr wrap="square">
            <a:spAutoFit/>
          </a:bodyPr>
          <a:lstStyle/>
          <a:p>
            <a:pPr>
              <a:spcAft>
                <a:spcPts val="1000"/>
              </a:spcAft>
            </a:pPr>
            <a:r>
              <a:rPr sz="1500">
                <a:solidFill>
                  <a:srgbClr val="1F2A37"/>
                </a:solidFill>
                <a:latin typeface="Calibri"/>
              </a:rPr>
              <a:t>•  32 rows per update</a:t>
            </a:r>
          </a:p>
          <a:p>
            <a:pPr>
              <a:spcAft>
                <a:spcPts val="1000"/>
              </a:spcAft>
            </a:pPr>
            <a:r>
              <a:rPr sz="1500">
                <a:solidFill>
                  <a:srgbClr val="1F2A37"/>
                </a:solidFill>
                <a:latin typeface="Calibri"/>
              </a:rPr>
              <a:t>•  12,500 updates</a:t>
            </a:r>
          </a:p>
          <a:p>
            <a:pPr>
              <a:spcAft>
                <a:spcPts val="1000"/>
              </a:spcAft>
            </a:pPr>
            <a:r>
              <a:rPr sz="1500">
                <a:solidFill>
                  <a:srgbClr val="1F2A37"/>
                </a:solidFill>
                <a:latin typeface="Calibri"/>
              </a:rPr>
              <a:t>•  one pass (1 epoch)</a:t>
            </a:r>
          </a:p>
        </p:txBody>
      </p:sp>
      <p:sp>
        <p:nvSpPr>
          <p:cNvPr id="8" name="TextBox 7"/>
          <p:cNvSpPr txBox="1"/>
          <p:nvPr/>
        </p:nvSpPr>
        <p:spPr>
          <a:xfrm>
            <a:off x="731520" y="3749039"/>
            <a:ext cx="10789920" cy="411480"/>
          </a:xfrm>
          <a:prstGeom prst="rect">
            <a:avLst/>
          </a:prstGeom>
          <a:noFill/>
        </p:spPr>
        <p:txBody>
          <a:bodyPr wrap="square" anchor="t">
            <a:spAutoFit/>
          </a:bodyPr>
          <a:lstStyle/>
          <a:p>
            <a:pPr algn="l">
              <a:lnSpc>
                <a:spcPct val="100000"/>
              </a:lnSpc>
            </a:pPr>
            <a:r>
              <a:rPr sz="1900" b="1">
                <a:solidFill>
                  <a:srgbClr val="2E5FA3"/>
                </a:solidFill>
                <a:latin typeface="Calibri"/>
              </a:rPr>
              <a:t>Key design decision</a:t>
            </a:r>
          </a:p>
        </p:txBody>
      </p:sp>
      <p:graphicFrame>
        <p:nvGraphicFramePr>
          <p:cNvPr id="9" name="Table 8"/>
          <p:cNvGraphicFramePr>
            <a:graphicFrameLocks noGrp="1"/>
          </p:cNvGraphicFramePr>
          <p:nvPr/>
        </p:nvGraphicFramePr>
        <p:xfrm>
          <a:off x="731520" y="4206240"/>
          <a:ext cx="10698480" cy="205740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85800">
                <a:tc>
                  <a:txBody>
                    <a:bodyPr/>
                    <a:lstStyle/>
                    <a:p>
                      <a:r>
                        <a:rPr sz="1300" b="1">
                          <a:solidFill>
                            <a:srgbClr val="FFFFFF"/>
                          </a:solidFill>
                          <a:latin typeface="Calibri"/>
                        </a:rPr>
                        <a:t>Decision</a:t>
                      </a:r>
                    </a:p>
                  </a:txBody>
                  <a:tcPr marL="101600" marT="38100" marB="38100" anchor="ctr">
                    <a:solidFill>
                      <a:srgbClr val="2E5FA3"/>
                    </a:solidFill>
                  </a:tcPr>
                </a:tc>
                <a:tc>
                  <a:txBody>
                    <a:bodyPr/>
                    <a:lstStyle/>
                    <a:p>
                      <a:pPr algn="ctr"/>
                      <a:r>
                        <a:rPr sz="1300" b="1">
                          <a:solidFill>
                            <a:srgbClr val="FFFFFF"/>
                          </a:solidFill>
                          <a:latin typeface="Calibri"/>
                        </a:rPr>
                        <a:t>Why</a:t>
                      </a:r>
                    </a:p>
                  </a:txBody>
                  <a:tcPr marL="101600" marT="38100" marB="38100" anchor="ctr">
                    <a:solidFill>
                      <a:srgbClr val="2E5FA3"/>
                    </a:solidFill>
                  </a:tcPr>
                </a:tc>
                <a:tc>
                  <a:txBody>
                    <a:bodyPr/>
                    <a:lstStyle/>
                    <a:p>
                      <a:pPr algn="ctr"/>
                      <a:r>
                        <a:rPr sz="1300" b="1">
                          <a:solidFill>
                            <a:srgbClr val="FFFFFF"/>
                          </a:solidFill>
                          <a:latin typeface="Calibri"/>
                        </a:rPr>
                        <a:t>Effect on test R²</a:t>
                      </a:r>
                    </a:p>
                  </a:txBody>
                  <a:tcPr marL="101600" marT="38100" marB="38100" anchor="ctr">
                    <a:solidFill>
                      <a:srgbClr val="2E5FA3"/>
                    </a:solidFill>
                  </a:tcPr>
                </a:tc>
                <a:extLst>
                  <a:ext uri="{0D108BD9-81ED-4DB2-BD59-A6C34878D82A}">
                    <a16:rowId xmlns:a16="http://schemas.microsoft.com/office/drawing/2014/main" val="10000"/>
                  </a:ext>
                </a:extLst>
              </a:tr>
              <a:tr h="685800">
                <a:tc>
                  <a:txBody>
                    <a:bodyPr/>
                    <a:lstStyle/>
                    <a:p>
                      <a:r>
                        <a:rPr sz="1300">
                          <a:solidFill>
                            <a:srgbClr val="1F2A37"/>
                          </a:solidFill>
                          <a:latin typeface="Calibri"/>
                        </a:rPr>
                        <a:t>Standardize the target y</a:t>
                      </a:r>
                    </a:p>
                  </a:txBody>
                  <a:tcPr marL="101600" marT="38100" marB="38100" anchor="ctr">
                    <a:solidFill>
                      <a:srgbClr val="FFFFFF"/>
                    </a:solidFill>
                  </a:tcPr>
                </a:tc>
                <a:tc>
                  <a:txBody>
                    <a:bodyPr/>
                    <a:lstStyle/>
                    <a:p>
                      <a:pPr algn="ctr"/>
                      <a:r>
                        <a:rPr sz="1300">
                          <a:solidFill>
                            <a:srgbClr val="1F2A37"/>
                          </a:solidFill>
                          <a:latin typeface="Calibri"/>
                        </a:rPr>
                        <a:t>Raw y (max 4,165) forced huge gradients that</a:t>
                      </a:r>
                    </a:p>
                    <a:p>
                      <a:r>
                        <a:t>saturated the sigmoid units</a:t>
                      </a:r>
                    </a:p>
                  </a:txBody>
                  <a:tcPr marL="101600" marT="38100" marB="38100" anchor="ctr">
                    <a:solidFill>
                      <a:srgbClr val="FFFFFF"/>
                    </a:solidFill>
                  </a:tcPr>
                </a:tc>
                <a:tc>
                  <a:txBody>
                    <a:bodyPr/>
                    <a:lstStyle/>
                    <a:p>
                      <a:pPr algn="ctr"/>
                      <a:r>
                        <a:rPr sz="1300">
                          <a:solidFill>
                            <a:srgbClr val="1F2A37"/>
                          </a:solidFill>
                          <a:latin typeface="Calibri"/>
                        </a:rPr>
                        <a:t>0.35  →  0.52</a:t>
                      </a:r>
                    </a:p>
                  </a:txBody>
                  <a:tcPr marL="101600" marT="38100" marB="38100" anchor="ctr">
                    <a:solidFill>
                      <a:srgbClr val="FFFFFF"/>
                    </a:solidFill>
                  </a:tcPr>
                </a:tc>
                <a:extLst>
                  <a:ext uri="{0D108BD9-81ED-4DB2-BD59-A6C34878D82A}">
                    <a16:rowId xmlns:a16="http://schemas.microsoft.com/office/drawing/2014/main" val="10001"/>
                  </a:ext>
                </a:extLst>
              </a:tr>
              <a:tr h="685800">
                <a:tc>
                  <a:txBody>
                    <a:bodyPr/>
                    <a:lstStyle/>
                    <a:p>
                      <a:r>
                        <a:rPr sz="1300">
                          <a:solidFill>
                            <a:srgbClr val="1F2A37"/>
                          </a:solidFill>
                          <a:latin typeface="Calibri"/>
                        </a:rPr>
                        <a:t>Learning rate 0.001 → 0.005</a:t>
                      </a:r>
                    </a:p>
                  </a:txBody>
                  <a:tcPr marL="101600" marT="38100" marB="38100" anchor="ctr">
                    <a:solidFill>
                      <a:srgbClr val="F4F6FA"/>
                    </a:solidFill>
                  </a:tcPr>
                </a:tc>
                <a:tc>
                  <a:txBody>
                    <a:bodyPr/>
                    <a:lstStyle/>
                    <a:p>
                      <a:pPr algn="ctr"/>
                      <a:r>
                        <a:rPr sz="1300">
                          <a:solidFill>
                            <a:srgbClr val="1F2A37"/>
                          </a:solidFill>
                          <a:latin typeface="Calibri"/>
                        </a:rPr>
                        <a:t>Sigmoid gradients are small; larger steps</a:t>
                      </a:r>
                    </a:p>
                    <a:p>
                      <a:r>
                        <a:t>needed within a single pass</a:t>
                      </a:r>
                    </a:p>
                  </a:txBody>
                  <a:tcPr marL="101600" marT="38100" marB="38100" anchor="ctr">
                    <a:solidFill>
                      <a:srgbClr val="F4F6FA"/>
                    </a:solidFill>
                  </a:tcPr>
                </a:tc>
                <a:tc>
                  <a:txBody>
                    <a:bodyPr/>
                    <a:lstStyle/>
                    <a:p>
                      <a:pPr algn="ctr"/>
                      <a:r>
                        <a:rPr sz="1300">
                          <a:solidFill>
                            <a:srgbClr val="1F2A37"/>
                          </a:solidFill>
                          <a:latin typeface="Calibri"/>
                        </a:rPr>
                        <a:t>0.519  →  0.532</a:t>
                      </a:r>
                    </a:p>
                  </a:txBody>
                  <a:tcPr marL="101600" marT="38100" marB="38100" anchor="ctr">
                    <a:solidFill>
                      <a:srgbClr val="F4F6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Results — R²</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280160"/>
            <a:ext cx="5212080" cy="173736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5000" b="1">
                <a:solidFill>
                  <a:srgbClr val="2E5FA3"/>
                </a:solidFill>
              </a:rPr>
              <a:t>0.5362</a:t>
            </a:r>
          </a:p>
          <a:p>
            <a:pPr algn="ctr"/>
            <a:r>
              <a:rPr sz="1300">
                <a:solidFill>
                  <a:srgbClr val="1F2A37"/>
                </a:solidFill>
              </a:rPr>
              <a:t>Training set R²</a:t>
            </a:r>
          </a:p>
        </p:txBody>
      </p:sp>
      <p:sp>
        <p:nvSpPr>
          <p:cNvPr id="7" name="Rounded Rectangle 6"/>
          <p:cNvSpPr/>
          <p:nvPr/>
        </p:nvSpPr>
        <p:spPr>
          <a:xfrm>
            <a:off x="6263640" y="1280160"/>
            <a:ext cx="5212080" cy="173736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5000" b="1">
                <a:solidFill>
                  <a:srgbClr val="2F855A"/>
                </a:solidFill>
              </a:rPr>
              <a:t>0.5356</a:t>
            </a:r>
          </a:p>
          <a:p>
            <a:pPr algn="ctr"/>
            <a:r>
              <a:rPr sz="1300">
                <a:solidFill>
                  <a:srgbClr val="1F2A37"/>
                </a:solidFill>
              </a:rPr>
              <a:t>Test set R²</a:t>
            </a:r>
          </a:p>
        </p:txBody>
      </p:sp>
      <p:sp>
        <p:nvSpPr>
          <p:cNvPr id="8" name="TextBox 7"/>
          <p:cNvSpPr txBox="1"/>
          <p:nvPr/>
        </p:nvSpPr>
        <p:spPr>
          <a:xfrm>
            <a:off x="731520" y="3246120"/>
            <a:ext cx="10698480" cy="411480"/>
          </a:xfrm>
          <a:prstGeom prst="rect">
            <a:avLst/>
          </a:prstGeom>
          <a:noFill/>
        </p:spPr>
        <p:txBody>
          <a:bodyPr wrap="square" anchor="t">
            <a:spAutoFit/>
          </a:bodyPr>
          <a:lstStyle/>
          <a:p>
            <a:pPr algn="l">
              <a:lnSpc>
                <a:spcPct val="100000"/>
              </a:lnSpc>
            </a:pPr>
            <a:r>
              <a:rPr sz="1800" b="1">
                <a:solidFill>
                  <a:srgbClr val="2E5FA3"/>
                </a:solidFill>
                <a:latin typeface="Calibri"/>
              </a:rPr>
              <a:t>Benchmarked on the identical 80/20 split</a:t>
            </a:r>
          </a:p>
        </p:txBody>
      </p:sp>
      <p:graphicFrame>
        <p:nvGraphicFramePr>
          <p:cNvPr id="9" name="Table 8"/>
          <p:cNvGraphicFramePr>
            <a:graphicFrameLocks noGrp="1"/>
          </p:cNvGraphicFramePr>
          <p:nvPr/>
        </p:nvGraphicFramePr>
        <p:xfrm>
          <a:off x="731520" y="3703320"/>
          <a:ext cx="10698480" cy="1828800"/>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rPr sz="1500" b="1">
                          <a:solidFill>
                            <a:srgbClr val="FFFFFF"/>
                          </a:solidFill>
                          <a:latin typeface="Calibri"/>
                        </a:rPr>
                        <a:t>Model</a:t>
                      </a:r>
                    </a:p>
                  </a:txBody>
                  <a:tcPr marL="101600" marT="38100" marB="38100" anchor="ctr">
                    <a:solidFill>
                      <a:srgbClr val="2E5FA3"/>
                    </a:solidFill>
                  </a:tcPr>
                </a:tc>
                <a:tc>
                  <a:txBody>
                    <a:bodyPr/>
                    <a:lstStyle/>
                    <a:p>
                      <a:pPr algn="ctr"/>
                      <a:r>
                        <a:rPr sz="1500" b="1">
                          <a:solidFill>
                            <a:srgbClr val="FFFFFF"/>
                          </a:solidFill>
                          <a:latin typeface="Calibri"/>
                        </a:rPr>
                        <a:t>Test R²</a:t>
                      </a:r>
                    </a:p>
                  </a:txBody>
                  <a:tcPr marL="101600" marT="38100" marB="38100" anchor="ctr">
                    <a:solidFill>
                      <a:srgbClr val="2E5FA3"/>
                    </a:solidFill>
                  </a:tcPr>
                </a:tc>
                <a:tc>
                  <a:txBody>
                    <a:bodyPr/>
                    <a:lstStyle/>
                    <a:p>
                      <a:pPr algn="ctr"/>
                      <a:r>
                        <a:rPr sz="1500" b="1">
                          <a:solidFill>
                            <a:srgbClr val="FFFFFF"/>
                          </a:solidFill>
                          <a:latin typeface="Calibri"/>
                        </a:rPr>
                        <a:t>Test MSE</a:t>
                      </a:r>
                    </a:p>
                  </a:txBody>
                  <a:tcPr marL="101600" marT="38100" marB="38100" anchor="ctr">
                    <a:solidFill>
                      <a:srgbClr val="2E5FA3"/>
                    </a:solidFill>
                  </a:tcPr>
                </a:tc>
                <a:extLst>
                  <a:ext uri="{0D108BD9-81ED-4DB2-BD59-A6C34878D82A}">
                    <a16:rowId xmlns:a16="http://schemas.microsoft.com/office/drawing/2014/main" val="10000"/>
                  </a:ext>
                </a:extLst>
              </a:tr>
              <a:tr h="457200">
                <a:tc>
                  <a:txBody>
                    <a:bodyPr/>
                    <a:lstStyle/>
                    <a:p>
                      <a:r>
                        <a:rPr sz="1500">
                          <a:solidFill>
                            <a:srgbClr val="1F2A37"/>
                          </a:solidFill>
                          <a:latin typeface="Calibri"/>
                        </a:rPr>
                        <a:t>Predict the mean</a:t>
                      </a:r>
                    </a:p>
                  </a:txBody>
                  <a:tcPr marL="101600" marT="38100" marB="38100" anchor="ctr">
                    <a:solidFill>
                      <a:srgbClr val="FFFFFF"/>
                    </a:solidFill>
                  </a:tcPr>
                </a:tc>
                <a:tc>
                  <a:txBody>
                    <a:bodyPr/>
                    <a:lstStyle/>
                    <a:p>
                      <a:pPr algn="ctr"/>
                      <a:r>
                        <a:rPr sz="1500">
                          <a:solidFill>
                            <a:srgbClr val="1F2A37"/>
                          </a:solidFill>
                          <a:latin typeface="Calibri"/>
                        </a:rPr>
                        <a:t>0.000</a:t>
                      </a:r>
                    </a:p>
                  </a:txBody>
                  <a:tcPr marL="101600" marT="38100" marB="38100" anchor="ctr">
                    <a:solidFill>
                      <a:srgbClr val="FFFFFF"/>
                    </a:solidFill>
                  </a:tcPr>
                </a:tc>
                <a:tc>
                  <a:txBody>
                    <a:bodyPr/>
                    <a:lstStyle/>
                    <a:p>
                      <a:pPr algn="ctr"/>
                      <a:r>
                        <a:rPr sz="1500">
                          <a:solidFill>
                            <a:srgbClr val="1F2A37"/>
                          </a:solidFill>
                          <a:latin typeface="Calibri"/>
                        </a:rPr>
                        <a:t>2,478.8</a:t>
                      </a:r>
                    </a:p>
                  </a:txBody>
                  <a:tcPr marL="101600" marT="38100" marB="38100" anchor="ctr">
                    <a:solidFill>
                      <a:srgbClr val="FFFFFF"/>
                    </a:solidFill>
                  </a:tcPr>
                </a:tc>
                <a:extLst>
                  <a:ext uri="{0D108BD9-81ED-4DB2-BD59-A6C34878D82A}">
                    <a16:rowId xmlns:a16="http://schemas.microsoft.com/office/drawing/2014/main" val="10001"/>
                  </a:ext>
                </a:extLst>
              </a:tr>
              <a:tr h="457200">
                <a:tc>
                  <a:txBody>
                    <a:bodyPr/>
                    <a:lstStyle/>
                    <a:p>
                      <a:r>
                        <a:rPr sz="1500">
                          <a:solidFill>
                            <a:srgbClr val="1F2A37"/>
                          </a:solidFill>
                          <a:latin typeface="Calibri"/>
                        </a:rPr>
                        <a:t>Linear regression</a:t>
                      </a:r>
                    </a:p>
                  </a:txBody>
                  <a:tcPr marL="101600" marT="38100" marB="38100" anchor="ctr">
                    <a:solidFill>
                      <a:srgbClr val="F4F6FA"/>
                    </a:solidFill>
                  </a:tcPr>
                </a:tc>
                <a:tc>
                  <a:txBody>
                    <a:bodyPr/>
                    <a:lstStyle/>
                    <a:p>
                      <a:pPr algn="ctr"/>
                      <a:r>
                        <a:rPr sz="1500">
                          <a:solidFill>
                            <a:srgbClr val="1F2A37"/>
                          </a:solidFill>
                          <a:latin typeface="Calibri"/>
                        </a:rPr>
                        <a:t>0.374</a:t>
                      </a:r>
                    </a:p>
                  </a:txBody>
                  <a:tcPr marL="101600" marT="38100" marB="38100" anchor="ctr">
                    <a:solidFill>
                      <a:srgbClr val="F4F6FA"/>
                    </a:solidFill>
                  </a:tcPr>
                </a:tc>
                <a:tc>
                  <a:txBody>
                    <a:bodyPr/>
                    <a:lstStyle/>
                    <a:p>
                      <a:pPr algn="ctr"/>
                      <a:r>
                        <a:rPr sz="1500">
                          <a:solidFill>
                            <a:srgbClr val="1F2A37"/>
                          </a:solidFill>
                          <a:latin typeface="Calibri"/>
                        </a:rPr>
                        <a:t>1,550.7</a:t>
                      </a:r>
                    </a:p>
                  </a:txBody>
                  <a:tcPr marL="101600" marT="38100" marB="38100" anchor="ctr">
                    <a:solidFill>
                      <a:srgbClr val="F4F6FA"/>
                    </a:solidFill>
                  </a:tcPr>
                </a:tc>
                <a:extLst>
                  <a:ext uri="{0D108BD9-81ED-4DB2-BD59-A6C34878D82A}">
                    <a16:rowId xmlns:a16="http://schemas.microsoft.com/office/drawing/2014/main" val="10002"/>
                  </a:ext>
                </a:extLst>
              </a:tr>
              <a:tr h="457200">
                <a:tc>
                  <a:txBody>
                    <a:bodyPr/>
                    <a:lstStyle/>
                    <a:p>
                      <a:r>
                        <a:rPr sz="1500" b="1">
                          <a:solidFill>
                            <a:srgbClr val="2F855A"/>
                          </a:solidFill>
                          <a:latin typeface="Calibri"/>
                        </a:rPr>
                        <a:t>Our neural network</a:t>
                      </a:r>
                    </a:p>
                  </a:txBody>
                  <a:tcPr marL="101600" marT="38100" marB="38100" anchor="ctr">
                    <a:solidFill>
                      <a:srgbClr val="DFF0E4"/>
                    </a:solidFill>
                  </a:tcPr>
                </a:tc>
                <a:tc>
                  <a:txBody>
                    <a:bodyPr/>
                    <a:lstStyle/>
                    <a:p>
                      <a:pPr algn="ctr"/>
                      <a:r>
                        <a:rPr sz="1500" b="1">
                          <a:solidFill>
                            <a:srgbClr val="2F855A"/>
                          </a:solidFill>
                          <a:latin typeface="Calibri"/>
                        </a:rPr>
                        <a:t>0.536</a:t>
                      </a:r>
                    </a:p>
                  </a:txBody>
                  <a:tcPr marL="101600" marT="38100" marB="38100" anchor="ctr">
                    <a:solidFill>
                      <a:srgbClr val="DFF0E4"/>
                    </a:solidFill>
                  </a:tcPr>
                </a:tc>
                <a:tc>
                  <a:txBody>
                    <a:bodyPr/>
                    <a:lstStyle/>
                    <a:p>
                      <a:pPr algn="ctr"/>
                      <a:r>
                        <a:rPr sz="1500" b="1">
                          <a:solidFill>
                            <a:srgbClr val="2F855A"/>
                          </a:solidFill>
                          <a:latin typeface="Calibri"/>
                        </a:rPr>
                        <a:t>1,151.2</a:t>
                      </a:r>
                    </a:p>
                  </a:txBody>
                  <a:tcPr marL="101600" marT="38100" marB="38100" anchor="ctr">
                    <a:solidFill>
                      <a:srgbClr val="DFF0E4"/>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731520" y="5806440"/>
            <a:ext cx="10698480" cy="457200"/>
          </a:xfrm>
          <a:prstGeom prst="rect">
            <a:avLst/>
          </a:prstGeom>
          <a:noFill/>
        </p:spPr>
        <p:txBody>
          <a:bodyPr wrap="square" anchor="t">
            <a:spAutoFit/>
          </a:bodyPr>
          <a:lstStyle/>
          <a:p>
            <a:pPr algn="ctr">
              <a:lnSpc>
                <a:spcPct val="100000"/>
              </a:lnSpc>
            </a:pPr>
            <a:r>
              <a:rPr sz="1600" b="1">
                <a:solidFill>
                  <a:srgbClr val="1F2A37"/>
                </a:solidFill>
                <a:latin typeface="Calibri"/>
              </a:rPr>
              <a:t>Train ≈ test  →  no overfitting.  Beats linear regression by 0.16 R².</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 Learning Curve</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earning_curve.png"/>
          <p:cNvPicPr>
            <a:picLocks noChangeAspect="1"/>
          </p:cNvPicPr>
          <p:nvPr/>
        </p:nvPicPr>
        <p:blipFill>
          <a:blip r:embed="rId3"/>
          <a:stretch>
            <a:fillRect/>
          </a:stretch>
        </p:blipFill>
        <p:spPr>
          <a:xfrm>
            <a:off x="1371600" y="1143000"/>
            <a:ext cx="7174294" cy="4343400"/>
          </a:xfrm>
          <a:prstGeom prst="rect">
            <a:avLst/>
          </a:prstGeom>
        </p:spPr>
      </p:pic>
      <p:sp>
        <p:nvSpPr>
          <p:cNvPr id="7" name="TextBox 6"/>
          <p:cNvSpPr txBox="1"/>
          <p:nvPr/>
        </p:nvSpPr>
        <p:spPr>
          <a:xfrm>
            <a:off x="731520" y="5669280"/>
            <a:ext cx="10698480" cy="822960"/>
          </a:xfrm>
          <a:prstGeom prst="rect">
            <a:avLst/>
          </a:prstGeom>
          <a:noFill/>
        </p:spPr>
        <p:txBody>
          <a:bodyPr wrap="square" anchor="t">
            <a:spAutoFit/>
          </a:bodyPr>
          <a:lstStyle/>
          <a:p>
            <a:pPr algn="ctr">
              <a:lnSpc>
                <a:spcPct val="100000"/>
              </a:lnSpc>
            </a:pPr>
            <a:r>
              <a:rPr sz="1500" b="0">
                <a:solidFill>
                  <a:srgbClr val="1F2A37"/>
                </a:solidFill>
                <a:latin typeface="Calibri"/>
              </a:rPr>
              <a:t>Moving-average MSE falls 1,461 → 1,257 across 400,000 instances learned.</a:t>
            </a:r>
          </a:p>
          <a:p>
            <a:pPr algn="ctr">
              <a:lnSpc>
                <a:spcPct val="100000"/>
              </a:lnSpc>
            </a:pPr>
            <a:r>
              <a:rPr sz="1500" b="0">
                <a:solidFill>
                  <a:srgbClr val="1F2A37"/>
                </a:solidFill>
                <a:latin typeface="Calibri"/>
              </a:rPr>
              <a:t>Individual batches are noisy (32 rows each); the moving average shows the trend.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 Variable Importance</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variable_importance.png"/>
          <p:cNvPicPr>
            <a:picLocks noChangeAspect="1"/>
          </p:cNvPicPr>
          <p:nvPr/>
        </p:nvPicPr>
        <p:blipFill>
          <a:blip r:embed="rId3"/>
          <a:stretch>
            <a:fillRect/>
          </a:stretch>
        </p:blipFill>
        <p:spPr>
          <a:xfrm>
            <a:off x="548640" y="1097280"/>
            <a:ext cx="7225826" cy="4206240"/>
          </a:xfrm>
          <a:prstGeom prst="rect">
            <a:avLst/>
          </a:prstGeom>
        </p:spPr>
      </p:pic>
      <p:sp>
        <p:nvSpPr>
          <p:cNvPr id="7" name="TextBox 6"/>
          <p:cNvSpPr txBox="1"/>
          <p:nvPr/>
        </p:nvSpPr>
        <p:spPr>
          <a:xfrm>
            <a:off x="8138160" y="1234440"/>
            <a:ext cx="3749039" cy="365760"/>
          </a:xfrm>
          <a:prstGeom prst="rect">
            <a:avLst/>
          </a:prstGeom>
          <a:noFill/>
        </p:spPr>
        <p:txBody>
          <a:bodyPr wrap="square" anchor="t">
            <a:spAutoFit/>
          </a:bodyPr>
          <a:lstStyle/>
          <a:p>
            <a:pPr algn="l">
              <a:lnSpc>
                <a:spcPct val="100000"/>
              </a:lnSpc>
            </a:pPr>
            <a:r>
              <a:rPr sz="1700" b="1">
                <a:solidFill>
                  <a:srgbClr val="2E5FA3"/>
                </a:solidFill>
                <a:latin typeface="Calibri"/>
              </a:rPr>
              <a:t>Ranking</a:t>
            </a:r>
          </a:p>
        </p:txBody>
      </p:sp>
      <p:graphicFrame>
        <p:nvGraphicFramePr>
          <p:cNvPr id="8" name="Table 7"/>
          <p:cNvGraphicFramePr>
            <a:graphicFrameLocks noGrp="1"/>
          </p:cNvGraphicFramePr>
          <p:nvPr/>
        </p:nvGraphicFramePr>
        <p:xfrm>
          <a:off x="8138160" y="1645920"/>
          <a:ext cx="3566160" cy="230428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84048">
                <a:tc>
                  <a:txBody>
                    <a:bodyPr/>
                    <a:lstStyle/>
                    <a:p>
                      <a:r>
                        <a:rPr sz="1350" b="1">
                          <a:solidFill>
                            <a:srgbClr val="FFFFFF"/>
                          </a:solidFill>
                          <a:latin typeface="Calibri"/>
                        </a:rPr>
                        <a:t>Feature</a:t>
                      </a:r>
                    </a:p>
                  </a:txBody>
                  <a:tcPr marL="101600" marT="38100" marB="38100" anchor="ctr">
                    <a:solidFill>
                      <a:srgbClr val="2E5FA3"/>
                    </a:solidFill>
                  </a:tcPr>
                </a:tc>
                <a:tc>
                  <a:txBody>
                    <a:bodyPr/>
                    <a:lstStyle/>
                    <a:p>
                      <a:pPr algn="ctr"/>
                      <a:r>
                        <a:rPr sz="1350" b="1">
                          <a:solidFill>
                            <a:srgbClr val="FFFFFF"/>
                          </a:solidFill>
                          <a:latin typeface="Calibri"/>
                        </a:rPr>
                        <a:t>Drop in R²</a:t>
                      </a:r>
                    </a:p>
                  </a:txBody>
                  <a:tcPr marL="101600" marT="38100" marB="38100" anchor="ctr">
                    <a:solidFill>
                      <a:srgbClr val="2E5FA3"/>
                    </a:solidFill>
                  </a:tcPr>
                </a:tc>
                <a:extLst>
                  <a:ext uri="{0D108BD9-81ED-4DB2-BD59-A6C34878D82A}">
                    <a16:rowId xmlns:a16="http://schemas.microsoft.com/office/drawing/2014/main" val="10000"/>
                  </a:ext>
                </a:extLst>
              </a:tr>
              <a:tr h="384048">
                <a:tc>
                  <a:txBody>
                    <a:bodyPr/>
                    <a:lstStyle/>
                    <a:p>
                      <a:r>
                        <a:rPr sz="1350">
                          <a:solidFill>
                            <a:srgbClr val="1F2A37"/>
                          </a:solidFill>
                          <a:latin typeface="Calibri"/>
                        </a:rPr>
                        <a:t>duration</a:t>
                      </a:r>
                    </a:p>
                  </a:txBody>
                  <a:tcPr marL="101600" marT="38100" marB="38100" anchor="ctr">
                    <a:solidFill>
                      <a:srgbClr val="FFFFFF"/>
                    </a:solidFill>
                  </a:tcPr>
                </a:tc>
                <a:tc>
                  <a:txBody>
                    <a:bodyPr/>
                    <a:lstStyle/>
                    <a:p>
                      <a:pPr algn="ctr"/>
                      <a:r>
                        <a:rPr sz="1350">
                          <a:solidFill>
                            <a:srgbClr val="1F2A37"/>
                          </a:solidFill>
                          <a:latin typeface="Calibri"/>
                        </a:rPr>
                        <a:t>0.971</a:t>
                      </a:r>
                    </a:p>
                  </a:txBody>
                  <a:tcPr marL="101600" marT="38100" marB="38100" anchor="ctr">
                    <a:solidFill>
                      <a:srgbClr val="FFFFFF"/>
                    </a:solidFill>
                  </a:tcPr>
                </a:tc>
                <a:extLst>
                  <a:ext uri="{0D108BD9-81ED-4DB2-BD59-A6C34878D82A}">
                    <a16:rowId xmlns:a16="http://schemas.microsoft.com/office/drawing/2014/main" val="10001"/>
                  </a:ext>
                </a:extLst>
              </a:tr>
              <a:tr h="384048">
                <a:tc>
                  <a:txBody>
                    <a:bodyPr/>
                    <a:lstStyle/>
                    <a:p>
                      <a:r>
                        <a:rPr sz="1350">
                          <a:solidFill>
                            <a:srgbClr val="1F2A37"/>
                          </a:solidFill>
                          <a:latin typeface="Calibri"/>
                        </a:rPr>
                        <a:t>price</a:t>
                      </a:r>
                    </a:p>
                  </a:txBody>
                  <a:tcPr marL="101600" marT="38100" marB="38100" anchor="ctr">
                    <a:solidFill>
                      <a:srgbClr val="F4F6FA"/>
                    </a:solidFill>
                  </a:tcPr>
                </a:tc>
                <a:tc>
                  <a:txBody>
                    <a:bodyPr/>
                    <a:lstStyle/>
                    <a:p>
                      <a:pPr algn="ctr"/>
                      <a:r>
                        <a:rPr sz="1350">
                          <a:solidFill>
                            <a:srgbClr val="1F2A37"/>
                          </a:solidFill>
                          <a:latin typeface="Calibri"/>
                        </a:rPr>
                        <a:t>0.378</a:t>
                      </a:r>
                    </a:p>
                  </a:txBody>
                  <a:tcPr marL="101600" marT="38100" marB="38100" anchor="ctr">
                    <a:solidFill>
                      <a:srgbClr val="F4F6FA"/>
                    </a:solidFill>
                  </a:tcPr>
                </a:tc>
                <a:extLst>
                  <a:ext uri="{0D108BD9-81ED-4DB2-BD59-A6C34878D82A}">
                    <a16:rowId xmlns:a16="http://schemas.microsoft.com/office/drawing/2014/main" val="10002"/>
                  </a:ext>
                </a:extLst>
              </a:tr>
              <a:tr h="384048">
                <a:tc>
                  <a:txBody>
                    <a:bodyPr/>
                    <a:lstStyle/>
                    <a:p>
                      <a:r>
                        <a:rPr sz="1350">
                          <a:solidFill>
                            <a:srgbClr val="1F2A37"/>
                          </a:solidFill>
                          <a:latin typeface="Calibri"/>
                        </a:rPr>
                        <a:t>category</a:t>
                      </a:r>
                    </a:p>
                  </a:txBody>
                  <a:tcPr marL="101600" marT="38100" marB="38100" anchor="ctr">
                    <a:solidFill>
                      <a:srgbClr val="FFFFFF"/>
                    </a:solidFill>
                  </a:tcPr>
                </a:tc>
                <a:tc>
                  <a:txBody>
                    <a:bodyPr/>
                    <a:lstStyle/>
                    <a:p>
                      <a:pPr algn="ctr"/>
                      <a:r>
                        <a:rPr sz="1350">
                          <a:solidFill>
                            <a:srgbClr val="1F2A37"/>
                          </a:solidFill>
                          <a:latin typeface="Calibri"/>
                        </a:rPr>
                        <a:t>0.019</a:t>
                      </a:r>
                    </a:p>
                  </a:txBody>
                  <a:tcPr marL="101600" marT="38100" marB="38100" anchor="ctr">
                    <a:solidFill>
                      <a:srgbClr val="FFFFFF"/>
                    </a:solidFill>
                  </a:tcPr>
                </a:tc>
                <a:extLst>
                  <a:ext uri="{0D108BD9-81ED-4DB2-BD59-A6C34878D82A}">
                    <a16:rowId xmlns:a16="http://schemas.microsoft.com/office/drawing/2014/main" val="10003"/>
                  </a:ext>
                </a:extLst>
              </a:tr>
              <a:tr h="384048">
                <a:tc>
                  <a:txBody>
                    <a:bodyPr/>
                    <a:lstStyle/>
                    <a:p>
                      <a:r>
                        <a:rPr sz="1350">
                          <a:solidFill>
                            <a:srgbClr val="1F2A37"/>
                          </a:solidFill>
                          <a:latin typeface="Calibri"/>
                        </a:rPr>
                        <a:t>order</a:t>
                      </a:r>
                    </a:p>
                  </a:txBody>
                  <a:tcPr marL="101600" marT="38100" marB="38100" anchor="ctr">
                    <a:solidFill>
                      <a:srgbClr val="F4F6FA"/>
                    </a:solidFill>
                  </a:tcPr>
                </a:tc>
                <a:tc>
                  <a:txBody>
                    <a:bodyPr/>
                    <a:lstStyle/>
                    <a:p>
                      <a:pPr algn="ctr"/>
                      <a:r>
                        <a:rPr sz="1350">
                          <a:solidFill>
                            <a:srgbClr val="1F2A37"/>
                          </a:solidFill>
                          <a:latin typeface="Calibri"/>
                        </a:rPr>
                        <a:t>0.012</a:t>
                      </a:r>
                    </a:p>
                  </a:txBody>
                  <a:tcPr marL="101600" marT="38100" marB="38100" anchor="ctr">
                    <a:solidFill>
                      <a:srgbClr val="F4F6FA"/>
                    </a:solidFill>
                  </a:tcPr>
                </a:tc>
                <a:extLst>
                  <a:ext uri="{0D108BD9-81ED-4DB2-BD59-A6C34878D82A}">
                    <a16:rowId xmlns:a16="http://schemas.microsoft.com/office/drawing/2014/main" val="10004"/>
                  </a:ext>
                </a:extLst>
              </a:tr>
              <a:tr h="384048">
                <a:tc>
                  <a:txBody>
                    <a:bodyPr/>
                    <a:lstStyle/>
                    <a:p>
                      <a:r>
                        <a:rPr sz="1350">
                          <a:solidFill>
                            <a:srgbClr val="1F2A37"/>
                          </a:solidFill>
                          <a:latin typeface="Calibri"/>
                        </a:rPr>
                        <a:t>sku</a:t>
                      </a:r>
                    </a:p>
                  </a:txBody>
                  <a:tcPr marL="101600" marT="38100" marB="38100" anchor="ctr">
                    <a:solidFill>
                      <a:srgbClr val="FFFFFF"/>
                    </a:solidFill>
                  </a:tcPr>
                </a:tc>
                <a:tc>
                  <a:txBody>
                    <a:bodyPr/>
                    <a:lstStyle/>
                    <a:p>
                      <a:pPr algn="ctr"/>
                      <a:r>
                        <a:rPr sz="1350">
                          <a:solidFill>
                            <a:srgbClr val="1F2A37"/>
                          </a:solidFill>
                          <a:latin typeface="Calibri"/>
                        </a:rPr>
                        <a:t>0.003</a:t>
                      </a:r>
                    </a:p>
                  </a:txBody>
                  <a:tcPr marL="101600"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8138160" y="4206240"/>
            <a:ext cx="3657600" cy="1737360"/>
          </a:xfrm>
          <a:prstGeom prst="rect">
            <a:avLst/>
          </a:prstGeom>
          <a:noFill/>
        </p:spPr>
        <p:txBody>
          <a:bodyPr wrap="square" anchor="t">
            <a:spAutoFit/>
          </a:bodyPr>
          <a:lstStyle/>
          <a:p>
            <a:pPr algn="l">
              <a:lnSpc>
                <a:spcPct val="100000"/>
              </a:lnSpc>
            </a:pPr>
            <a:r>
              <a:rPr sz="1400" b="0">
                <a:solidFill>
                  <a:srgbClr val="1F2A37"/>
                </a:solidFill>
                <a:latin typeface="Calibri"/>
              </a:rPr>
              <a:t>duration and price carry</a:t>
            </a:r>
          </a:p>
          <a:p>
            <a:pPr algn="l">
              <a:lnSpc>
                <a:spcPct val="100000"/>
              </a:lnSpc>
            </a:pPr>
            <a:r>
              <a:rPr sz="1400" b="0">
                <a:solidFill>
                  <a:srgbClr val="1F2A37"/>
                </a:solidFill>
                <a:latin typeface="Calibri"/>
              </a:rPr>
              <a:t>almost all signal.</a:t>
            </a:r>
          </a:p>
          <a:p>
            <a:pPr algn="l">
              <a:lnSpc>
                <a:spcPct val="100000"/>
              </a:lnSpc>
            </a:pPr>
            <a:endParaRPr sz="1400" b="0">
              <a:solidFill>
                <a:srgbClr val="1F2A37"/>
              </a:solidFill>
              <a:latin typeface="Calibri"/>
            </a:endParaRPr>
          </a:p>
          <a:p>
            <a:pPr algn="l">
              <a:lnSpc>
                <a:spcPct val="100000"/>
              </a:lnSpc>
            </a:pPr>
            <a:r>
              <a:rPr sz="1400" b="0">
                <a:solidFill>
                  <a:srgbClr val="1F2A37"/>
                </a:solidFill>
                <a:latin typeface="Calibri"/>
              </a:rPr>
              <a:t>sku, order, category are</a:t>
            </a:r>
          </a:p>
          <a:p>
            <a:pPr algn="l">
              <a:lnSpc>
                <a:spcPct val="100000"/>
              </a:lnSpc>
            </a:pPr>
            <a:r>
              <a:rPr sz="1400" b="0">
                <a:solidFill>
                  <a:srgbClr val="1F2A37"/>
                </a:solidFill>
                <a:latin typeface="Calibri"/>
              </a:rPr>
              <a:t>nearly irrelevant.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 RAM Usage &amp; Training Time</a:t>
            </a:r>
          </a:p>
        </p:txBody>
      </p:sp>
      <p:sp>
        <p:nvSpPr>
          <p:cNvPr id="4" name="Rounded Rectangle 3"/>
          <p:cNvSpPr/>
          <p:nvPr/>
        </p:nvSpPr>
        <p:spPr>
          <a:xfrm>
            <a:off x="9464040" y="256032"/>
            <a:ext cx="2240280" cy="475488"/>
          </a:xfrm>
          <a:prstGeom prst="round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REQUIRED</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88720"/>
            <a:ext cx="5486400" cy="365760"/>
          </a:xfrm>
          <a:prstGeom prst="rect">
            <a:avLst/>
          </a:prstGeom>
          <a:noFill/>
        </p:spPr>
        <p:txBody>
          <a:bodyPr wrap="square" anchor="t">
            <a:spAutoFit/>
          </a:bodyPr>
          <a:lstStyle/>
          <a:p>
            <a:pPr algn="l">
              <a:lnSpc>
                <a:spcPct val="100000"/>
              </a:lnSpc>
            </a:pPr>
            <a:r>
              <a:rPr sz="1900" b="1">
                <a:solidFill>
                  <a:srgbClr val="2E5FA3"/>
                </a:solidFill>
                <a:latin typeface="Calibri"/>
              </a:rPr>
              <a:t>Memory</a:t>
            </a:r>
          </a:p>
        </p:txBody>
      </p:sp>
      <p:graphicFrame>
        <p:nvGraphicFramePr>
          <p:cNvPr id="7" name="Table 6"/>
          <p:cNvGraphicFramePr>
            <a:graphicFrameLocks noGrp="1"/>
          </p:cNvGraphicFramePr>
          <p:nvPr/>
        </p:nvGraphicFramePr>
        <p:xfrm>
          <a:off x="731520" y="1627632"/>
          <a:ext cx="5394960" cy="21031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20624">
                <a:tc>
                  <a:txBody>
                    <a:bodyPr/>
                    <a:lstStyle/>
                    <a:p>
                      <a:r>
                        <a:rPr sz="1400" b="1">
                          <a:solidFill>
                            <a:srgbClr val="FFFFFF"/>
                          </a:solidFill>
                          <a:latin typeface="Calibri"/>
                        </a:rPr>
                        <a:t>Stage</a:t>
                      </a:r>
                    </a:p>
                  </a:txBody>
                  <a:tcPr marL="101600" marT="38100" marB="38100" anchor="ctr">
                    <a:solidFill>
                      <a:srgbClr val="2E5FA3"/>
                    </a:solidFill>
                  </a:tcPr>
                </a:tc>
                <a:tc>
                  <a:txBody>
                    <a:bodyPr/>
                    <a:lstStyle/>
                    <a:p>
                      <a:pPr algn="ctr"/>
                      <a:r>
                        <a:rPr sz="1400" b="1">
                          <a:solidFill>
                            <a:srgbClr val="FFFFFF"/>
                          </a:solidFill>
                          <a:latin typeface="Calibri"/>
                        </a:rPr>
                        <a:t>MB</a:t>
                      </a:r>
                    </a:p>
                  </a:txBody>
                  <a:tcPr marL="101600" marT="38100" marB="38100" anchor="ctr">
                    <a:solidFill>
                      <a:srgbClr val="2E5FA3"/>
                    </a:solidFill>
                  </a:tcPr>
                </a:tc>
                <a:extLst>
                  <a:ext uri="{0D108BD9-81ED-4DB2-BD59-A6C34878D82A}">
                    <a16:rowId xmlns:a16="http://schemas.microsoft.com/office/drawing/2014/main" val="10000"/>
                  </a:ext>
                </a:extLst>
              </a:tr>
              <a:tr h="420624">
                <a:tc>
                  <a:txBody>
                    <a:bodyPr/>
                    <a:lstStyle/>
                    <a:p>
                      <a:r>
                        <a:rPr sz="1400">
                          <a:solidFill>
                            <a:srgbClr val="1F2A37"/>
                          </a:solidFill>
                          <a:latin typeface="Calibri"/>
                        </a:rPr>
                        <a:t>At start</a:t>
                      </a:r>
                    </a:p>
                  </a:txBody>
                  <a:tcPr marL="101600" marT="38100" marB="38100" anchor="ctr">
                    <a:solidFill>
                      <a:srgbClr val="FFFFFF"/>
                    </a:solidFill>
                  </a:tcPr>
                </a:tc>
                <a:tc>
                  <a:txBody>
                    <a:bodyPr/>
                    <a:lstStyle/>
                    <a:p>
                      <a:pPr algn="ctr"/>
                      <a:r>
                        <a:rPr sz="1400">
                          <a:solidFill>
                            <a:srgbClr val="1F2A37"/>
                          </a:solidFill>
                          <a:latin typeface="Calibri"/>
                        </a:rPr>
                        <a:t>346.4</a:t>
                      </a:r>
                    </a:p>
                  </a:txBody>
                  <a:tcPr marL="101600" marT="38100" marB="38100" anchor="ctr">
                    <a:solidFill>
                      <a:srgbClr val="FFFFFF"/>
                    </a:solidFill>
                  </a:tcPr>
                </a:tc>
                <a:extLst>
                  <a:ext uri="{0D108BD9-81ED-4DB2-BD59-A6C34878D82A}">
                    <a16:rowId xmlns:a16="http://schemas.microsoft.com/office/drawing/2014/main" val="10001"/>
                  </a:ext>
                </a:extLst>
              </a:tr>
              <a:tr h="420624">
                <a:tc>
                  <a:txBody>
                    <a:bodyPr/>
                    <a:lstStyle/>
                    <a:p>
                      <a:r>
                        <a:rPr sz="1400">
                          <a:solidFill>
                            <a:srgbClr val="1F2A37"/>
                          </a:solidFill>
                          <a:latin typeface="Calibri"/>
                        </a:rPr>
                        <a:t>After data load</a:t>
                      </a:r>
                    </a:p>
                  </a:txBody>
                  <a:tcPr marL="101600" marT="38100" marB="38100" anchor="ctr">
                    <a:solidFill>
                      <a:srgbClr val="F4F6FA"/>
                    </a:solidFill>
                  </a:tcPr>
                </a:tc>
                <a:tc>
                  <a:txBody>
                    <a:bodyPr/>
                    <a:lstStyle/>
                    <a:p>
                      <a:pPr algn="ctr"/>
                      <a:r>
                        <a:rPr sz="1400">
                          <a:solidFill>
                            <a:srgbClr val="1F2A37"/>
                          </a:solidFill>
                          <a:latin typeface="Calibri"/>
                        </a:rPr>
                        <a:t>383.7</a:t>
                      </a:r>
                    </a:p>
                  </a:txBody>
                  <a:tcPr marL="101600" marT="38100" marB="38100" anchor="ctr">
                    <a:solidFill>
                      <a:srgbClr val="F4F6FA"/>
                    </a:solidFill>
                  </a:tcPr>
                </a:tc>
                <a:extLst>
                  <a:ext uri="{0D108BD9-81ED-4DB2-BD59-A6C34878D82A}">
                    <a16:rowId xmlns:a16="http://schemas.microsoft.com/office/drawing/2014/main" val="10002"/>
                  </a:ext>
                </a:extLst>
              </a:tr>
              <a:tr h="420624">
                <a:tc>
                  <a:txBody>
                    <a:bodyPr/>
                    <a:lstStyle/>
                    <a:p>
                      <a:r>
                        <a:rPr sz="1400">
                          <a:solidFill>
                            <a:srgbClr val="1F2A37"/>
                          </a:solidFill>
                          <a:latin typeface="Calibri"/>
                        </a:rPr>
                        <a:t>Peak during training</a:t>
                      </a:r>
                    </a:p>
                  </a:txBody>
                  <a:tcPr marL="101600" marT="38100" marB="38100" anchor="ctr">
                    <a:solidFill>
                      <a:srgbClr val="FFFFFF"/>
                    </a:solidFill>
                  </a:tcPr>
                </a:tc>
                <a:tc>
                  <a:txBody>
                    <a:bodyPr/>
                    <a:lstStyle/>
                    <a:p>
                      <a:pPr algn="ctr"/>
                      <a:r>
                        <a:rPr sz="1400">
                          <a:solidFill>
                            <a:srgbClr val="1F2A37"/>
                          </a:solidFill>
                          <a:latin typeface="Calibri"/>
                        </a:rPr>
                        <a:t>423.7</a:t>
                      </a:r>
                    </a:p>
                  </a:txBody>
                  <a:tcPr marL="101600" marT="38100" marB="38100" anchor="ctr">
                    <a:solidFill>
                      <a:srgbClr val="FFFFFF"/>
                    </a:solidFill>
                  </a:tcPr>
                </a:tc>
                <a:extLst>
                  <a:ext uri="{0D108BD9-81ED-4DB2-BD59-A6C34878D82A}">
                    <a16:rowId xmlns:a16="http://schemas.microsoft.com/office/drawing/2014/main" val="10003"/>
                  </a:ext>
                </a:extLst>
              </a:tr>
              <a:tr h="420624">
                <a:tc>
                  <a:txBody>
                    <a:bodyPr/>
                    <a:lstStyle/>
                    <a:p>
                      <a:r>
                        <a:rPr sz="1400">
                          <a:solidFill>
                            <a:srgbClr val="1F2A37"/>
                          </a:solidFill>
                          <a:latin typeface="Calibri"/>
                        </a:rPr>
                        <a:t>Drift over 12,500 updates</a:t>
                      </a:r>
                    </a:p>
                  </a:txBody>
                  <a:tcPr marL="101600" marT="38100" marB="38100" anchor="ctr">
                    <a:solidFill>
                      <a:srgbClr val="F4F6FA"/>
                    </a:solidFill>
                  </a:tcPr>
                </a:tc>
                <a:tc>
                  <a:txBody>
                    <a:bodyPr/>
                    <a:lstStyle/>
                    <a:p>
                      <a:pPr algn="ctr"/>
                      <a:r>
                        <a:rPr sz="1400">
                          <a:solidFill>
                            <a:srgbClr val="1F2A37"/>
                          </a:solidFill>
                          <a:latin typeface="Calibri"/>
                        </a:rPr>
                        <a:t>+6.5</a:t>
                      </a:r>
                    </a:p>
                  </a:txBody>
                  <a:tcPr marL="101600" marT="38100" marB="38100" anchor="ctr">
                    <a:solidFill>
                      <a:srgbClr val="F4F6FA"/>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731520" y="3840480"/>
            <a:ext cx="5486400" cy="1005840"/>
          </a:xfrm>
          <a:prstGeom prst="rect">
            <a:avLst/>
          </a:prstGeom>
          <a:noFill/>
        </p:spPr>
        <p:txBody>
          <a:bodyPr wrap="square" anchor="t">
            <a:spAutoFit/>
          </a:bodyPr>
          <a:lstStyle/>
          <a:p>
            <a:pPr algn="l">
              <a:lnSpc>
                <a:spcPct val="100000"/>
              </a:lnSpc>
            </a:pPr>
            <a:r>
              <a:rPr sz="1500" b="1">
                <a:solidFill>
                  <a:srgbClr val="2F855A"/>
                </a:solidFill>
                <a:latin typeface="Calibri"/>
              </a:rPr>
              <a:t>Memory is flat during training.</a:t>
            </a:r>
          </a:p>
          <a:p>
            <a:pPr algn="l">
              <a:lnSpc>
                <a:spcPct val="100000"/>
              </a:lnSpc>
            </a:pPr>
            <a:r>
              <a:rPr sz="1500" b="1">
                <a:solidFill>
                  <a:srgbClr val="2F855A"/>
                </a:solidFill>
                <a:latin typeface="Calibri"/>
              </a:rPr>
              <a:t>Mini-batching means RAM does not</a:t>
            </a:r>
          </a:p>
          <a:p>
            <a:pPr algn="l">
              <a:lnSpc>
                <a:spcPct val="100000"/>
              </a:lnSpc>
            </a:pPr>
            <a:r>
              <a:rPr sz="1500" b="1">
                <a:solidFill>
                  <a:srgbClr val="2F855A"/>
                </a:solidFill>
                <a:latin typeface="Calibri"/>
              </a:rPr>
              <a:t>grow with the number of records.</a:t>
            </a:r>
          </a:p>
        </p:txBody>
      </p:sp>
      <p:sp>
        <p:nvSpPr>
          <p:cNvPr id="9" name="TextBox 8"/>
          <p:cNvSpPr txBox="1"/>
          <p:nvPr/>
        </p:nvSpPr>
        <p:spPr>
          <a:xfrm>
            <a:off x="6583680" y="1188720"/>
            <a:ext cx="4937760" cy="365760"/>
          </a:xfrm>
          <a:prstGeom prst="rect">
            <a:avLst/>
          </a:prstGeom>
          <a:noFill/>
        </p:spPr>
        <p:txBody>
          <a:bodyPr wrap="square" anchor="t">
            <a:spAutoFit/>
          </a:bodyPr>
          <a:lstStyle/>
          <a:p>
            <a:pPr algn="l">
              <a:lnSpc>
                <a:spcPct val="100000"/>
              </a:lnSpc>
            </a:pPr>
            <a:r>
              <a:rPr sz="1900" b="1">
                <a:solidFill>
                  <a:srgbClr val="2E5FA3"/>
                </a:solidFill>
                <a:latin typeface="Calibri"/>
              </a:rPr>
              <a:t>Time</a:t>
            </a:r>
          </a:p>
        </p:txBody>
      </p:sp>
      <p:graphicFrame>
        <p:nvGraphicFramePr>
          <p:cNvPr id="10" name="Table 9"/>
          <p:cNvGraphicFramePr>
            <a:graphicFrameLocks noGrp="1"/>
          </p:cNvGraphicFramePr>
          <p:nvPr/>
        </p:nvGraphicFramePr>
        <p:xfrm>
          <a:off x="6583680" y="1627632"/>
          <a:ext cx="4937760" cy="1682496"/>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20624">
                <a:tc>
                  <a:txBody>
                    <a:bodyPr/>
                    <a:lstStyle/>
                    <a:p>
                      <a:r>
                        <a:rPr sz="1400" b="1">
                          <a:solidFill>
                            <a:srgbClr val="FFFFFF"/>
                          </a:solidFill>
                          <a:latin typeface="Calibri"/>
                        </a:rPr>
                        <a:t>Measure</a:t>
                      </a:r>
                    </a:p>
                  </a:txBody>
                  <a:tcPr marL="101600" marT="38100" marB="38100" anchor="ctr">
                    <a:solidFill>
                      <a:srgbClr val="2E5FA3"/>
                    </a:solidFill>
                  </a:tcPr>
                </a:tc>
                <a:tc>
                  <a:txBody>
                    <a:bodyPr/>
                    <a:lstStyle/>
                    <a:p>
                      <a:pPr algn="ctr"/>
                      <a:r>
                        <a:rPr sz="1400" b="1">
                          <a:solidFill>
                            <a:srgbClr val="FFFFFF"/>
                          </a:solidFill>
                          <a:latin typeface="Calibri"/>
                        </a:rPr>
                        <a:t>Value</a:t>
                      </a:r>
                    </a:p>
                  </a:txBody>
                  <a:tcPr marL="101600" marT="38100" marB="38100" anchor="ctr">
                    <a:solidFill>
                      <a:srgbClr val="2E5FA3"/>
                    </a:solidFill>
                  </a:tcPr>
                </a:tc>
                <a:extLst>
                  <a:ext uri="{0D108BD9-81ED-4DB2-BD59-A6C34878D82A}">
                    <a16:rowId xmlns:a16="http://schemas.microsoft.com/office/drawing/2014/main" val="10000"/>
                  </a:ext>
                </a:extLst>
              </a:tr>
              <a:tr h="420624">
                <a:tc>
                  <a:txBody>
                    <a:bodyPr/>
                    <a:lstStyle/>
                    <a:p>
                      <a:r>
                        <a:rPr sz="1400">
                          <a:solidFill>
                            <a:srgbClr val="1F2A37"/>
                          </a:solidFill>
                          <a:latin typeface="Calibri"/>
                        </a:rPr>
                        <a:t>Total training</a:t>
                      </a:r>
                    </a:p>
                  </a:txBody>
                  <a:tcPr marL="101600" marT="38100" marB="38100" anchor="ctr">
                    <a:solidFill>
                      <a:srgbClr val="FFFFFF"/>
                    </a:solidFill>
                  </a:tcPr>
                </a:tc>
                <a:tc>
                  <a:txBody>
                    <a:bodyPr/>
                    <a:lstStyle/>
                    <a:p>
                      <a:pPr algn="ctr"/>
                      <a:r>
                        <a:rPr sz="1400">
                          <a:solidFill>
                            <a:srgbClr val="1F2A37"/>
                          </a:solidFill>
                          <a:latin typeface="Calibri"/>
                        </a:rPr>
                        <a:t>45.0 s</a:t>
                      </a:r>
                    </a:p>
                  </a:txBody>
                  <a:tcPr marL="101600" marT="38100" marB="38100" anchor="ctr">
                    <a:solidFill>
                      <a:srgbClr val="FFFFFF"/>
                    </a:solidFill>
                  </a:tcPr>
                </a:tc>
                <a:extLst>
                  <a:ext uri="{0D108BD9-81ED-4DB2-BD59-A6C34878D82A}">
                    <a16:rowId xmlns:a16="http://schemas.microsoft.com/office/drawing/2014/main" val="10001"/>
                  </a:ext>
                </a:extLst>
              </a:tr>
              <a:tr h="420624">
                <a:tc>
                  <a:txBody>
                    <a:bodyPr/>
                    <a:lstStyle/>
                    <a:p>
                      <a:r>
                        <a:rPr sz="1400">
                          <a:solidFill>
                            <a:srgbClr val="1F2A37"/>
                          </a:solidFill>
                          <a:latin typeface="Calibri"/>
                        </a:rPr>
                        <a:t>Per mini-batch</a:t>
                      </a:r>
                    </a:p>
                  </a:txBody>
                  <a:tcPr marL="101600" marT="38100" marB="38100" anchor="ctr">
                    <a:solidFill>
                      <a:srgbClr val="F4F6FA"/>
                    </a:solidFill>
                  </a:tcPr>
                </a:tc>
                <a:tc>
                  <a:txBody>
                    <a:bodyPr/>
                    <a:lstStyle/>
                    <a:p>
                      <a:pPr algn="ctr"/>
                      <a:r>
                        <a:rPr sz="1400">
                          <a:solidFill>
                            <a:srgbClr val="1F2A37"/>
                          </a:solidFill>
                          <a:latin typeface="Calibri"/>
                        </a:rPr>
                        <a:t>3.6 ms</a:t>
                      </a:r>
                    </a:p>
                  </a:txBody>
                  <a:tcPr marL="101600" marT="38100" marB="38100" anchor="ctr">
                    <a:solidFill>
                      <a:srgbClr val="F4F6FA"/>
                    </a:solidFill>
                  </a:tcPr>
                </a:tc>
                <a:extLst>
                  <a:ext uri="{0D108BD9-81ED-4DB2-BD59-A6C34878D82A}">
                    <a16:rowId xmlns:a16="http://schemas.microsoft.com/office/drawing/2014/main" val="10002"/>
                  </a:ext>
                </a:extLst>
              </a:tr>
              <a:tr h="420624">
                <a:tc>
                  <a:txBody>
                    <a:bodyPr/>
                    <a:lstStyle/>
                    <a:p>
                      <a:r>
                        <a:rPr sz="1400">
                          <a:solidFill>
                            <a:srgbClr val="1F2A37"/>
                          </a:solidFill>
                          <a:latin typeface="Calibri"/>
                        </a:rPr>
                        <a:t>Records / second</a:t>
                      </a:r>
                    </a:p>
                  </a:txBody>
                  <a:tcPr marL="101600" marT="38100" marB="38100" anchor="ctr">
                    <a:solidFill>
                      <a:srgbClr val="FFFFFF"/>
                    </a:solidFill>
                  </a:tcPr>
                </a:tc>
                <a:tc>
                  <a:txBody>
                    <a:bodyPr/>
                    <a:lstStyle/>
                    <a:p>
                      <a:pPr algn="ctr"/>
                      <a:r>
                        <a:rPr sz="1400">
                          <a:solidFill>
                            <a:srgbClr val="1F2A37"/>
                          </a:solidFill>
                          <a:latin typeface="Calibri"/>
                        </a:rPr>
                        <a:t>≈ 8,900</a:t>
                      </a: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583680" y="3520440"/>
            <a:ext cx="4937760" cy="1280160"/>
          </a:xfrm>
          <a:prstGeom prst="rect">
            <a:avLst/>
          </a:prstGeom>
          <a:noFill/>
        </p:spPr>
        <p:txBody>
          <a:bodyPr wrap="square" anchor="t">
            <a:spAutoFit/>
          </a:bodyPr>
          <a:lstStyle/>
          <a:p>
            <a:pPr algn="l">
              <a:lnSpc>
                <a:spcPct val="100000"/>
              </a:lnSpc>
            </a:pPr>
            <a:r>
              <a:rPr sz="1500" b="1">
                <a:solidFill>
                  <a:srgbClr val="2F855A"/>
                </a:solidFill>
                <a:latin typeface="Calibri"/>
              </a:rPr>
              <a:t>12,500 weight updates</a:t>
            </a:r>
          </a:p>
          <a:p>
            <a:pPr algn="l">
              <a:lnSpc>
                <a:spcPct val="100000"/>
              </a:lnSpc>
            </a:pPr>
            <a:r>
              <a:rPr sz="1500" b="1">
                <a:solidFill>
                  <a:srgbClr val="2F855A"/>
                </a:solidFill>
                <a:latin typeface="Calibri"/>
              </a:rPr>
              <a:t>in 45 seconds on a laptop.</a:t>
            </a:r>
          </a:p>
        </p:txBody>
      </p:sp>
      <p:sp>
        <p:nvSpPr>
          <p:cNvPr id="12" name="Rounded Rectangle 11"/>
          <p:cNvSpPr/>
          <p:nvPr/>
        </p:nvSpPr>
        <p:spPr>
          <a:xfrm>
            <a:off x="731520" y="5120640"/>
            <a:ext cx="10789920" cy="1143000"/>
          </a:xfrm>
          <a:prstGeom prst="roundRect">
            <a:avLst/>
          </a:prstGeom>
          <a:solidFill>
            <a:srgbClr val="E8F0FB"/>
          </a:solidFill>
          <a:ln w="19050">
            <a:solidFill>
              <a:srgbClr val="2E5FA3"/>
            </a:solidFill>
          </a:ln>
        </p:spPr>
        <p:style>
          <a:lnRef idx="1">
            <a:schemeClr val="accent1"/>
          </a:lnRef>
          <a:fillRef idx="3">
            <a:schemeClr val="accent1"/>
          </a:fillRef>
          <a:effectRef idx="2">
            <a:schemeClr val="accent1"/>
          </a:effectRef>
          <a:fontRef idx="minor">
            <a:schemeClr val="lt1"/>
          </a:fontRef>
        </p:style>
        <p:txBody>
          <a:bodyPr wrap="square" lIns="177800" rtlCol="0" anchor="ctr"/>
          <a:lstStyle/>
          <a:p>
            <a:pPr algn="ctr"/>
            <a:r>
              <a:rPr sz="1500" b="1">
                <a:solidFill>
                  <a:srgbClr val="C05621"/>
                </a:solidFill>
              </a:rPr>
              <a:t>Honest limitation:  we still read the whole CSV once (19 MB fits in RAM). </a:t>
            </a:r>
          </a:p>
          <a:p>
            <a:r>
              <a:rPr sz="1400">
                <a:solidFill>
                  <a:srgbClr val="1F2A37"/>
                </a:solidFill>
              </a:rPr>
              <a:t>The training loop is genuinely incremental and would scale unchanged to a file larger than RAM using pandas chunksize.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Team Contributions</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262042218"/>
              </p:ext>
            </p:extLst>
          </p:nvPr>
        </p:nvGraphicFramePr>
        <p:xfrm>
          <a:off x="731520" y="1371600"/>
          <a:ext cx="10698480" cy="45415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898648">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1097280">
                <a:tc>
                  <a:txBody>
                    <a:bodyPr/>
                    <a:lstStyle/>
                    <a:p>
                      <a:r>
                        <a:rPr sz="1800" b="1">
                          <a:solidFill>
                            <a:srgbClr val="FFFFFF"/>
                          </a:solidFill>
                          <a:latin typeface="Calibri (Body)"/>
                        </a:rPr>
                        <a:t>Member</a:t>
                      </a:r>
                    </a:p>
                  </a:txBody>
                  <a:tcPr marL="101600" marT="38100" marB="38100" anchor="ctr">
                    <a:solidFill>
                      <a:srgbClr val="2E5FA3"/>
                    </a:solidFill>
                  </a:tcPr>
                </a:tc>
                <a:tc>
                  <a:txBody>
                    <a:bodyPr/>
                    <a:lstStyle/>
                    <a:p>
                      <a:pPr algn="ctr"/>
                      <a:r>
                        <a:rPr sz="1800" b="1" dirty="0">
                          <a:solidFill>
                            <a:srgbClr val="FFFFFF"/>
                          </a:solidFill>
                          <a:latin typeface="Calibri (Body)"/>
                        </a:rPr>
                        <a:t>Focus</a:t>
                      </a:r>
                    </a:p>
                  </a:txBody>
                  <a:tcPr marL="101600" marT="38100" marB="38100" anchor="ctr">
                    <a:solidFill>
                      <a:srgbClr val="2E5FA3"/>
                    </a:solidFill>
                  </a:tcPr>
                </a:tc>
                <a:tc>
                  <a:txBody>
                    <a:bodyPr/>
                    <a:lstStyle/>
                    <a:p>
                      <a:pPr algn="ctr"/>
                      <a:r>
                        <a:rPr sz="1800" b="1" dirty="0">
                          <a:solidFill>
                            <a:srgbClr val="FFFFFF"/>
                          </a:solidFill>
                          <a:latin typeface="Calibri (Body)"/>
                        </a:rPr>
                        <a:t>Delivered</a:t>
                      </a:r>
                    </a:p>
                  </a:txBody>
                  <a:tcPr marL="101600" marT="38100" marB="38100" anchor="ctr">
                    <a:solidFill>
                      <a:srgbClr val="2E5FA3"/>
                    </a:solidFill>
                  </a:tcPr>
                </a:tc>
                <a:extLst>
                  <a:ext uri="{0D108BD9-81ED-4DB2-BD59-A6C34878D82A}">
                    <a16:rowId xmlns:a16="http://schemas.microsoft.com/office/drawing/2014/main" val="10000"/>
                  </a:ext>
                </a:extLst>
              </a:tr>
              <a:tr h="1097280">
                <a:tc>
                  <a:txBody>
                    <a:bodyPr/>
                    <a:lstStyle/>
                    <a:p>
                      <a:r>
                        <a:rPr sz="1800" dirty="0">
                          <a:solidFill>
                            <a:srgbClr val="1F2A37"/>
                          </a:solidFill>
                          <a:latin typeface="Calibri (Body)"/>
                        </a:rPr>
                        <a:t>Ansley</a:t>
                      </a:r>
                    </a:p>
                  </a:txBody>
                  <a:tcPr marL="101600" marT="38100" marB="38100" anchor="ctr">
                    <a:solidFill>
                      <a:srgbClr val="FFFFFF"/>
                    </a:solidFill>
                  </a:tcPr>
                </a:tc>
                <a:tc>
                  <a:txBody>
                    <a:bodyPr/>
                    <a:lstStyle/>
                    <a:p>
                      <a:pPr algn="ctr"/>
                      <a:r>
                        <a:rPr lang="en-US" sz="1800" dirty="0">
                          <a:solidFill>
                            <a:srgbClr val="1F2A37"/>
                          </a:solidFill>
                          <a:latin typeface="Calibri (Body)"/>
                        </a:rPr>
                        <a:t>Fine tune training model,</a:t>
                      </a:r>
                    </a:p>
                    <a:p>
                      <a:pPr algn="ctr"/>
                      <a:r>
                        <a:rPr lang="en-US" sz="1800" dirty="0">
                          <a:solidFill>
                            <a:srgbClr val="1F2A37"/>
                          </a:solidFill>
                          <a:latin typeface="Calibri (Body)"/>
                        </a:rPr>
                        <a:t>Finish </a:t>
                      </a:r>
                      <a:r>
                        <a:rPr sz="1800" dirty="0">
                          <a:solidFill>
                            <a:srgbClr val="1F2A37"/>
                          </a:solidFill>
                          <a:latin typeface="Calibri (Body)"/>
                        </a:rPr>
                        <a:t>training</a:t>
                      </a:r>
                      <a:r>
                        <a:rPr lang="en-US" sz="1800" dirty="0">
                          <a:solidFill>
                            <a:srgbClr val="1F2A37"/>
                          </a:solidFill>
                          <a:latin typeface="Calibri (Body)"/>
                        </a:rPr>
                        <a:t>/prediction,</a:t>
                      </a:r>
                    </a:p>
                    <a:p>
                      <a:pPr algn="ctr"/>
                      <a:r>
                        <a:rPr lang="en-US" sz="1800" dirty="0">
                          <a:solidFill>
                            <a:srgbClr val="1F2A37"/>
                          </a:solidFill>
                          <a:latin typeface="Calibri (Body)"/>
                        </a:rPr>
                        <a:t>Revise PowerPoint</a:t>
                      </a:r>
                      <a:endParaRPr sz="1800" dirty="0">
                        <a:solidFill>
                          <a:srgbClr val="1F2A37"/>
                        </a:solidFill>
                        <a:latin typeface="Calibri (Body)"/>
                      </a:endParaRPr>
                    </a:p>
                  </a:txBody>
                  <a:tcPr marL="101600" marT="38100" marB="38100" anchor="ctr">
                    <a:solidFill>
                      <a:srgbClr val="FFFFFF"/>
                    </a:solidFill>
                  </a:tcPr>
                </a:tc>
                <a:tc>
                  <a:txBody>
                    <a:bodyPr/>
                    <a:lstStyle/>
                    <a:p>
                      <a:pPr algn="ctr"/>
                      <a:r>
                        <a:rPr lang="en-US" sz="1800" kern="1200" dirty="0">
                          <a:solidFill>
                            <a:schemeClr val="dk1"/>
                          </a:solidFill>
                          <a:latin typeface="Calibri (Body)"/>
                          <a:ea typeface="+mn-ea"/>
                          <a:cs typeface="+mn-cs"/>
                        </a:rPr>
                        <a:t>Code optimization,</a:t>
                      </a:r>
                    </a:p>
                    <a:p>
                      <a:pPr algn="ctr"/>
                      <a:r>
                        <a:rPr lang="en-US" sz="1800" dirty="0">
                          <a:latin typeface="Calibri (Body)"/>
                        </a:rPr>
                        <a:t>F</a:t>
                      </a:r>
                      <a:r>
                        <a:rPr sz="1800" dirty="0">
                          <a:latin typeface="Calibri (Body)"/>
                        </a:rPr>
                        <a:t>ull-run execution</a:t>
                      </a:r>
                      <a:r>
                        <a:rPr lang="en-US" sz="1800" dirty="0">
                          <a:latin typeface="Calibri (Body)"/>
                        </a:rPr>
                        <a:t>,</a:t>
                      </a:r>
                    </a:p>
                    <a:p>
                      <a:pPr algn="ctr"/>
                      <a:r>
                        <a:rPr lang="en-US" sz="1800" dirty="0">
                          <a:latin typeface="Calibri (Body)"/>
                        </a:rPr>
                        <a:t>2</a:t>
                      </a:r>
                      <a:r>
                        <a:rPr lang="en-US" sz="1800" baseline="30000" dirty="0">
                          <a:latin typeface="Calibri (Body)"/>
                        </a:rPr>
                        <a:t>nd</a:t>
                      </a:r>
                      <a:r>
                        <a:rPr lang="en-US" sz="1800" dirty="0">
                          <a:latin typeface="Calibri (Body)"/>
                        </a:rPr>
                        <a:t> batch of Result</a:t>
                      </a:r>
                    </a:p>
                    <a:p>
                      <a:pPr algn="ctr"/>
                      <a:r>
                        <a:rPr lang="en-US" sz="1800" dirty="0">
                          <a:latin typeface="Calibri (Body)"/>
                        </a:rPr>
                        <a:t>Revised </a:t>
                      </a:r>
                      <a:r>
                        <a:rPr lang="en-US" sz="1800" dirty="0">
                          <a:solidFill>
                            <a:srgbClr val="1F2A37"/>
                          </a:solidFill>
                          <a:latin typeface="Calibri (Body)"/>
                        </a:rPr>
                        <a:t>PowerPoint</a:t>
                      </a:r>
                      <a:endParaRPr sz="1800" dirty="0">
                        <a:latin typeface="Calibri (Body)"/>
                      </a:endParaRPr>
                    </a:p>
                  </a:txBody>
                  <a:tcPr marL="101600" marT="38100" marB="38100" anchor="ctr">
                    <a:solidFill>
                      <a:srgbClr val="FFFFFF"/>
                    </a:solidFill>
                  </a:tcPr>
                </a:tc>
                <a:extLst>
                  <a:ext uri="{0D108BD9-81ED-4DB2-BD59-A6C34878D82A}">
                    <a16:rowId xmlns:a16="http://schemas.microsoft.com/office/drawing/2014/main" val="10001"/>
                  </a:ext>
                </a:extLst>
              </a:tr>
              <a:tr h="1097280">
                <a:tc>
                  <a:txBody>
                    <a:bodyPr/>
                    <a:lstStyle/>
                    <a:p>
                      <a:r>
                        <a:rPr sz="1800" dirty="0">
                          <a:solidFill>
                            <a:srgbClr val="1F2A37"/>
                          </a:solidFill>
                          <a:latin typeface="Calibri (Body)"/>
                        </a:rPr>
                        <a:t>Rebecca</a:t>
                      </a:r>
                    </a:p>
                  </a:txBody>
                  <a:tcPr marL="101600" marT="38100" marB="38100" anchor="ctr">
                    <a:solidFill>
                      <a:srgbClr val="F4F6FA"/>
                    </a:solidFill>
                  </a:tcPr>
                </a:tc>
                <a:tc>
                  <a:txBody>
                    <a:bodyPr/>
                    <a:lstStyle/>
                    <a:p>
                      <a:pPr algn="ctr"/>
                      <a:r>
                        <a:rPr lang="en-US" sz="1800" dirty="0">
                          <a:solidFill>
                            <a:srgbClr val="1F2A37"/>
                          </a:solidFill>
                          <a:latin typeface="Calibri (Body)"/>
                        </a:rPr>
                        <a:t>Create </a:t>
                      </a:r>
                      <a:r>
                        <a:rPr lang="en-US" sz="1800" dirty="0" err="1">
                          <a:solidFill>
                            <a:srgbClr val="1F2A37"/>
                          </a:solidFill>
                          <a:latin typeface="Calibri (Body)"/>
                        </a:rPr>
                        <a:t>Github</a:t>
                      </a:r>
                      <a:r>
                        <a:rPr lang="en-US" sz="1800" dirty="0">
                          <a:solidFill>
                            <a:srgbClr val="1F2A37"/>
                          </a:solidFill>
                          <a:latin typeface="Calibri (Body)"/>
                        </a:rPr>
                        <a:t> Team Repo,</a:t>
                      </a:r>
                    </a:p>
                    <a:p>
                      <a:pPr algn="ctr"/>
                      <a:r>
                        <a:rPr lang="en-US" sz="1800" dirty="0">
                          <a:solidFill>
                            <a:srgbClr val="1F2A37"/>
                          </a:solidFill>
                          <a:latin typeface="Calibri (Body)"/>
                        </a:rPr>
                        <a:t>Coordinate teamwork,</a:t>
                      </a:r>
                    </a:p>
                    <a:p>
                      <a:pPr algn="ctr"/>
                      <a:r>
                        <a:rPr lang="en-US" sz="1800" dirty="0">
                          <a:solidFill>
                            <a:srgbClr val="1F2A37"/>
                          </a:solidFill>
                          <a:latin typeface="Calibri (Body)"/>
                        </a:rPr>
                        <a:t>Initialize model,</a:t>
                      </a:r>
                    </a:p>
                    <a:p>
                      <a:pPr algn="ctr"/>
                      <a:r>
                        <a:rPr lang="en-US" sz="1800" dirty="0">
                          <a:solidFill>
                            <a:srgbClr val="1F2A37"/>
                          </a:solidFill>
                          <a:latin typeface="Calibri (Body)"/>
                        </a:rPr>
                        <a:t>Revise PowerPoint</a:t>
                      </a:r>
                      <a:endParaRPr sz="1800" dirty="0">
                        <a:solidFill>
                          <a:srgbClr val="1F2A37"/>
                        </a:solidFill>
                        <a:latin typeface="Calibri (Body)"/>
                      </a:endParaRPr>
                    </a:p>
                  </a:txBody>
                  <a:tcPr marL="101600" marT="38100" marB="38100" anchor="ctr">
                    <a:solidFill>
                      <a:srgbClr val="F4F6FA"/>
                    </a:solidFill>
                  </a:tcPr>
                </a:tc>
                <a:tc>
                  <a:txBody>
                    <a:bodyPr/>
                    <a:lstStyle/>
                    <a:p>
                      <a:pPr algn="ctr"/>
                      <a:r>
                        <a:rPr lang="en-US" sz="1800" kern="1200" dirty="0">
                          <a:solidFill>
                            <a:schemeClr val="dk1"/>
                          </a:solidFill>
                          <a:latin typeface="Calibri (Body)"/>
                          <a:ea typeface="+mn-ea"/>
                          <a:cs typeface="+mn-cs"/>
                        </a:rPr>
                        <a:t>Team Repo,</a:t>
                      </a:r>
                    </a:p>
                    <a:p>
                      <a:pPr algn="ctr"/>
                      <a:r>
                        <a:rPr sz="1800" kern="1200" dirty="0">
                          <a:solidFill>
                            <a:schemeClr val="dk1"/>
                          </a:solidFill>
                          <a:latin typeface="Calibri (Body)"/>
                          <a:ea typeface="+mn-ea"/>
                          <a:cs typeface="+mn-cs"/>
                        </a:rPr>
                        <a:t>Architecture design and </a:t>
                      </a:r>
                      <a:r>
                        <a:rPr lang="en-US" sz="1800" kern="1200" dirty="0">
                          <a:solidFill>
                            <a:schemeClr val="dk1"/>
                          </a:solidFill>
                          <a:latin typeface="Calibri (Body)"/>
                          <a:ea typeface="+mn-ea"/>
                          <a:cs typeface="+mn-cs"/>
                        </a:rPr>
                        <a:t>the code skeleton,</a:t>
                      </a:r>
                    </a:p>
                    <a:p>
                      <a:pPr algn="ctr"/>
                      <a:r>
                        <a:rPr lang="en-US" sz="1800" kern="1200" dirty="0">
                          <a:solidFill>
                            <a:schemeClr val="dk1"/>
                          </a:solidFill>
                          <a:latin typeface="Calibri (Body)"/>
                          <a:ea typeface="+mn-ea"/>
                          <a:cs typeface="+mn-cs"/>
                        </a:rPr>
                        <a:t>1st result,</a:t>
                      </a:r>
                    </a:p>
                    <a:p>
                      <a:pPr algn="ctr"/>
                      <a:r>
                        <a:rPr lang="en-US" sz="1800" kern="1200" dirty="0">
                          <a:solidFill>
                            <a:schemeClr val="dk1"/>
                          </a:solidFill>
                          <a:latin typeface="Calibri (Body)"/>
                          <a:ea typeface="+mn-ea"/>
                          <a:cs typeface="+mn-cs"/>
                        </a:rPr>
                        <a:t>Revised </a:t>
                      </a:r>
                      <a:r>
                        <a:rPr lang="en-US" sz="1800" kern="1200" dirty="0" err="1">
                          <a:solidFill>
                            <a:schemeClr val="dk1"/>
                          </a:solidFill>
                          <a:latin typeface="Calibri (Body)"/>
                          <a:ea typeface="+mn-ea"/>
                          <a:cs typeface="+mn-cs"/>
                        </a:rPr>
                        <a:t>Powerpoint</a:t>
                      </a:r>
                      <a:endParaRPr sz="1800" kern="1200" dirty="0">
                        <a:solidFill>
                          <a:schemeClr val="dk1"/>
                        </a:solidFill>
                        <a:latin typeface="Calibri (Body)"/>
                        <a:ea typeface="+mn-ea"/>
                        <a:cs typeface="+mn-cs"/>
                      </a:endParaRPr>
                    </a:p>
                  </a:txBody>
                  <a:tcPr marL="101600" marT="38100" marB="38100" anchor="ctr">
                    <a:solidFill>
                      <a:srgbClr val="F4F6FA"/>
                    </a:solidFill>
                  </a:tcPr>
                </a:tc>
                <a:extLst>
                  <a:ext uri="{0D108BD9-81ED-4DB2-BD59-A6C34878D82A}">
                    <a16:rowId xmlns:a16="http://schemas.microsoft.com/office/drawing/2014/main" val="10002"/>
                  </a:ext>
                </a:extLst>
              </a:tr>
              <a:tr h="1097280">
                <a:tc>
                  <a:txBody>
                    <a:bodyPr/>
                    <a:lstStyle/>
                    <a:p>
                      <a:r>
                        <a:rPr sz="1800">
                          <a:solidFill>
                            <a:srgbClr val="1F2A37"/>
                          </a:solidFill>
                          <a:latin typeface="Calibri (Body)"/>
                        </a:rPr>
                        <a:t>Ximin</a:t>
                      </a:r>
                    </a:p>
                  </a:txBody>
                  <a:tcPr marL="101600" marT="38100" marB="38100" anchor="ctr">
                    <a:solidFill>
                      <a:srgbClr val="FFFFFF"/>
                    </a:solidFill>
                  </a:tcPr>
                </a:tc>
                <a:tc>
                  <a:txBody>
                    <a:bodyPr/>
                    <a:lstStyle/>
                    <a:p>
                      <a:pPr algn="ctr"/>
                      <a:r>
                        <a:rPr sz="1800" dirty="0">
                          <a:solidFill>
                            <a:srgbClr val="1F2A37"/>
                          </a:solidFill>
                          <a:latin typeface="Calibri (Body)"/>
                        </a:rPr>
                        <a:t>Testing</a:t>
                      </a:r>
                      <a:r>
                        <a:rPr lang="en-US" sz="1800" dirty="0">
                          <a:solidFill>
                            <a:srgbClr val="1F2A37"/>
                          </a:solidFill>
                          <a:latin typeface="Calibri (Body)"/>
                        </a:rPr>
                        <a:t> &amp;evaluation,</a:t>
                      </a:r>
                    </a:p>
                    <a:p>
                      <a:pPr algn="ctr"/>
                      <a:r>
                        <a:rPr lang="en-US" sz="1800" dirty="0">
                          <a:solidFill>
                            <a:srgbClr val="1F2A37"/>
                          </a:solidFill>
                          <a:latin typeface="Calibri (Body)"/>
                        </a:rPr>
                        <a:t>D</a:t>
                      </a:r>
                      <a:r>
                        <a:rPr sz="1800" dirty="0">
                          <a:solidFill>
                            <a:srgbClr val="1F2A37"/>
                          </a:solidFill>
                          <a:latin typeface="Calibri (Body)"/>
                        </a:rPr>
                        <a:t>ocumentation</a:t>
                      </a:r>
                      <a:r>
                        <a:rPr lang="en-US" sz="1800" dirty="0">
                          <a:solidFill>
                            <a:srgbClr val="1F2A37"/>
                          </a:solidFill>
                          <a:latin typeface="Calibri (Body)"/>
                        </a:rPr>
                        <a:t>,</a:t>
                      </a:r>
                    </a:p>
                    <a:p>
                      <a:pPr algn="ctr"/>
                      <a:r>
                        <a:rPr lang="en-US" sz="1800" dirty="0">
                          <a:solidFill>
                            <a:srgbClr val="1F2A37"/>
                          </a:solidFill>
                          <a:latin typeface="Calibri (Body)"/>
                        </a:rPr>
                        <a:t>Create PowerPoint slides</a:t>
                      </a:r>
                      <a:endParaRPr sz="1800" dirty="0">
                        <a:solidFill>
                          <a:srgbClr val="1F2A37"/>
                        </a:solidFill>
                        <a:latin typeface="Calibri (Body)"/>
                      </a:endParaRPr>
                    </a:p>
                  </a:txBody>
                  <a:tcPr marL="101600" marT="38100" marB="38100" anchor="ctr">
                    <a:solidFill>
                      <a:srgbClr val="FFFFFF"/>
                    </a:solidFill>
                  </a:tcPr>
                </a:tc>
                <a:tc>
                  <a:txBody>
                    <a:bodyPr/>
                    <a:lstStyle/>
                    <a:p>
                      <a:pPr algn="ctr"/>
                      <a:r>
                        <a:rPr lang="en-US" sz="1800" kern="1200" dirty="0">
                          <a:solidFill>
                            <a:schemeClr val="dk1"/>
                          </a:solidFill>
                          <a:latin typeface="Calibri (Body)"/>
                          <a:ea typeface="+mn-ea"/>
                          <a:cs typeface="+mn-cs"/>
                        </a:rPr>
                        <a:t>Documentation</a:t>
                      </a:r>
                    </a:p>
                    <a:p>
                      <a:pPr algn="ctr"/>
                      <a:r>
                        <a:rPr lang="en-US" sz="1800" dirty="0">
                          <a:solidFill>
                            <a:srgbClr val="1F2A37"/>
                          </a:solidFill>
                          <a:latin typeface="Calibri (Body)"/>
                        </a:rPr>
                        <a:t>Revised PowerPoint</a:t>
                      </a:r>
                      <a:endParaRPr sz="1800" kern="1200" dirty="0">
                        <a:solidFill>
                          <a:schemeClr val="dk1"/>
                        </a:solidFill>
                        <a:latin typeface="Calibri (Body)"/>
                        <a:ea typeface="+mn-ea"/>
                        <a:cs typeface="+mn-cs"/>
                      </a:endParaRP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What We Learned &amp; What We'd Do Next</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49240" cy="411480"/>
          </a:xfrm>
          <a:prstGeom prst="rect">
            <a:avLst/>
          </a:prstGeom>
          <a:noFill/>
        </p:spPr>
        <p:txBody>
          <a:bodyPr wrap="square" anchor="t">
            <a:spAutoFit/>
          </a:bodyPr>
          <a:lstStyle/>
          <a:p>
            <a:pPr algn="l">
              <a:lnSpc>
                <a:spcPct val="100000"/>
              </a:lnSpc>
            </a:pPr>
            <a:r>
              <a:rPr sz="1900" b="1">
                <a:solidFill>
                  <a:srgbClr val="2F855A"/>
                </a:solidFill>
                <a:latin typeface="Calibri"/>
              </a:rPr>
              <a:t>What worked</a:t>
            </a:r>
          </a:p>
        </p:txBody>
      </p:sp>
      <p:sp>
        <p:nvSpPr>
          <p:cNvPr id="6" name="TextBox 5"/>
          <p:cNvSpPr txBox="1"/>
          <p:nvPr/>
        </p:nvSpPr>
        <p:spPr>
          <a:xfrm>
            <a:off x="731520" y="1691640"/>
            <a:ext cx="5349240" cy="3108960"/>
          </a:xfrm>
          <a:prstGeom prst="rect">
            <a:avLst/>
          </a:prstGeom>
          <a:noFill/>
        </p:spPr>
        <p:txBody>
          <a:bodyPr wrap="square">
            <a:spAutoFit/>
          </a:bodyPr>
          <a:lstStyle/>
          <a:p>
            <a:pPr>
              <a:spcAft>
                <a:spcPts val="1300"/>
              </a:spcAft>
            </a:pPr>
            <a:r>
              <a:rPr sz="1550">
                <a:solidFill>
                  <a:srgbClr val="1F2A37"/>
                </a:solidFill>
                <a:latin typeface="Calibri"/>
              </a:rPr>
              <a:t>•  Mini-batch updates keep RAM flat</a:t>
            </a:r>
          </a:p>
          <a:p>
            <a:pPr>
              <a:spcAft>
                <a:spcPts val="1300"/>
              </a:spcAft>
            </a:pPr>
            <a:r>
              <a:rPr sz="1550">
                <a:solidFill>
                  <a:srgbClr val="1F2A37"/>
                </a:solidFill>
                <a:latin typeface="Calibri"/>
              </a:rPr>
              <a:t>•  Target scaling mattered most (+0.17 R²)</a:t>
            </a:r>
          </a:p>
          <a:p>
            <a:pPr>
              <a:spcAft>
                <a:spcPts val="1300"/>
              </a:spcAft>
            </a:pPr>
            <a:r>
              <a:rPr sz="1550">
                <a:solidFill>
                  <a:srgbClr val="1F2A37"/>
                </a:solidFill>
                <a:latin typeface="Calibri"/>
              </a:rPr>
              <a:t>•  Beat linear regression by 0.16 R²</a:t>
            </a:r>
          </a:p>
          <a:p>
            <a:pPr>
              <a:spcAft>
                <a:spcPts val="1300"/>
              </a:spcAft>
            </a:pPr>
            <a:r>
              <a:rPr sz="1550">
                <a:solidFill>
                  <a:srgbClr val="1F2A37"/>
                </a:solidFill>
                <a:latin typeface="Calibri"/>
              </a:rPr>
              <a:t>•  Clean split — no leakage, no overfitting</a:t>
            </a:r>
          </a:p>
        </p:txBody>
      </p:sp>
      <p:sp>
        <p:nvSpPr>
          <p:cNvPr id="7" name="TextBox 6"/>
          <p:cNvSpPr txBox="1"/>
          <p:nvPr/>
        </p:nvSpPr>
        <p:spPr>
          <a:xfrm>
            <a:off x="6400800" y="1234440"/>
            <a:ext cx="5120640" cy="411480"/>
          </a:xfrm>
          <a:prstGeom prst="rect">
            <a:avLst/>
          </a:prstGeom>
          <a:noFill/>
        </p:spPr>
        <p:txBody>
          <a:bodyPr wrap="square" anchor="t">
            <a:spAutoFit/>
          </a:bodyPr>
          <a:lstStyle/>
          <a:p>
            <a:pPr algn="l">
              <a:lnSpc>
                <a:spcPct val="100000"/>
              </a:lnSpc>
            </a:pPr>
            <a:r>
              <a:rPr sz="1900" b="1">
                <a:solidFill>
                  <a:srgbClr val="C05621"/>
                </a:solidFill>
                <a:latin typeface="Calibri"/>
              </a:rPr>
              <a:t>Known limitations</a:t>
            </a:r>
          </a:p>
        </p:txBody>
      </p:sp>
      <p:sp>
        <p:nvSpPr>
          <p:cNvPr id="8" name="TextBox 7"/>
          <p:cNvSpPr txBox="1"/>
          <p:nvPr/>
        </p:nvSpPr>
        <p:spPr>
          <a:xfrm>
            <a:off x="6400800" y="1691640"/>
            <a:ext cx="5120640" cy="3108960"/>
          </a:xfrm>
          <a:prstGeom prst="rect">
            <a:avLst/>
          </a:prstGeom>
          <a:noFill/>
        </p:spPr>
        <p:txBody>
          <a:bodyPr wrap="square">
            <a:spAutoFit/>
          </a:bodyPr>
          <a:lstStyle/>
          <a:p>
            <a:pPr>
              <a:spcAft>
                <a:spcPts val="1300"/>
              </a:spcAft>
            </a:pPr>
            <a:r>
              <a:rPr sz="1550">
                <a:solidFill>
                  <a:srgbClr val="1F2A37"/>
                </a:solidFill>
                <a:latin typeface="Calibri"/>
              </a:rPr>
              <a:t>•  Whole CSV read once, not chunked</a:t>
            </a:r>
          </a:p>
          <a:p>
            <a:pPr>
              <a:spcAft>
                <a:spcPts val="1300"/>
              </a:spcAft>
            </a:pPr>
            <a:r>
              <a:rPr sz="1550">
                <a:solidFill>
                  <a:srgbClr val="1F2A37"/>
                </a:solidFill>
                <a:latin typeface="Calibri"/>
              </a:rPr>
              <a:t>•  Single epoch — curve still descending</a:t>
            </a:r>
          </a:p>
          <a:p>
            <a:pPr>
              <a:spcAft>
                <a:spcPts val="1300"/>
              </a:spcAft>
            </a:pPr>
            <a:r>
              <a:rPr sz="1550">
                <a:solidFill>
                  <a:srgbClr val="1F2A37"/>
                </a:solidFill>
                <a:latin typeface="Calibri"/>
              </a:rPr>
              <a:t>•  sku / category scaled as if numeric</a:t>
            </a:r>
          </a:p>
          <a:p>
            <a:pPr>
              <a:spcAft>
                <a:spcPts val="1300"/>
              </a:spcAft>
            </a:pPr>
            <a:r>
              <a:rPr sz="1550">
                <a:solidFill>
                  <a:srgbClr val="1F2A37"/>
                </a:solidFill>
                <a:latin typeface="Calibri"/>
              </a:rPr>
              <a:t>•  Scaler not saved with the model</a:t>
            </a:r>
          </a:p>
        </p:txBody>
      </p:sp>
      <p:sp>
        <p:nvSpPr>
          <p:cNvPr id="9" name="TextBox 8"/>
          <p:cNvSpPr txBox="1"/>
          <p:nvPr/>
        </p:nvSpPr>
        <p:spPr>
          <a:xfrm>
            <a:off x="731520" y="4480560"/>
            <a:ext cx="10789920" cy="411480"/>
          </a:xfrm>
          <a:prstGeom prst="rect">
            <a:avLst/>
          </a:prstGeom>
          <a:noFill/>
        </p:spPr>
        <p:txBody>
          <a:bodyPr wrap="square" anchor="t">
            <a:spAutoFit/>
          </a:bodyPr>
          <a:lstStyle/>
          <a:p>
            <a:pPr algn="l">
              <a:lnSpc>
                <a:spcPct val="100000"/>
              </a:lnSpc>
            </a:pPr>
            <a:r>
              <a:rPr sz="1900" b="1">
                <a:solidFill>
                  <a:srgbClr val="2E5FA3"/>
                </a:solidFill>
                <a:latin typeface="Calibri"/>
              </a:rPr>
              <a:t>Next steps, measured not guessed</a:t>
            </a:r>
          </a:p>
        </p:txBody>
      </p:sp>
      <p:graphicFrame>
        <p:nvGraphicFramePr>
          <p:cNvPr id="10" name="Table 9"/>
          <p:cNvGraphicFramePr>
            <a:graphicFrameLocks noGrp="1"/>
          </p:cNvGraphicFramePr>
          <p:nvPr/>
        </p:nvGraphicFramePr>
        <p:xfrm>
          <a:off x="731520" y="4937760"/>
          <a:ext cx="10789920" cy="1371600"/>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57200">
                <a:tc>
                  <a:txBody>
                    <a:bodyPr/>
                    <a:lstStyle/>
                    <a:p>
                      <a:r>
                        <a:rPr sz="1350" b="1">
                          <a:solidFill>
                            <a:srgbClr val="FFFFFF"/>
                          </a:solidFill>
                          <a:latin typeface="Calibri"/>
                        </a:rPr>
                        <a:t>Change</a:t>
                      </a:r>
                    </a:p>
                  </a:txBody>
                  <a:tcPr marL="101600" marT="38100" marB="38100" anchor="ctr">
                    <a:solidFill>
                      <a:srgbClr val="2E5FA3"/>
                    </a:solidFill>
                  </a:tcPr>
                </a:tc>
                <a:tc>
                  <a:txBody>
                    <a:bodyPr/>
                    <a:lstStyle/>
                    <a:p>
                      <a:pPr algn="ctr"/>
                      <a:r>
                        <a:rPr sz="1350" b="1">
                          <a:solidFill>
                            <a:srgbClr val="FFFFFF"/>
                          </a:solidFill>
                          <a:latin typeface="Calibri"/>
                        </a:rPr>
                        <a:t>Expected test R²</a:t>
                      </a:r>
                    </a:p>
                  </a:txBody>
                  <a:tcPr marL="101600" marT="38100" marB="38100" anchor="ctr">
                    <a:solidFill>
                      <a:srgbClr val="2E5FA3"/>
                    </a:solidFill>
                  </a:tcPr>
                </a:tc>
                <a:tc>
                  <a:txBody>
                    <a:bodyPr/>
                    <a:lstStyle/>
                    <a:p>
                      <a:pPr algn="ctr"/>
                      <a:r>
                        <a:rPr sz="1350" b="1">
                          <a:solidFill>
                            <a:srgbClr val="FFFFFF"/>
                          </a:solidFill>
                          <a:latin typeface="Calibri"/>
                        </a:rPr>
                        <a:t>Note</a:t>
                      </a:r>
                    </a:p>
                  </a:txBody>
                  <a:tcPr marL="101600" marT="38100" marB="38100" anchor="ctr">
                    <a:solidFill>
                      <a:srgbClr val="2E5FA3"/>
                    </a:solidFill>
                  </a:tcPr>
                </a:tc>
                <a:extLst>
                  <a:ext uri="{0D108BD9-81ED-4DB2-BD59-A6C34878D82A}">
                    <a16:rowId xmlns:a16="http://schemas.microsoft.com/office/drawing/2014/main" val="10000"/>
                  </a:ext>
                </a:extLst>
              </a:tr>
              <a:tr h="457200">
                <a:tc>
                  <a:txBody>
                    <a:bodyPr/>
                    <a:lstStyle/>
                    <a:p>
                      <a:r>
                        <a:rPr sz="1350">
                          <a:solidFill>
                            <a:srgbClr val="1F2A37"/>
                          </a:solidFill>
                          <a:latin typeface="Calibri"/>
                        </a:rPr>
                        <a:t>Batch 256 + 10 epochs, lr 0.01</a:t>
                      </a:r>
                    </a:p>
                  </a:txBody>
                  <a:tcPr marL="101600" marT="38100" marB="38100" anchor="ctr">
                    <a:solidFill>
                      <a:srgbClr val="FFFFFF"/>
                    </a:solidFill>
                  </a:tcPr>
                </a:tc>
                <a:tc>
                  <a:txBody>
                    <a:bodyPr/>
                    <a:lstStyle/>
                    <a:p>
                      <a:pPr algn="ctr"/>
                      <a:r>
                        <a:rPr sz="1350">
                          <a:solidFill>
                            <a:srgbClr val="1F2A37"/>
                          </a:solidFill>
                          <a:latin typeface="Calibri"/>
                        </a:rPr>
                        <a:t>≈ 0.550</a:t>
                      </a:r>
                    </a:p>
                  </a:txBody>
                  <a:tcPr marL="101600" marT="38100" marB="38100" anchor="ctr">
                    <a:solidFill>
                      <a:srgbClr val="FFFFFF"/>
                    </a:solidFill>
                  </a:tcPr>
                </a:tc>
                <a:tc>
                  <a:txBody>
                    <a:bodyPr/>
                    <a:lstStyle/>
                    <a:p>
                      <a:pPr algn="ctr"/>
                      <a:r>
                        <a:rPr sz="1350">
                          <a:solidFill>
                            <a:srgbClr val="1F2A37"/>
                          </a:solidFill>
                          <a:latin typeface="Calibri"/>
                        </a:rPr>
                        <a:t>also ~2× faster</a:t>
                      </a:r>
                    </a:p>
                  </a:txBody>
                  <a:tcPr marL="101600" marT="38100" marB="38100" anchor="ctr">
                    <a:solidFill>
                      <a:srgbClr val="FFFFFF"/>
                    </a:solidFill>
                  </a:tcPr>
                </a:tc>
                <a:extLst>
                  <a:ext uri="{0D108BD9-81ED-4DB2-BD59-A6C34878D82A}">
                    <a16:rowId xmlns:a16="http://schemas.microsoft.com/office/drawing/2014/main" val="10001"/>
                  </a:ext>
                </a:extLst>
              </a:tr>
              <a:tr h="457200">
                <a:tc>
                  <a:txBody>
                    <a:bodyPr/>
                    <a:lstStyle/>
                    <a:p>
                      <a:r>
                        <a:rPr sz="1350">
                          <a:solidFill>
                            <a:srgbClr val="1F2A37"/>
                          </a:solidFill>
                          <a:latin typeface="Calibri"/>
                        </a:rPr>
                        <a:t>One-hot encode category</a:t>
                      </a:r>
                    </a:p>
                  </a:txBody>
                  <a:tcPr marL="101600" marT="38100" marB="38100" anchor="ctr">
                    <a:solidFill>
                      <a:srgbClr val="F4F6FA"/>
                    </a:solidFill>
                  </a:tcPr>
                </a:tc>
                <a:tc>
                  <a:txBody>
                    <a:bodyPr/>
                    <a:lstStyle/>
                    <a:p>
                      <a:pPr algn="ctr"/>
                      <a:r>
                        <a:rPr sz="1350">
                          <a:solidFill>
                            <a:srgbClr val="1F2A37"/>
                          </a:solidFill>
                          <a:latin typeface="Calibri"/>
                        </a:rPr>
                        <a:t>—</a:t>
                      </a:r>
                    </a:p>
                  </a:txBody>
                  <a:tcPr marL="101600" marT="38100" marB="38100" anchor="ctr">
                    <a:solidFill>
                      <a:srgbClr val="F4F6FA"/>
                    </a:solidFill>
                  </a:tcPr>
                </a:tc>
                <a:tc>
                  <a:txBody>
                    <a:bodyPr/>
                    <a:lstStyle/>
                    <a:p>
                      <a:pPr algn="ctr"/>
                      <a:r>
                        <a:rPr sz="1350">
                          <a:solidFill>
                            <a:srgbClr val="1F2A37"/>
                          </a:solidFill>
                          <a:latin typeface="Calibri"/>
                        </a:rPr>
                        <a:t>removes false ordering</a:t>
                      </a:r>
                    </a:p>
                  </a:txBody>
                  <a:tcPr marL="101600" marT="38100" marB="38100" anchor="ctr">
                    <a:solidFill>
                      <a:srgbClr val="F4F6FA"/>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1714</Words>
  <Application>Microsoft Office PowerPoint</Application>
  <PresentationFormat>Widescreen</PresentationFormat>
  <Paragraphs>221</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 (Body)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Ximin Zeng</dc:creator>
  <cp:keywords/>
  <dc:description>generated using python-pptx</dc:description>
  <cp:lastModifiedBy>xzeng3</cp:lastModifiedBy>
  <cp:revision>4</cp:revision>
  <dcterms:created xsi:type="dcterms:W3CDTF">2013-01-27T09:14:16Z</dcterms:created>
  <dcterms:modified xsi:type="dcterms:W3CDTF">2026-09-18T14:06:48Z</dcterms:modified>
  <cp:category/>
</cp:coreProperties>
</file>