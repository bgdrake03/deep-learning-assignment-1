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0B2E33"/>
                </a:solidFill>
                <a:latin typeface="Calibri"/>
              </a:rPr>
              <a:t>Accuracy against size of the shuffle window</a:t>
            </a:r>
          </a:p>
        </c:rich>
      </c:tx>
      <c:layout/>
      <c:overlay val="0"/>
    </c:title>
    <c:autoTitleDeleted val="0"/>
    <c:plotArea>
      <c:barChart>
        <c:barDir val="col"/>
        <c:grouping val="clustered"/>
        <c:varyColors val="0"/>
        <c:ser>
          <c:idx val="0"/>
          <c:order val="0"/>
          <c:tx>
            <c:strRef>
              <c:f>Sheet1!$B$1</c:f>
              <c:strCache>
                <c:ptCount val="1"/>
                <c:pt idx="0">
                  <c:v>Accuracy</c:v>
                </c:pt>
              </c:strCache>
            </c:strRef>
          </c:tx>
          <c:dPt>
            <c:idx val="0"/>
            <c:spPr>
              <a:solidFill>
                <a:srgbClr val="0E7C7B"/>
              </a:solidFill>
            </c:spPr>
          </c:dPt>
          <c:dPt>
            <c:idx val="1"/>
            <c:spPr>
              <a:solidFill>
                <a:srgbClr val="0E7C7B"/>
              </a:solidFill>
            </c:spPr>
          </c:dPt>
          <c:dPt>
            <c:idx val="2"/>
            <c:spPr>
              <a:solidFill>
                <a:srgbClr val="0E7C7B"/>
              </a:solidFill>
            </c:spPr>
          </c:dPt>
          <c:dPt>
            <c:idx val="3"/>
            <c:spPr>
              <a:solidFill>
                <a:srgbClr val="C9502F"/>
              </a:solidFill>
            </c:spPr>
          </c:dPt>
          <c:dPt>
            <c:idx val="4"/>
            <c:spPr>
              <a:solidFill>
                <a:srgbClr val="D6F5F3"/>
              </a:solidFill>
            </c:spPr>
          </c:dPt>
          <c:cat>
            <c:strRef>
              <c:f>Sheet1!$A$2:$A$6</c:f>
              <c:strCache>
                <c:ptCount val="5"/>
                <c:pt idx="0">
                  <c:v>no shuffle</c:v>
                </c:pt>
                <c:pt idx="1">
                  <c:v>50,000</c:v>
                </c:pt>
                <c:pt idx="2">
                  <c:v>100,000</c:v>
                </c:pt>
                <c:pt idx="3">
                  <c:v>200,000</c:v>
                </c:pt>
                <c:pt idx="4">
                  <c:v>400,000</c:v>
                </c:pt>
              </c:strCache>
            </c:strRef>
          </c:cat>
          <c:val>
            <c:numRef>
              <c:f>Sheet1!$B$2:$B$6</c:f>
              <c:numCache>
                <c:formatCode>General</c:formatCode>
                <c:ptCount val="5"/>
                <c:pt idx="0">
                  <c:v>0.4445</c:v>
                </c:pt>
                <c:pt idx="1">
                  <c:v>0.4478</c:v>
                </c:pt>
                <c:pt idx="2">
                  <c:v>0.5</c:v>
                </c:pt>
                <c:pt idx="3">
                  <c:v>0.5312</c:v>
                </c:pt>
                <c:pt idx="4">
                  <c:v>0.5406</c:v>
                </c:pt>
              </c:numCache>
            </c:numRef>
          </c:val>
        </c:ser>
        <c:dLbls>
          <c:numFmt formatCode="0.000" sourceLinked="0"/>
          <c:txPr>
            <a:bodyPr/>
            <a:lstStyle/>
            <a:p>
              <a:pPr>
                <a:defRPr sz="1300" b="1">
                  <a:solidFill>
                    <a:srgbClr val="1C3738"/>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txPr>
          <a:bodyPr/>
          <a:lstStyle/>
          <a:p>
            <a:pPr>
              <a:defRPr sz="1300">
                <a:solidFill>
                  <a:srgbClr val="557575"/>
                </a:solidFill>
                <a:latin typeface="Calibri"/>
              </a:defRPr>
            </a:pPr>
          </a:p>
        </c:txPr>
        <c:crossAx val="-2113994440"/>
        <c:crosses val="autoZero"/>
        <c:auto val="1"/>
        <c:lblAlgn val="ctr"/>
        <c:lblOffset val="100"/>
        <c:noMultiLvlLbl val="0"/>
      </c:catAx>
      <c:valAx>
        <c:axId val="-2113994440"/>
        <c:scaling>
          <c:max val="0.58"/>
          <c:min val="0.4"/>
        </c:scaling>
        <c:delete val="0"/>
        <c:axPos val="l"/>
        <c:majorGridlines>
          <c:spPr>
            <a:ln w="9525">
              <a:solidFill>
                <a:srgbClr val="DCE9E8"/>
              </a:solidFill>
            </a:ln>
          </c:spPr>
        </c:majorGridlines>
        <c:majorTickMark val="none"/>
        <c:minorTickMark val="none"/>
        <c:tickLblPos val="nextTo"/>
        <c:txPr>
          <a:bodyPr/>
          <a:lstStyle/>
          <a:p>
            <a:pPr>
              <a:defRPr sz="1200">
                <a:solidFill>
                  <a:srgbClr val="5575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job was to predict how many units a product sells, using a file we were told to treat as too big to fit in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why this matters. A retailer wants to know, before listing a product, how many units it will move. Everything else in the file is a clue.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rows. A product can appear more than once, because a new row is created each time it comes back into stock. Duration is how long it stayed listed before selling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point of the assignment. The file we were given is only 18 MB, but we had to build as though it were far too big to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usual approach loads the whole file, then trains. That needs a machine big enough for the file. We read one chunk, learn from it, discard it, and read the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you learn from a file you cannot open? In pieces. We read fifty thousand rows at a time and go through the file three times. The first pass only measures - running totals give us each column's mean and standard deviation without ever keeping a row. The second trains, in mini-batches of thirty-two. The third holds back twenty percent to test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small. Five inputs, then three hidden layers - sixty-four, thirty-two and sixteen units, all sigmoid, as the assignment specified. One linear output. Three thousand and nine parameters, trained with Adam at a learning rate of zero point zero zero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choices worth flagging. Sales run from one to four thousand one hundred and sixty-five, and numbers that large saturate the sigmoids, so we standardised the target and converted predictions back before scoring. The output layer had to stay linear, because a sigmoid caps at one. And third, we shuffle.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what nearly sank this. Moving from loading everything to reading in chunks dropped our test R-squared from point five four to point four four.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took a while to find. The file is sorted by product - row number and SKU correlate at point nine nine nine five. So fifty thousand consecutive rows are not a fair sample of the shop, they are a run of near-identical products. Gradient descent assumes each batch is representative. Ours were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cannot shuffle a file we cannot hold. So we fill a two hundred thousand row buffer, shuffle it, drain it in batches of thirty-two, then refill. About five megabytes, and a fixed number of rows, so it does not grow with the file. We swept it - no shuffle, point four four. A hundred thousand, point five zero. Two hundred thousand, point five three, matching a full shuffle.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did it work? Twelve and a half thousand updates later, Rebecca has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of 0.53. Train and test agree to within half a percent, so it is not memorising. Half the variation is still unexplained, which is honest for five columns and one pass over the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is how many records the model has seen. Error drops steeply early, then flattens. A second pass would help a little, but true incremental learning sees each record once.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Scrambling duration costs nearly all of our accuracy. Scrambling the product id costs essentially nothing, which means the model learned to ignore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panels say which direction each clue pushes the prediction, and how hard. Duration spans nearly 390 units of predicted sales. Product id spans less than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here. About 40 MB is allocated once, at the start, for the first chunk, the shuffle window and TensorFlow itself. After that, across 400,000 records, memory moves by only 10.7 MB. That is the evidence that nothing is accumulating.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was never the constraint. Memory was. The point of the last line is that the approach scales: more data costs more time, not more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one is the biggest missed opportunity, though the importance chart suggests the model already worked around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split the work three ways. Ximin set up the problem and the data and wrote the closing analysis, Ansley built the streaming pipeline and the model, Rebecca wrote the evaluation and produced the figures.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1737360"/>
            <a:ext cx="10332720" cy="960120"/>
          </a:xfrm>
          <a:prstGeom prst="rect">
            <a:avLst/>
          </a:prstGeom>
          <a:noFill/>
        </p:spPr>
        <p:txBody>
          <a:bodyPr wrap="square" anchor="t" lIns="0" rIns="0" tIns="0" bIns="0">
            <a:spAutoFit/>
          </a:bodyPr>
          <a:lstStyle/>
          <a:p>
            <a:pPr algn="l">
              <a:lnSpc>
                <a:spcPct val="100000"/>
              </a:lnSpc>
            </a:pPr>
            <a:r>
              <a:rPr sz="5400" b="1" i="0">
                <a:solidFill>
                  <a:srgbClr val="FFFFFF"/>
                </a:solidFill>
                <a:latin typeface="Cambria"/>
              </a:rPr>
              <a:t>Incremental Learning</a:t>
            </a:r>
          </a:p>
        </p:txBody>
      </p:sp>
      <p:sp>
        <p:nvSpPr>
          <p:cNvPr id="3" name="TextBox 2"/>
          <p:cNvSpPr txBox="1"/>
          <p:nvPr/>
        </p:nvSpPr>
        <p:spPr>
          <a:xfrm>
            <a:off x="914400" y="2633472"/>
            <a:ext cx="10332720" cy="960120"/>
          </a:xfrm>
          <a:prstGeom prst="rect">
            <a:avLst/>
          </a:prstGeom>
          <a:noFill/>
        </p:spPr>
        <p:txBody>
          <a:bodyPr wrap="square" anchor="t" lIns="0" rIns="0" tIns="0" bIns="0">
            <a:spAutoFit/>
          </a:bodyPr>
          <a:lstStyle/>
          <a:p>
            <a:pPr algn="l">
              <a:lnSpc>
                <a:spcPct val="100000"/>
              </a:lnSpc>
            </a:pPr>
            <a:r>
              <a:rPr sz="5400" b="1" i="0">
                <a:solidFill>
                  <a:srgbClr val="17BEBB"/>
                </a:solidFill>
                <a:latin typeface="Cambria"/>
              </a:rPr>
              <a:t>on Large Data</a:t>
            </a:r>
          </a:p>
        </p:txBody>
      </p:sp>
      <p:sp>
        <p:nvSpPr>
          <p:cNvPr id="4" name="TextBox 3"/>
          <p:cNvSpPr txBox="1"/>
          <p:nvPr/>
        </p:nvSpPr>
        <p:spPr>
          <a:xfrm>
            <a:off x="914400" y="3749039"/>
            <a:ext cx="10332720" cy="457200"/>
          </a:xfrm>
          <a:prstGeom prst="rect">
            <a:avLst/>
          </a:prstGeom>
          <a:noFill/>
        </p:spPr>
        <p:txBody>
          <a:bodyPr wrap="square" anchor="t" lIns="0" rIns="0" tIns="0" bIns="0">
            <a:spAutoFit/>
          </a:bodyPr>
          <a:lstStyle/>
          <a:p>
            <a:pPr algn="l">
              <a:lnSpc>
                <a:spcPct val="100000"/>
              </a:lnSpc>
            </a:pPr>
            <a:r>
              <a:rPr sz="2100" b="0" i="0">
                <a:solidFill>
                  <a:srgbClr val="D6F5F3"/>
                </a:solidFill>
                <a:latin typeface="Calibri"/>
              </a:rPr>
              <a:t>Teaching a model to predict sales from a file too big to open</a:t>
            </a:r>
          </a:p>
        </p:txBody>
      </p:sp>
      <p:sp>
        <p:nvSpPr>
          <p:cNvPr id="5" name="TextBox 4"/>
          <p:cNvSpPr txBox="1"/>
          <p:nvPr/>
        </p:nvSpPr>
        <p:spPr>
          <a:xfrm>
            <a:off x="914400" y="4892040"/>
            <a:ext cx="4572000" cy="365760"/>
          </a:xfrm>
          <a:prstGeom prst="rect">
            <a:avLst/>
          </a:prstGeom>
          <a:noFill/>
        </p:spPr>
        <p:txBody>
          <a:bodyPr wrap="square" anchor="t" lIns="0" rIns="0" tIns="0" bIns="0">
            <a:spAutoFit/>
          </a:bodyPr>
          <a:lstStyle/>
          <a:p>
            <a:pPr algn="l">
              <a:lnSpc>
                <a:spcPct val="100000"/>
              </a:lnSpc>
            </a:pPr>
            <a:r>
              <a:rPr sz="1700" b="1" i="0">
                <a:solidFill>
                  <a:srgbClr val="F2825B"/>
                </a:solidFill>
                <a:latin typeface="Calibri"/>
              </a:rPr>
              <a:t>GROUP 7</a:t>
            </a:r>
          </a:p>
        </p:txBody>
      </p:sp>
      <p:sp>
        <p:nvSpPr>
          <p:cNvPr id="6" name="TextBox 5"/>
          <p:cNvSpPr txBox="1"/>
          <p:nvPr/>
        </p:nvSpPr>
        <p:spPr>
          <a:xfrm>
            <a:off x="914400" y="5285232"/>
            <a:ext cx="8229600" cy="365760"/>
          </a:xfrm>
          <a:prstGeom prst="rect">
            <a:avLst/>
          </a:prstGeom>
          <a:noFill/>
        </p:spPr>
        <p:txBody>
          <a:bodyPr wrap="square" anchor="t" lIns="0" rIns="0" tIns="0" bIns="0">
            <a:spAutoFit/>
          </a:bodyPr>
          <a:lstStyle/>
          <a:p>
            <a:pPr algn="l">
              <a:lnSpc>
                <a:spcPct val="100000"/>
              </a:lnSpc>
            </a:pPr>
            <a:r>
              <a:rPr sz="1800" b="0" i="0">
                <a:solidFill>
                  <a:srgbClr val="FFFFFF"/>
                </a:solidFill>
                <a:latin typeface="Calibri"/>
              </a:rPr>
              <a:t>Ansley Smith   ·   Rebecca Drake   ·   Ximin Zeng</a:t>
            </a:r>
          </a:p>
        </p:txBody>
      </p:sp>
      <p:sp>
        <p:nvSpPr>
          <p:cNvPr id="7" name="TextBox 6"/>
          <p:cNvSpPr txBox="1"/>
          <p:nvPr/>
        </p:nvSpPr>
        <p:spPr>
          <a:xfrm>
            <a:off x="914400" y="5705856"/>
            <a:ext cx="8229600" cy="365760"/>
          </a:xfrm>
          <a:prstGeom prst="rect">
            <a:avLst/>
          </a:prstGeom>
          <a:noFill/>
        </p:spPr>
        <p:txBody>
          <a:bodyPr wrap="square" anchor="t" lIns="0" rIns="0" tIns="0" bIns="0">
            <a:spAutoFit/>
          </a:bodyPr>
          <a:lstStyle/>
          <a:p>
            <a:pPr algn="l">
              <a:lnSpc>
                <a:spcPct val="100000"/>
              </a:lnSpc>
            </a:pPr>
            <a:r>
              <a:rPr sz="1500" b="0" i="0">
                <a:solidFill>
                  <a:srgbClr val="8FB5B5"/>
                </a:solidFill>
                <a:latin typeface="Calibri"/>
              </a:rPr>
              <a:t>BZAN 554  ·  Deep Learning  ·  Group Assignment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WHY ANYONE CARES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question: how many will this sell?</a:t>
            </a:r>
          </a:p>
        </p:txBody>
      </p:sp>
      <p:sp>
        <p:nvSpPr>
          <p:cNvPr id="4" name="TextBox 3"/>
          <p:cNvSpPr txBox="1"/>
          <p:nvPr/>
        </p:nvSpPr>
        <p:spPr>
          <a:xfrm>
            <a:off x="594360" y="1828800"/>
            <a:ext cx="6675120" cy="23774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An online retailer lists thousands of products. Each one sits on the site for a while, sells some number of units, then goes out of stock.</a:t>
            </a:r>
          </a:p>
        </p:txBody>
      </p:sp>
      <p:sp>
        <p:nvSpPr>
          <p:cNvPr id="5" name="TextBox 4"/>
          <p:cNvSpPr txBox="1"/>
          <p:nvPr/>
        </p:nvSpPr>
        <p:spPr>
          <a:xfrm>
            <a:off x="594360" y="3291840"/>
            <a:ext cx="6675120" cy="14630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If you could predict how many units a product will sell before you list it, you would know how much to stock and what to charge.</a:t>
            </a:r>
          </a:p>
        </p:txBody>
      </p:sp>
      <p:sp>
        <p:nvSpPr>
          <p:cNvPr id="6" name="Rounded Rectangle 5"/>
          <p:cNvSpPr/>
          <p:nvPr/>
        </p:nvSpPr>
        <p:spPr>
          <a:xfrm>
            <a:off x="7772400" y="1828800"/>
            <a:ext cx="3840480" cy="210312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45552" y="2102205"/>
            <a:ext cx="3694176" cy="1051560"/>
          </a:xfrm>
          <a:prstGeom prst="rect">
            <a:avLst/>
          </a:prstGeom>
          <a:noFill/>
        </p:spPr>
        <p:txBody>
          <a:bodyPr wrap="square" anchor="ctr" lIns="0" rIns="0" tIns="0" bIns="0">
            <a:spAutoFit/>
          </a:bodyPr>
          <a:lstStyle/>
          <a:p>
            <a:pPr algn="ctr">
              <a:lnSpc>
                <a:spcPct val="100000"/>
              </a:lnSpc>
            </a:pPr>
            <a:r>
              <a:rPr sz="3600" b="1" i="0">
                <a:solidFill>
                  <a:srgbClr val="17BEBB"/>
                </a:solidFill>
                <a:latin typeface="Cambria"/>
              </a:rPr>
              <a:t>quantity</a:t>
            </a:r>
          </a:p>
        </p:txBody>
      </p:sp>
      <p:sp>
        <p:nvSpPr>
          <p:cNvPr id="8" name="TextBox 7"/>
          <p:cNvSpPr txBox="1"/>
          <p:nvPr/>
        </p:nvSpPr>
        <p:spPr>
          <a:xfrm>
            <a:off x="7882127" y="3216859"/>
            <a:ext cx="3621024" cy="630936"/>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the number we are predicting</a:t>
            </a:r>
          </a:p>
        </p:txBody>
      </p:sp>
      <p:sp>
        <p:nvSpPr>
          <p:cNvPr id="9" name="TextBox 8"/>
          <p:cNvSpPr txBox="1"/>
          <p:nvPr/>
        </p:nvSpPr>
        <p:spPr>
          <a:xfrm>
            <a:off x="7772400" y="4206240"/>
            <a:ext cx="3840480" cy="1097280"/>
          </a:xfrm>
          <a:prstGeom prst="rect">
            <a:avLst/>
          </a:prstGeom>
          <a:noFill/>
        </p:spPr>
        <p:txBody>
          <a:bodyPr wrap="square" anchor="t" lIns="0" rIns="0" tIns="0" bIns="0">
            <a:spAutoFit/>
          </a:bodyPr>
          <a:lstStyle/>
          <a:p>
            <a:pPr algn="l">
              <a:lnSpc>
                <a:spcPct val="120000"/>
              </a:lnSpc>
            </a:pPr>
            <a:r>
              <a:rPr sz="1700" b="1" i="0">
                <a:solidFill>
                  <a:srgbClr val="C9502F"/>
                </a:solidFill>
                <a:latin typeface="Calibri"/>
              </a:rPr>
              <a:t>Everything else in the data is a clue we are allowed to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THE DATA LOOKS LIKE</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Each row is one product, for one spell in stock</a:t>
            </a:r>
          </a:p>
        </p:txBody>
      </p:sp>
      <p:graphicFrame>
        <p:nvGraphicFramePr>
          <p:cNvPr id="4" name="Table 3"/>
          <p:cNvGraphicFramePr>
            <a:graphicFrameLocks noGrp="1"/>
          </p:cNvGraphicFramePr>
          <p:nvPr/>
        </p:nvGraphicFramePr>
        <p:xfrm>
          <a:off x="594360" y="1737360"/>
          <a:ext cx="6675120" cy="1828800"/>
        </p:xfrm>
        <a:graphic>
          <a:graphicData uri="http://schemas.openxmlformats.org/drawingml/2006/table">
            <a:tbl>
              <a:tblPr firstRow="1" bandRow="1">
                <a:tableStyleId>{5C22544A-7EE6-4342-B048-85BDC9FD1C3A}</a:tableStyleId>
              </a:tblPr>
              <a:tblGrid>
                <a:gridCol w="960120"/>
                <a:gridCol w="1051560"/>
                <a:gridCol w="1005840"/>
                <a:gridCol w="1234440"/>
                <a:gridCol w="1280160"/>
                <a:gridCol w="1143000"/>
              </a:tblGrid>
              <a:tr h="457200">
                <a:tc>
                  <a:txBody>
                    <a:bodyPr/>
                    <a:lstStyle/>
                    <a:p>
                      <a:pPr algn="ctr"/>
                      <a:r>
                        <a:rPr sz="1500" b="1">
                          <a:solidFill>
                            <a:srgbClr val="FFFFFF"/>
                          </a:solidFill>
                          <a:latin typeface="Calibri"/>
                        </a:rPr>
                        <a:t>sku</a:t>
                      </a:r>
                    </a:p>
                  </a:txBody>
                  <a:tcPr anchor="ctr">
                    <a:solidFill>
                      <a:srgbClr val="0B2E33"/>
                    </a:solidFill>
                  </a:tcPr>
                </a:tc>
                <a:tc>
                  <a:txBody>
                    <a:bodyPr/>
                    <a:lstStyle/>
                    <a:p>
                      <a:pPr algn="ctr"/>
                      <a:r>
                        <a:rPr sz="1500" b="1">
                          <a:solidFill>
                            <a:srgbClr val="FFFFFF"/>
                          </a:solidFill>
                          <a:latin typeface="Calibri"/>
                        </a:rPr>
                        <a:t>price</a:t>
                      </a:r>
                    </a:p>
                  </a:txBody>
                  <a:tcPr anchor="ctr">
                    <a:solidFill>
                      <a:srgbClr val="0B2E33"/>
                    </a:solidFill>
                  </a:tcPr>
                </a:tc>
                <a:tc>
                  <a:txBody>
                    <a:bodyPr/>
                    <a:lstStyle/>
                    <a:p>
                      <a:pPr algn="ctr"/>
                      <a:r>
                        <a:rPr sz="1500" b="1">
                          <a:solidFill>
                            <a:srgbClr val="FFFFFF"/>
                          </a:solidFill>
                          <a:latin typeface="Calibri"/>
                        </a:rPr>
                        <a:t>order</a:t>
                      </a:r>
                    </a:p>
                  </a:txBody>
                  <a:tcPr anchor="ctr">
                    <a:solidFill>
                      <a:srgbClr val="0B2E33"/>
                    </a:solidFill>
                  </a:tcPr>
                </a:tc>
                <a:tc>
                  <a:txBody>
                    <a:bodyPr/>
                    <a:lstStyle/>
                    <a:p>
                      <a:pPr algn="ctr"/>
                      <a:r>
                        <a:rPr sz="1500" b="1">
                          <a:solidFill>
                            <a:srgbClr val="FFFFFF"/>
                          </a:solidFill>
                          <a:latin typeface="Calibri"/>
                        </a:rPr>
                        <a:t>duration</a:t>
                      </a:r>
                    </a:p>
                  </a:txBody>
                  <a:tcPr anchor="ctr">
                    <a:solidFill>
                      <a:srgbClr val="0B2E33"/>
                    </a:solidFill>
                  </a:tcPr>
                </a:tc>
                <a:tc>
                  <a:txBody>
                    <a:bodyPr/>
                    <a:lstStyle/>
                    <a:p>
                      <a:pPr algn="ctr"/>
                      <a:r>
                        <a:rPr sz="1500" b="1">
                          <a:solidFill>
                            <a:srgbClr val="FFFFFF"/>
                          </a:solidFill>
                          <a:latin typeface="Calibri"/>
                        </a:rPr>
                        <a:t>category</a:t>
                      </a:r>
                    </a:p>
                  </a:txBody>
                  <a:tcPr anchor="ctr">
                    <a:solidFill>
                      <a:srgbClr val="0B2E33"/>
                    </a:solidFill>
                  </a:tcPr>
                </a:tc>
                <a:tc>
                  <a:txBody>
                    <a:bodyPr/>
                    <a:lstStyle/>
                    <a:p>
                      <a:pPr algn="ctr"/>
                      <a:r>
                        <a:rPr sz="1500" b="1">
                          <a:solidFill>
                            <a:srgbClr val="FFFFFF"/>
                          </a:solidFill>
                          <a:latin typeface="Calibri"/>
                        </a:rPr>
                        <a:t>quantity</a:t>
                      </a:r>
                    </a:p>
                  </a:txBody>
                  <a:tcPr anchor="ctr">
                    <a:solidFill>
                      <a:srgbClr val="0B2E3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0</a:t>
                      </a:r>
                    </a:p>
                  </a:txBody>
                  <a:tcPr anchor="ctr">
                    <a:solidFill>
                      <a:srgbClr val="FFFFFF"/>
                    </a:solidFill>
                  </a:tcPr>
                </a:tc>
                <a:tc>
                  <a:txBody>
                    <a:bodyPr/>
                    <a:lstStyle/>
                    <a:p>
                      <a:pPr algn="ctr"/>
                      <a:r>
                        <a:rPr sz="1500" b="0">
                          <a:solidFill>
                            <a:srgbClr val="1C3738"/>
                          </a:solidFill>
                          <a:latin typeface="Calibri"/>
                        </a:rPr>
                        <a:t>1.50</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5</a:t>
                      </a:r>
                    </a:p>
                  </a:txBody>
                  <a:tcPr anchor="ctr">
                    <a:solidFill>
                      <a:srgbClr val="D6F5F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2.47</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15</a:t>
                      </a:r>
                    </a:p>
                  </a:txBody>
                  <a:tcPr anchor="ctr">
                    <a:solidFill>
                      <a:srgbClr val="D6F5F3"/>
                    </a:solidFill>
                  </a:tcPr>
                </a:tc>
              </a:tr>
              <a:tr h="457200">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0">
                          <a:solidFill>
                            <a:srgbClr val="1C3738"/>
                          </a:solidFill>
                          <a:latin typeface="Calibri"/>
                        </a:rPr>
                        <a:t>0.66</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1.85</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11</a:t>
                      </a:r>
                    </a:p>
                  </a:txBody>
                  <a:tcPr anchor="ctr">
                    <a:solidFill>
                      <a:srgbClr val="D6F5F3"/>
                    </a:solidFill>
                  </a:tcPr>
                </a:tc>
              </a:tr>
            </a:tbl>
          </a:graphicData>
        </a:graphic>
      </p:graphicFrame>
      <p:sp>
        <p:nvSpPr>
          <p:cNvPr id="5" name="TextBox 4"/>
          <p:cNvSpPr txBox="1"/>
          <p:nvPr/>
        </p:nvSpPr>
        <p:spPr>
          <a:xfrm>
            <a:off x="594360" y="3840480"/>
            <a:ext cx="6675120" cy="45720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The last column is what we predict. The other five are what we predict it from.</a:t>
            </a:r>
          </a:p>
        </p:txBody>
      </p:sp>
      <p:sp>
        <p:nvSpPr>
          <p:cNvPr id="6" name="TextBox 5"/>
          <p:cNvSpPr txBox="1"/>
          <p:nvPr/>
        </p:nvSpPr>
        <p:spPr>
          <a:xfrm>
            <a:off x="7772400" y="1783080"/>
            <a:ext cx="3931920" cy="4023360"/>
          </a:xfrm>
          <a:prstGeom prst="rect">
            <a:avLst/>
          </a:prstGeom>
          <a:noFill/>
        </p:spPr>
        <p:txBody>
          <a:bodyPr wrap="square" anchor="t" lIns="0" rIns="0" tIns="0" bIns="0">
            <a:spAutoFit/>
          </a:bodyPr>
          <a:lstStyle/>
          <a:p>
            <a:pPr algn="l">
              <a:lnSpc>
                <a:spcPct val="120000"/>
              </a:lnSpc>
              <a:spcAft>
                <a:spcPts val="1400"/>
              </a:spcAft>
            </a:pPr>
            <a:r>
              <a:rPr sz="1600" b="0" i="0">
                <a:solidFill>
                  <a:srgbClr val="1C3738"/>
                </a:solidFill>
                <a:latin typeface="Calibri"/>
              </a:rPr>
              <a:t>•  sku  —  which product it is</a:t>
            </a:r>
          </a:p>
          <a:p>
            <a:pPr algn="l">
              <a:lnSpc>
                <a:spcPct val="120000"/>
              </a:lnSpc>
              <a:spcAft>
                <a:spcPts val="1400"/>
              </a:spcAft>
            </a:pPr>
            <a:r>
              <a:rPr sz="1600" b="0" i="0">
                <a:solidFill>
                  <a:srgbClr val="1C3738"/>
                </a:solidFill>
                <a:latin typeface="Calibri"/>
              </a:rPr>
              <a:t>•  price  —  what it costs</a:t>
            </a:r>
          </a:p>
          <a:p>
            <a:pPr algn="l">
              <a:lnSpc>
                <a:spcPct val="120000"/>
              </a:lnSpc>
              <a:spcAft>
                <a:spcPts val="1400"/>
              </a:spcAft>
            </a:pPr>
            <a:r>
              <a:rPr sz="1600" b="0" i="0">
                <a:solidFill>
                  <a:srgbClr val="1C3738"/>
                </a:solidFill>
                <a:latin typeface="Calibri"/>
              </a:rPr>
              <a:t>•  order  —  how many times it has been listed before</a:t>
            </a:r>
          </a:p>
          <a:p>
            <a:pPr algn="l">
              <a:lnSpc>
                <a:spcPct val="120000"/>
              </a:lnSpc>
              <a:spcAft>
                <a:spcPts val="1400"/>
              </a:spcAft>
            </a:pPr>
            <a:r>
              <a:rPr sz="1600" b="0" i="0">
                <a:solidFill>
                  <a:srgbClr val="1C3738"/>
                </a:solidFill>
                <a:latin typeface="Calibri"/>
              </a:rPr>
              <a:t>•  duration  —  how long it stayed on the site</a:t>
            </a:r>
          </a:p>
          <a:p>
            <a:pPr algn="l">
              <a:lnSpc>
                <a:spcPct val="120000"/>
              </a:lnSpc>
              <a:spcAft>
                <a:spcPts val="1400"/>
              </a:spcAft>
            </a:pPr>
            <a:r>
              <a:rPr sz="1600" b="0" i="0">
                <a:solidFill>
                  <a:srgbClr val="1C3738"/>
                </a:solidFill>
                <a:latin typeface="Calibri"/>
              </a:rPr>
              <a:t>•  category  —  what kind of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BUT THERE WAS A CATCH</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We were not allowed to
open the file</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The assignment says to assume the data is bigger than the computer’s memory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Normally you load everything. We could not.</a:t>
            </a:r>
          </a:p>
        </p:txBody>
      </p:sp>
      <p:pic>
        <p:nvPicPr>
          <p:cNvPr id="4" name="Picture 3" descr="contrast.png"/>
          <p:cNvPicPr>
            <a:picLocks noChangeAspect="1"/>
          </p:cNvPicPr>
          <p:nvPr/>
        </p:nvPicPr>
        <p:blipFill>
          <a:blip r:embed="rId2"/>
          <a:stretch>
            <a:fillRect/>
          </a:stretch>
        </p:blipFill>
        <p:spPr>
          <a:xfrm>
            <a:off x="502920" y="1691640"/>
            <a:ext cx="11201400" cy="4211052"/>
          </a:xfrm>
          <a:prstGeom prst="rect">
            <a:avLst/>
          </a:prstGeom>
        </p:spPr>
      </p:pic>
      <p:sp>
        <p:nvSpPr>
          <p:cNvPr id="5" name="TextBox 4"/>
          <p:cNvSpPr txBox="1"/>
          <p:nvPr/>
        </p:nvSpPr>
        <p:spPr>
          <a:xfrm>
            <a:off x="594360" y="5806440"/>
            <a:ext cx="10972800" cy="548640"/>
          </a:xfrm>
          <a:prstGeom prst="rect">
            <a:avLst/>
          </a:prstGeom>
          <a:noFill/>
        </p:spPr>
        <p:txBody>
          <a:bodyPr wrap="square" anchor="t" lIns="0" rIns="0" tIns="0" bIns="0">
            <a:spAutoFit/>
          </a:bodyPr>
          <a:lstStyle/>
          <a:p>
            <a:pPr algn="l">
              <a:lnSpc>
                <a:spcPct val="115000"/>
              </a:lnSpc>
            </a:pPr>
            <a:r>
              <a:rPr sz="1700" b="0" i="0">
                <a:solidFill>
                  <a:srgbClr val="1C3738"/>
                </a:solidFill>
                <a:latin typeface="Calibri"/>
              </a:rPr>
              <a:t>Reading a chunk at a time means the computer only ever holds a small piece — so the file could be a thousand times larger.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IT ACTUALLY WORKS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We read the file three times, a chunk at a time</a:t>
            </a:r>
          </a:p>
        </p:txBody>
      </p:sp>
      <p:pic>
        <p:nvPicPr>
          <p:cNvPr id="4" name="Picture 3" descr="pipeline.png"/>
          <p:cNvPicPr>
            <a:picLocks noChangeAspect="1"/>
          </p:cNvPicPr>
          <p:nvPr/>
        </p:nvPicPr>
        <p:blipFill>
          <a:blip r:embed="rId2"/>
          <a:stretch>
            <a:fillRect/>
          </a:stretch>
        </p:blipFill>
        <p:spPr>
          <a:xfrm>
            <a:off x="502920" y="1645920"/>
            <a:ext cx="11201400" cy="4382394"/>
          </a:xfrm>
          <a:prstGeom prst="rect">
            <a:avLst/>
          </a:prstGeom>
        </p:spPr>
      </p:pic>
      <p:sp>
        <p:nvSpPr>
          <p:cNvPr id="5" name="TextBox 4"/>
          <p:cNvSpPr txBox="1"/>
          <p:nvPr/>
        </p:nvSpPr>
        <p:spPr>
          <a:xfrm>
            <a:off x="594360" y="6035040"/>
            <a:ext cx="10972800" cy="54864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Reading from disk is cheap. Holding data in memory is what we cannot afford.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WE BUILT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model is a stack of pattern-finders</a:t>
            </a:r>
          </a:p>
        </p:txBody>
      </p:sp>
      <p:pic>
        <p:nvPicPr>
          <p:cNvPr id="4" name="Picture 3" descr="architecture.png"/>
          <p:cNvPicPr>
            <a:picLocks noChangeAspect="1"/>
          </p:cNvPicPr>
          <p:nvPr/>
        </p:nvPicPr>
        <p:blipFill>
          <a:blip r:embed="rId2"/>
          <a:stretch>
            <a:fillRect/>
          </a:stretch>
        </p:blipFill>
        <p:spPr>
          <a:xfrm>
            <a:off x="502920" y="1645920"/>
            <a:ext cx="11201400" cy="3789377"/>
          </a:xfrm>
          <a:prstGeom prst="rect">
            <a:avLst/>
          </a:prstGeom>
        </p:spPr>
      </p:pic>
      <p:sp>
        <p:nvSpPr>
          <p:cNvPr id="5" name="TextBox 4"/>
          <p:cNvSpPr txBox="1"/>
          <p:nvPr/>
        </p:nvSpPr>
        <p:spPr>
          <a:xfrm>
            <a:off x="594360" y="5577840"/>
            <a:ext cx="10972800" cy="91440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Five facts go in, one number comes out: how many units we expect to sell.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WHY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Three choices we had to make</a:t>
            </a:r>
          </a:p>
        </p:txBody>
      </p:sp>
      <p:sp>
        <p:nvSpPr>
          <p:cNvPr id="4" name="Oval 3"/>
          <p:cNvSpPr/>
          <p:nvPr/>
        </p:nvSpPr>
        <p:spPr>
          <a:xfrm>
            <a:off x="594360" y="178308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1</a:t>
            </a:r>
          </a:p>
        </p:txBody>
      </p:sp>
      <p:sp>
        <p:nvSpPr>
          <p:cNvPr id="5" name="TextBox 4"/>
          <p:cNvSpPr txBox="1"/>
          <p:nvPr/>
        </p:nvSpPr>
        <p:spPr>
          <a:xfrm>
            <a:off x="1508760" y="173736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put the answer on the same scale as the clues</a:t>
            </a:r>
          </a:p>
        </p:txBody>
      </p:sp>
      <p:sp>
        <p:nvSpPr>
          <p:cNvPr id="6" name="TextBox 5"/>
          <p:cNvSpPr txBox="1"/>
          <p:nvPr/>
        </p:nvSpPr>
        <p:spPr>
          <a:xfrm>
            <a:off x="1508760" y="218541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Sales run from 1 to over 4,000. Numbers that large jam the model, so we shrank them for training and converted back afterwards.</a:t>
            </a:r>
          </a:p>
        </p:txBody>
      </p:sp>
      <p:sp>
        <p:nvSpPr>
          <p:cNvPr id="7" name="Oval 6"/>
          <p:cNvSpPr/>
          <p:nvPr/>
        </p:nvSpPr>
        <p:spPr>
          <a:xfrm>
            <a:off x="594360" y="329184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2</a:t>
            </a:r>
          </a:p>
        </p:txBody>
      </p:sp>
      <p:sp>
        <p:nvSpPr>
          <p:cNvPr id="8" name="TextBox 7"/>
          <p:cNvSpPr txBox="1"/>
          <p:nvPr/>
        </p:nvSpPr>
        <p:spPr>
          <a:xfrm>
            <a:off x="1508760" y="324612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The last step had to be left unrestricted</a:t>
            </a:r>
          </a:p>
        </p:txBody>
      </p:sp>
      <p:sp>
        <p:nvSpPr>
          <p:cNvPr id="9" name="TextBox 8"/>
          <p:cNvSpPr txBox="1"/>
          <p:nvPr/>
        </p:nvSpPr>
        <p:spPr>
          <a:xfrm>
            <a:off x="1508760" y="369417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The building block we were told to use can only ever output a number between 0 and 1 — useless for predicting sales of 300.</a:t>
            </a:r>
          </a:p>
        </p:txBody>
      </p:sp>
      <p:sp>
        <p:nvSpPr>
          <p:cNvPr id="10" name="Oval 9"/>
          <p:cNvSpPr/>
          <p:nvPr/>
        </p:nvSpPr>
        <p:spPr>
          <a:xfrm>
            <a:off x="594360" y="480060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3</a:t>
            </a:r>
          </a:p>
        </p:txBody>
      </p:sp>
      <p:sp>
        <p:nvSpPr>
          <p:cNvPr id="11" name="TextBox 10"/>
          <p:cNvSpPr txBox="1"/>
          <p:nvPr/>
        </p:nvSpPr>
        <p:spPr>
          <a:xfrm>
            <a:off x="1508760" y="475488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had to mix up the rows before learning</a:t>
            </a:r>
          </a:p>
        </p:txBody>
      </p:sp>
      <p:sp>
        <p:nvSpPr>
          <p:cNvPr id="12" name="TextBox 11"/>
          <p:cNvSpPr txBox="1"/>
          <p:nvPr/>
        </p:nvSpPr>
        <p:spPr>
          <a:xfrm>
            <a:off x="1508760" y="520293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More on this next — it turned out to be the most important thing we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THEN SOMETHING WENT WRONG</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Our accuracy suddenly dropped</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Switching to reading the file in chunks made the model noticeably worse. Here is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PROBLEM WE FOUND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Every chunk looked almost the same</a:t>
            </a:r>
          </a:p>
        </p:txBody>
      </p:sp>
      <p:sp>
        <p:nvSpPr>
          <p:cNvPr id="4" name="TextBox 3"/>
          <p:cNvSpPr txBox="1"/>
          <p:nvPr/>
        </p:nvSpPr>
        <p:spPr>
          <a:xfrm>
            <a:off x="594360" y="1783080"/>
            <a:ext cx="5486400" cy="329184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rows are ordered by product. So a chunk read straight off disk is not a fair sample of the shop — it is a handful of nearly identical products in a row.</a:t>
            </a:r>
          </a:p>
        </p:txBody>
      </p:sp>
      <p:sp>
        <p:nvSpPr>
          <p:cNvPr id="5" name="TextBox 4"/>
          <p:cNvSpPr txBox="1"/>
          <p:nvPr/>
        </p:nvSpPr>
        <p:spPr>
          <a:xfrm>
            <a:off x="594360" y="3840480"/>
            <a:ext cx="5486400" cy="164592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model kept adjusting to whatever narrow slice it happened to be looking at, then forgetting it when the next slice arrived.</a:t>
            </a:r>
          </a:p>
        </p:txBody>
      </p:sp>
      <p:sp>
        <p:nvSpPr>
          <p:cNvPr id="6" name="Rounded Rectangle 5"/>
          <p:cNvSpPr/>
          <p:nvPr/>
        </p:nvSpPr>
        <p:spPr>
          <a:xfrm>
            <a:off x="6583680" y="1920240"/>
            <a:ext cx="5029200" cy="173736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56832" y="2146096"/>
            <a:ext cx="4882896" cy="868680"/>
          </a:xfrm>
          <a:prstGeom prst="rect">
            <a:avLst/>
          </a:prstGeom>
          <a:noFill/>
        </p:spPr>
        <p:txBody>
          <a:bodyPr wrap="square" anchor="ctr" lIns="0" rIns="0" tIns="0" bIns="0">
            <a:spAutoFit/>
          </a:bodyPr>
          <a:lstStyle/>
          <a:p>
            <a:pPr algn="ctr">
              <a:lnSpc>
                <a:spcPct val="100000"/>
              </a:lnSpc>
            </a:pPr>
            <a:r>
              <a:rPr sz="5200" b="1" i="0">
                <a:solidFill>
                  <a:srgbClr val="17BEBB"/>
                </a:solidFill>
                <a:latin typeface="Cambria"/>
              </a:rPr>
              <a:t>0.9995</a:t>
            </a:r>
          </a:p>
        </p:txBody>
      </p:sp>
      <p:sp>
        <p:nvSpPr>
          <p:cNvPr id="8" name="TextBox 7"/>
          <p:cNvSpPr txBox="1"/>
          <p:nvPr/>
        </p:nvSpPr>
        <p:spPr>
          <a:xfrm>
            <a:off x="6693408" y="3066897"/>
            <a:ext cx="4809744" cy="521207"/>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correlation between row number and product id</a:t>
            </a:r>
          </a:p>
        </p:txBody>
      </p:sp>
      <p:sp>
        <p:nvSpPr>
          <p:cNvPr id="9" name="TextBox 8"/>
          <p:cNvSpPr txBox="1"/>
          <p:nvPr/>
        </p:nvSpPr>
        <p:spPr>
          <a:xfrm>
            <a:off x="6583680" y="3977639"/>
            <a:ext cx="5029200" cy="1371600"/>
          </a:xfrm>
          <a:prstGeom prst="rect">
            <a:avLst/>
          </a:prstGeom>
          <a:noFill/>
        </p:spPr>
        <p:txBody>
          <a:bodyPr wrap="square" anchor="t" lIns="0" rIns="0" tIns="0" bIns="0">
            <a:spAutoFit/>
          </a:bodyPr>
          <a:lstStyle/>
          <a:p>
            <a:pPr algn="l">
              <a:lnSpc>
                <a:spcPct val="120000"/>
              </a:lnSpc>
            </a:pPr>
            <a:r>
              <a:rPr sz="1800" b="1" i="0">
                <a:solidFill>
                  <a:srgbClr val="C9502F"/>
                </a:solidFill>
                <a:latin typeface="Calibri"/>
              </a:rPr>
              <a:t>In other words: the position of a row in the file tells you almost exactly which product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IT WORKED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fix: shuffle inside a small window</a:t>
            </a:r>
          </a:p>
        </p:txBody>
      </p:sp>
      <p:sp>
        <p:nvSpPr>
          <p:cNvPr id="4" name="TextBox 3"/>
          <p:cNvSpPr txBox="1"/>
          <p:nvPr/>
        </p:nvSpPr>
        <p:spPr>
          <a:xfrm>
            <a:off x="594360" y="1783080"/>
            <a:ext cx="4846320" cy="219456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We cannot shuffle a file we cannot open. So we hold a fixed number of rows, shuffle those, use them up, then refill.</a:t>
            </a:r>
          </a:p>
        </p:txBody>
      </p:sp>
      <p:sp>
        <p:nvSpPr>
          <p:cNvPr id="5" name="Rounded Rectangle 4"/>
          <p:cNvSpPr/>
          <p:nvPr/>
        </p:nvSpPr>
        <p:spPr>
          <a:xfrm>
            <a:off x="594360" y="4023360"/>
            <a:ext cx="4846320" cy="123444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67512" y="4183837"/>
            <a:ext cx="4700016" cy="61722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0.44  →  0.53</a:t>
            </a:r>
          </a:p>
        </p:txBody>
      </p:sp>
      <p:sp>
        <p:nvSpPr>
          <p:cNvPr id="7" name="TextBox 6"/>
          <p:cNvSpPr txBox="1"/>
          <p:nvPr/>
        </p:nvSpPr>
        <p:spPr>
          <a:xfrm>
            <a:off x="704088" y="4838090"/>
            <a:ext cx="4626864" cy="370332"/>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accuracy, before and after</a:t>
            </a:r>
          </a:p>
        </p:txBody>
      </p:sp>
      <p:sp>
        <p:nvSpPr>
          <p:cNvPr id="8" name="TextBox 7"/>
          <p:cNvSpPr txBox="1"/>
          <p:nvPr/>
        </p:nvSpPr>
        <p:spPr>
          <a:xfrm>
            <a:off x="594360" y="5532120"/>
            <a:ext cx="4846320" cy="822960"/>
          </a:xfrm>
          <a:prstGeom prst="rect">
            <a:avLst/>
          </a:prstGeom>
          <a:noFill/>
        </p:spPr>
        <p:txBody>
          <a:bodyPr wrap="square" anchor="t" lIns="0" rIns="0" tIns="0" bIns="0">
            <a:spAutoFit/>
          </a:bodyPr>
          <a:lstStyle/>
          <a:p>
            <a:pPr algn="l">
              <a:lnSpc>
                <a:spcPct val="115000"/>
              </a:lnSpc>
            </a:pPr>
            <a:r>
              <a:rPr sz="1500" b="0" i="0">
                <a:solidFill>
                  <a:srgbClr val="557575"/>
                </a:solidFill>
                <a:latin typeface="Calibri"/>
              </a:rPr>
              <a:t>The window is a fixed 200,000 rows — about 5 MB — no matter how big the file is.</a:t>
            </a:r>
          </a:p>
        </p:txBody>
      </p:sp>
      <p:graphicFrame>
        <p:nvGraphicFramePr>
          <p:cNvPr id="9" name="Chart 8"/>
          <p:cNvGraphicFramePr>
            <a:graphicFrameLocks noGrp="1"/>
          </p:cNvGraphicFramePr>
          <p:nvPr/>
        </p:nvGraphicFramePr>
        <p:xfrm>
          <a:off x="5760720" y="1737360"/>
          <a:ext cx="594360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5760720" y="5989320"/>
            <a:ext cx="5943600" cy="411480"/>
          </a:xfrm>
          <a:prstGeom prst="rect">
            <a:avLst/>
          </a:prstGeom>
          <a:noFill/>
        </p:spPr>
        <p:txBody>
          <a:bodyPr wrap="square" anchor="t" lIns="0" rIns="0" tIns="0" bIns="0">
            <a:spAutoFit/>
          </a:bodyPr>
          <a:lstStyle/>
          <a:p>
            <a:pPr algn="l">
              <a:lnSpc>
                <a:spcPct val="100000"/>
              </a:lnSpc>
            </a:pPr>
            <a:r>
              <a:rPr sz="1300" b="0" i="1">
                <a:solidFill>
                  <a:srgbClr val="557575"/>
                </a:solidFill>
                <a:latin typeface="Calibri"/>
              </a:rPr>
              <a:t>The last bar shuffles the whole file — shown only as a ceiling.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SO</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Did it work?</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Accuracy, what the model learned, and whether it stayed inside memory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ACCURACY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explains about half of why sales differ</a:t>
            </a:r>
          </a:p>
        </p:txBody>
      </p:sp>
      <p:sp>
        <p:nvSpPr>
          <p:cNvPr id="4" name="Rounded Rectangle 3"/>
          <p:cNvSpPr/>
          <p:nvPr/>
        </p:nvSpPr>
        <p:spPr>
          <a:xfrm>
            <a:off x="594360" y="1783080"/>
            <a:ext cx="5120640" cy="274320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2103120"/>
            <a:ext cx="4754880" cy="1463040"/>
          </a:xfrm>
          <a:prstGeom prst="rect">
            <a:avLst/>
          </a:prstGeom>
          <a:noFill/>
        </p:spPr>
        <p:txBody>
          <a:bodyPr wrap="square" anchor="ctr" lIns="0" rIns="0" tIns="0" bIns="0">
            <a:spAutoFit/>
          </a:bodyPr>
          <a:lstStyle/>
          <a:p>
            <a:pPr algn="ctr">
              <a:lnSpc>
                <a:spcPct val="100000"/>
              </a:lnSpc>
            </a:pPr>
            <a:r>
              <a:rPr sz="10000" b="1" i="0">
                <a:solidFill>
                  <a:srgbClr val="17BEBB"/>
                </a:solidFill>
                <a:latin typeface="Cambria"/>
              </a:rPr>
              <a:t>0.53</a:t>
            </a:r>
          </a:p>
        </p:txBody>
      </p:sp>
      <p:sp>
        <p:nvSpPr>
          <p:cNvPr id="6" name="TextBox 5"/>
          <p:cNvSpPr txBox="1"/>
          <p:nvPr/>
        </p:nvSpPr>
        <p:spPr>
          <a:xfrm>
            <a:off x="777240" y="3703320"/>
            <a:ext cx="4754880" cy="457200"/>
          </a:xfrm>
          <a:prstGeom prst="rect">
            <a:avLst/>
          </a:prstGeom>
          <a:noFill/>
        </p:spPr>
        <p:txBody>
          <a:bodyPr wrap="square" anchor="t" lIns="0" rIns="0" tIns="0" bIns="0">
            <a:spAutoFit/>
          </a:bodyPr>
          <a:lstStyle/>
          <a:p>
            <a:pPr algn="ctr">
              <a:lnSpc>
                <a:spcPct val="100000"/>
              </a:lnSpc>
            </a:pPr>
            <a:r>
              <a:rPr sz="1500" b="1" i="0">
                <a:solidFill>
                  <a:srgbClr val="D6F5F3"/>
                </a:solidFill>
                <a:latin typeface="Calibri"/>
              </a:rPr>
              <a:t>R-SQUARED ON UNSEEN DATA</a:t>
            </a:r>
          </a:p>
        </p:txBody>
      </p:sp>
      <p:sp>
        <p:nvSpPr>
          <p:cNvPr id="7" name="Rounded Rectangle 6"/>
          <p:cNvSpPr/>
          <p:nvPr/>
        </p:nvSpPr>
        <p:spPr>
          <a:xfrm>
            <a:off x="6035040" y="1783080"/>
            <a:ext cx="557784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5079" y="1984248"/>
            <a:ext cx="493775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9" name="TextBox 8"/>
          <p:cNvSpPr txBox="1"/>
          <p:nvPr/>
        </p:nvSpPr>
        <p:spPr>
          <a:xfrm>
            <a:off x="6355079" y="2313432"/>
            <a:ext cx="493775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R-squared asks how much better we are than always guessing the average. 0 means no better. 1 means perfect.</a:t>
            </a:r>
          </a:p>
        </p:txBody>
      </p:sp>
      <p:sp>
        <p:nvSpPr>
          <p:cNvPr id="10" name="TextBox 9"/>
          <p:cNvSpPr txBox="1"/>
          <p:nvPr/>
        </p:nvSpPr>
        <p:spPr>
          <a:xfrm>
            <a:off x="6035040" y="3429000"/>
            <a:ext cx="5577840" cy="13716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At 0.53 the model explains roughly half of why some products sell more than others — and half is still unexplained.</a:t>
            </a:r>
          </a:p>
        </p:txBody>
      </p:sp>
      <p:sp>
        <p:nvSpPr>
          <p:cNvPr id="11" name="Rounded Rectangle 10"/>
          <p:cNvSpPr/>
          <p:nvPr/>
        </p:nvSpPr>
        <p:spPr>
          <a:xfrm>
            <a:off x="603504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0819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0.523</a:t>
            </a:r>
          </a:p>
        </p:txBody>
      </p:sp>
      <p:sp>
        <p:nvSpPr>
          <p:cNvPr id="13" name="TextBox 12"/>
          <p:cNvSpPr txBox="1"/>
          <p:nvPr/>
        </p:nvSpPr>
        <p:spPr>
          <a:xfrm>
            <a:off x="614476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trained on</a:t>
            </a:r>
          </a:p>
        </p:txBody>
      </p:sp>
      <p:sp>
        <p:nvSpPr>
          <p:cNvPr id="14" name="Rounded Rectangle 13"/>
          <p:cNvSpPr/>
          <p:nvPr/>
        </p:nvSpPr>
        <p:spPr>
          <a:xfrm>
            <a:off x="891540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8855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0.528</a:t>
            </a:r>
          </a:p>
        </p:txBody>
      </p:sp>
      <p:sp>
        <p:nvSpPr>
          <p:cNvPr id="16" name="TextBox 15"/>
          <p:cNvSpPr txBox="1"/>
          <p:nvPr/>
        </p:nvSpPr>
        <p:spPr>
          <a:xfrm>
            <a:off x="902512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never saw</a:t>
            </a:r>
          </a:p>
        </p:txBody>
      </p:sp>
      <p:sp>
        <p:nvSpPr>
          <p:cNvPr id="17" name="TextBox 16"/>
          <p:cNvSpPr txBox="1"/>
          <p:nvPr/>
        </p:nvSpPr>
        <p:spPr>
          <a:xfrm>
            <a:off x="594360" y="4754880"/>
            <a:ext cx="5120640" cy="1005840"/>
          </a:xfrm>
          <a:prstGeom prst="rect">
            <a:avLst/>
          </a:prstGeom>
          <a:noFill/>
        </p:spPr>
        <p:txBody>
          <a:bodyPr wrap="square" anchor="t" lIns="0" rIns="0" tIns="0" bIns="0">
            <a:spAutoFit/>
          </a:bodyPr>
          <a:lstStyle/>
          <a:p>
            <a:pPr algn="l">
              <a:lnSpc>
                <a:spcPct val="120000"/>
              </a:lnSpc>
            </a:pPr>
            <a:r>
              <a:rPr sz="1600" b="1" i="0">
                <a:solidFill>
                  <a:srgbClr val="C9502F"/>
                </a:solidFill>
                <a:latin typeface="Calibri"/>
              </a:rPr>
              <a:t>Those two scores are almost identical, which means the model is not simply memorising.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PROGRESS DURING TRAINING</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learned fast, then levelled off</a:t>
            </a:r>
          </a:p>
        </p:txBody>
      </p:sp>
      <p:pic>
        <p:nvPicPr>
          <p:cNvPr id="4" name="Picture 3" descr="learning_curve.png"/>
          <p:cNvPicPr>
            <a:picLocks noChangeAspect="1"/>
          </p:cNvPicPr>
          <p:nvPr/>
        </p:nvPicPr>
        <p:blipFill>
          <a:blip r:embed="rId2"/>
          <a:stretch>
            <a:fillRect/>
          </a:stretch>
        </p:blipFill>
        <p:spPr>
          <a:xfrm>
            <a:off x="502920" y="1691640"/>
            <a:ext cx="6675120" cy="3915026"/>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Each point is how wrong the model was, averaged over recent rows. Lower is better.</a:t>
            </a:r>
          </a:p>
        </p:txBody>
      </p:sp>
      <p:sp>
        <p:nvSpPr>
          <p:cNvPr id="8" name="TextBox 7"/>
          <p:cNvSpPr txBox="1"/>
          <p:nvPr/>
        </p:nvSpPr>
        <p:spPr>
          <a:xfrm>
            <a:off x="7498079" y="3429000"/>
            <a:ext cx="4160520" cy="18288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Error fell by about two-thirds in the first stretch, then flattened — the model had learned what one pass over the data could teach it.</a:t>
            </a:r>
          </a:p>
        </p:txBody>
      </p:sp>
      <p:sp>
        <p:nvSpPr>
          <p:cNvPr id="9" name="Rounded Rectangle 8"/>
          <p:cNvSpPr/>
          <p:nvPr/>
        </p:nvSpPr>
        <p:spPr>
          <a:xfrm>
            <a:off x="7498079" y="5257800"/>
            <a:ext cx="4160520" cy="105156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71231" y="5394502"/>
            <a:ext cx="4014215" cy="525780"/>
          </a:xfrm>
          <a:prstGeom prst="rect">
            <a:avLst/>
          </a:prstGeom>
          <a:noFill/>
        </p:spPr>
        <p:txBody>
          <a:bodyPr wrap="square" anchor="ctr" lIns="0" rIns="0" tIns="0" bIns="0">
            <a:spAutoFit/>
          </a:bodyPr>
          <a:lstStyle/>
          <a:p>
            <a:pPr algn="ctr">
              <a:lnSpc>
                <a:spcPct val="100000"/>
              </a:lnSpc>
            </a:pPr>
            <a:r>
              <a:rPr sz="2800" b="1" i="0">
                <a:solidFill>
                  <a:srgbClr val="0E7C7B"/>
                </a:solidFill>
                <a:latin typeface="Cambria"/>
              </a:rPr>
              <a:t>2,831 → 989</a:t>
            </a:r>
          </a:p>
        </p:txBody>
      </p:sp>
      <p:sp>
        <p:nvSpPr>
          <p:cNvPr id="11" name="TextBox 10"/>
          <p:cNvSpPr txBox="1"/>
          <p:nvPr/>
        </p:nvSpPr>
        <p:spPr>
          <a:xfrm>
            <a:off x="7607807" y="5951829"/>
            <a:ext cx="3941063" cy="315468"/>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average error, start to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WHICH CLUES THE MODEL USES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How long it stayed listed matters most</a:t>
            </a:r>
          </a:p>
        </p:txBody>
      </p:sp>
      <p:pic>
        <p:nvPicPr>
          <p:cNvPr id="4" name="Picture 3" descr="variable_importance.png"/>
          <p:cNvPicPr>
            <a:picLocks noChangeAspect="1"/>
          </p:cNvPicPr>
          <p:nvPr/>
        </p:nvPicPr>
        <p:blipFill>
          <a:blip r:embed="rId2"/>
          <a:stretch>
            <a:fillRect/>
          </a:stretch>
        </p:blipFill>
        <p:spPr>
          <a:xfrm>
            <a:off x="502920" y="1783080"/>
            <a:ext cx="6675120" cy="3851771"/>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To test a clue, we scramble it and see how much worse the predictions get. Big drop means the model relied on it.</a:t>
            </a:r>
          </a:p>
        </p:txBody>
      </p:sp>
      <p:sp>
        <p:nvSpPr>
          <p:cNvPr id="8" name="TextBox 7"/>
          <p:cNvSpPr txBox="1"/>
          <p:nvPr/>
        </p:nvSpPr>
        <p:spPr>
          <a:xfrm>
            <a:off x="7498079" y="3474720"/>
            <a:ext cx="4160520" cy="2194560"/>
          </a:xfrm>
          <a:prstGeom prst="rect">
            <a:avLst/>
          </a:prstGeom>
          <a:noFill/>
        </p:spPr>
        <p:txBody>
          <a:bodyPr wrap="square" anchor="t" lIns="0" rIns="0" tIns="0" bIns="0">
            <a:spAutoFit/>
          </a:bodyPr>
          <a:lstStyle/>
          <a:p>
            <a:pPr algn="l">
              <a:lnSpc>
                <a:spcPct val="115000"/>
              </a:lnSpc>
              <a:spcAft>
                <a:spcPts val="1400"/>
              </a:spcAft>
            </a:pPr>
            <a:r>
              <a:rPr sz="1700" b="1" i="0">
                <a:solidFill>
                  <a:srgbClr val="0B2E33"/>
                </a:solidFill>
                <a:latin typeface="Calibri"/>
              </a:rPr>
              <a:t>•  duration is far and away the strongest</a:t>
            </a:r>
          </a:p>
          <a:p>
            <a:pPr algn="l">
              <a:lnSpc>
                <a:spcPct val="115000"/>
              </a:lnSpc>
              <a:spcAft>
                <a:spcPts val="1400"/>
              </a:spcAft>
            </a:pPr>
            <a:r>
              <a:rPr sz="1700" b="1" i="0">
                <a:solidFill>
                  <a:srgbClr val="0B2E33"/>
                </a:solidFill>
                <a:latin typeface="Calibri"/>
              </a:rPr>
              <a:t>•  price matters, but much less</a:t>
            </a:r>
          </a:p>
          <a:p>
            <a:pPr algn="l">
              <a:lnSpc>
                <a:spcPct val="115000"/>
              </a:lnSpc>
              <a:spcAft>
                <a:spcPts val="1400"/>
              </a:spcAft>
            </a:pPr>
            <a:r>
              <a:rPr sz="1700" b="1" i="0">
                <a:solidFill>
                  <a:srgbClr val="0B2E33"/>
                </a:solidFill>
                <a:latin typeface="Calibri"/>
              </a:rPr>
              <a:t>•  which product it is barely registers</a:t>
            </a:r>
          </a:p>
        </p:txBody>
      </p:sp>
      <p:sp>
        <p:nvSpPr>
          <p:cNvPr id="9" name="TextBox 8"/>
          <p:cNvSpPr txBox="1"/>
          <p:nvPr/>
        </p:nvSpPr>
        <p:spPr>
          <a:xfrm>
            <a:off x="7498079" y="5486400"/>
            <a:ext cx="4160520" cy="822960"/>
          </a:xfrm>
          <a:prstGeom prst="rect">
            <a:avLst/>
          </a:prstGeom>
          <a:noFill/>
        </p:spPr>
        <p:txBody>
          <a:bodyPr wrap="square" anchor="t" lIns="0" rIns="0" tIns="0" bIns="0">
            <a:spAutoFit/>
          </a:bodyPr>
          <a:lstStyle/>
          <a:p>
            <a:pPr algn="l">
              <a:lnSpc>
                <a:spcPct val="115000"/>
              </a:lnSpc>
            </a:pPr>
            <a:r>
              <a:rPr sz="1600" b="1" i="0">
                <a:solidFill>
                  <a:srgbClr val="C9502F"/>
                </a:solidFill>
                <a:latin typeface="Calibri"/>
              </a:rPr>
              <a:t>How long something sits on the site tells you more than what it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EACH CLUE MOVES THE PREDICTION</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Longer listings sell far more</a:t>
            </a:r>
          </a:p>
        </p:txBody>
      </p:sp>
      <p:sp>
        <p:nvSpPr>
          <p:cNvPr id="4" name="Rounded Rectangle 3"/>
          <p:cNvSpPr/>
          <p:nvPr/>
        </p:nvSpPr>
        <p:spPr>
          <a:xfrm>
            <a:off x="594360" y="1554480"/>
            <a:ext cx="1097280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755648"/>
            <a:ext cx="10332720"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6" name="TextBox 5"/>
          <p:cNvSpPr txBox="1"/>
          <p:nvPr/>
        </p:nvSpPr>
        <p:spPr>
          <a:xfrm>
            <a:off x="914400" y="2084831"/>
            <a:ext cx="10332720"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We pretend every product had the same value for one clue, predict, and average. Then we slide that value across its whole range.</a:t>
            </a:r>
          </a:p>
        </p:txBody>
      </p:sp>
      <p:pic>
        <p:nvPicPr>
          <p:cNvPr id="7" name="Picture 6" descr="partial_dependence.png"/>
          <p:cNvPicPr>
            <a:picLocks noChangeAspect="1"/>
          </p:cNvPicPr>
          <p:nvPr/>
        </p:nvPicPr>
        <p:blipFill>
          <a:blip r:embed="rId2"/>
          <a:stretch>
            <a:fillRect/>
          </a:stretch>
        </p:blipFill>
        <p:spPr>
          <a:xfrm>
            <a:off x="502920" y="3108960"/>
            <a:ext cx="11201400" cy="2668270"/>
          </a:xfrm>
          <a:prstGeom prst="rect">
            <a:avLst/>
          </a:prstGeom>
        </p:spPr>
      </p:pic>
      <p:sp>
        <p:nvSpPr>
          <p:cNvPr id="8" name="TextBox 7"/>
          <p:cNvSpPr txBox="1"/>
          <p:nvPr/>
        </p:nvSpPr>
        <p:spPr>
          <a:xfrm>
            <a:off x="594360" y="5897880"/>
            <a:ext cx="10972800" cy="548640"/>
          </a:xfrm>
          <a:prstGeom prst="rect">
            <a:avLst/>
          </a:prstGeom>
          <a:noFill/>
        </p:spPr>
        <p:txBody>
          <a:bodyPr wrap="square" anchor="t" lIns="0" rIns="0" tIns="0" bIns="0">
            <a:spAutoFit/>
          </a:bodyPr>
          <a:lstStyle/>
          <a:p>
            <a:pPr algn="l">
              <a:lnSpc>
                <a:spcPct val="100000"/>
              </a:lnSpc>
            </a:pPr>
            <a:r>
              <a:rPr sz="1800" b="1" i="0">
                <a:solidFill>
                  <a:srgbClr val="C9502F"/>
                </a:solidFill>
                <a:latin typeface="Calibri"/>
              </a:rPr>
              <a:t>duration climbs steeply  ·  price drops off  ·  the rest are nearly flat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DID WE STAY INSIDE 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Memory never grew</a:t>
            </a:r>
          </a:p>
        </p:txBody>
      </p:sp>
      <p:pic>
        <p:nvPicPr>
          <p:cNvPr id="4" name="Picture 3" descr="memory_usage.png"/>
          <p:cNvPicPr>
            <a:picLocks noChangeAspect="1"/>
          </p:cNvPicPr>
          <p:nvPr/>
        </p:nvPicPr>
        <p:blipFill>
          <a:blip r:embed="rId2"/>
          <a:stretch>
            <a:fillRect/>
          </a:stretch>
        </p:blipFill>
        <p:spPr>
          <a:xfrm>
            <a:off x="502920" y="1783080"/>
            <a:ext cx="6583680" cy="3680089"/>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If chunks were piling up in memory, this line would climb steadily. It does not.</a:t>
            </a:r>
          </a:p>
        </p:txBody>
      </p:sp>
      <p:sp>
        <p:nvSpPr>
          <p:cNvPr id="8" name="Rounded Rectangle 7"/>
          <p:cNvSpPr/>
          <p:nvPr/>
        </p:nvSpPr>
        <p:spPr>
          <a:xfrm>
            <a:off x="7498079" y="347472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71231" y="362331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+10.7 MB</a:t>
            </a:r>
          </a:p>
        </p:txBody>
      </p:sp>
      <p:sp>
        <p:nvSpPr>
          <p:cNvPr id="10" name="TextBox 9"/>
          <p:cNvSpPr txBox="1"/>
          <p:nvPr/>
        </p:nvSpPr>
        <p:spPr>
          <a:xfrm>
            <a:off x="7607807" y="422910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across all 400,000 records</a:t>
            </a:r>
          </a:p>
        </p:txBody>
      </p:sp>
      <p:sp>
        <p:nvSpPr>
          <p:cNvPr id="11" name="Rounded Rectangle 10"/>
          <p:cNvSpPr/>
          <p:nvPr/>
        </p:nvSpPr>
        <p:spPr>
          <a:xfrm>
            <a:off x="7498079" y="480060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71231" y="494919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405 MB</a:t>
            </a:r>
          </a:p>
        </p:txBody>
      </p:sp>
      <p:sp>
        <p:nvSpPr>
          <p:cNvPr id="13" name="TextBox 12"/>
          <p:cNvSpPr txBox="1"/>
          <p:nvPr/>
        </p:nvSpPr>
        <p:spPr>
          <a:xfrm>
            <a:off x="7607807" y="555498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peak, out of 14,171 available</a:t>
            </a:r>
          </a:p>
        </p:txBody>
      </p:sp>
      <p:sp>
        <p:nvSpPr>
          <p:cNvPr id="14" name="TextBox 13"/>
          <p:cNvSpPr txBox="1"/>
          <p:nvPr/>
        </p:nvSpPr>
        <p:spPr>
          <a:xfrm>
            <a:off x="594360" y="5577840"/>
            <a:ext cx="6766560" cy="914400"/>
          </a:xfrm>
          <a:prstGeom prst="rect">
            <a:avLst/>
          </a:prstGeom>
          <a:noFill/>
        </p:spPr>
        <p:txBody>
          <a:bodyPr wrap="square" anchor="t" lIns="0" rIns="0" tIns="0" bIns="0">
            <a:spAutoFit/>
          </a:bodyPr>
          <a:lstStyle/>
          <a:p>
            <a:pPr algn="l">
              <a:lnSpc>
                <a:spcPct val="115000"/>
              </a:lnSpc>
            </a:pPr>
            <a:r>
              <a:rPr sz="1500" b="0" i="1">
                <a:solidFill>
                  <a:srgbClr val="557575"/>
                </a:solidFill>
                <a:latin typeface="Calibri"/>
              </a:rPr>
              <a:t>The one-time step early on is the first chunk and the shuffle window being allocated. After that it is flat.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SPEED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whole thing runs in under a minute</a:t>
            </a:r>
          </a:p>
        </p:txBody>
      </p:sp>
      <p:sp>
        <p:nvSpPr>
          <p:cNvPr id="4" name="Rounded Rectangle 3"/>
          <p:cNvSpPr/>
          <p:nvPr/>
        </p:nvSpPr>
        <p:spPr>
          <a:xfrm>
            <a:off x="59436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7512" y="2181758"/>
            <a:ext cx="3374136" cy="1005840"/>
          </a:xfrm>
          <a:prstGeom prst="rect">
            <a:avLst/>
          </a:prstGeom>
          <a:noFill/>
        </p:spPr>
        <p:txBody>
          <a:bodyPr wrap="square" anchor="ctr" lIns="0" rIns="0" tIns="0" bIns="0">
            <a:spAutoFit/>
          </a:bodyPr>
          <a:lstStyle/>
          <a:p>
            <a:pPr algn="ctr">
              <a:lnSpc>
                <a:spcPct val="100000"/>
              </a:lnSpc>
            </a:pPr>
            <a:r>
              <a:rPr sz="5600" b="1" i="0">
                <a:solidFill>
                  <a:srgbClr val="0E7C7B"/>
                </a:solidFill>
                <a:latin typeface="Cambria"/>
              </a:rPr>
              <a:t>31 s</a:t>
            </a:r>
          </a:p>
        </p:txBody>
      </p:sp>
      <p:sp>
        <p:nvSpPr>
          <p:cNvPr id="6" name="TextBox 5"/>
          <p:cNvSpPr txBox="1"/>
          <p:nvPr/>
        </p:nvSpPr>
        <p:spPr>
          <a:xfrm>
            <a:off x="70408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to learn from 400,000 records</a:t>
            </a:r>
          </a:p>
        </p:txBody>
      </p:sp>
      <p:sp>
        <p:nvSpPr>
          <p:cNvPr id="7" name="Rounded Rectangle 6"/>
          <p:cNvSpPr/>
          <p:nvPr/>
        </p:nvSpPr>
        <p:spPr>
          <a:xfrm>
            <a:off x="434340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16552" y="2181758"/>
            <a:ext cx="3374136" cy="1005840"/>
          </a:xfrm>
          <a:prstGeom prst="rect">
            <a:avLst/>
          </a:prstGeom>
          <a:noFill/>
        </p:spPr>
        <p:txBody>
          <a:bodyPr wrap="square" anchor="ctr" lIns="0" rIns="0" tIns="0" bIns="0">
            <a:spAutoFit/>
          </a:bodyPr>
          <a:lstStyle/>
          <a:p>
            <a:pPr algn="ctr">
              <a:lnSpc>
                <a:spcPct val="100000"/>
              </a:lnSpc>
            </a:pPr>
            <a:r>
              <a:rPr sz="4800" b="1" i="0">
                <a:solidFill>
                  <a:srgbClr val="0E7C7B"/>
                </a:solidFill>
                <a:latin typeface="Cambria"/>
              </a:rPr>
              <a:t>12,726</a:t>
            </a:r>
          </a:p>
        </p:txBody>
      </p:sp>
      <p:sp>
        <p:nvSpPr>
          <p:cNvPr id="9" name="TextBox 8"/>
          <p:cNvSpPr txBox="1"/>
          <p:nvPr/>
        </p:nvSpPr>
        <p:spPr>
          <a:xfrm>
            <a:off x="445312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records per second</a:t>
            </a:r>
          </a:p>
        </p:txBody>
      </p:sp>
      <p:sp>
        <p:nvSpPr>
          <p:cNvPr id="10" name="Rounded Rectangle 9"/>
          <p:cNvSpPr/>
          <p:nvPr/>
        </p:nvSpPr>
        <p:spPr>
          <a:xfrm>
            <a:off x="8092440" y="1920240"/>
            <a:ext cx="3520440" cy="201168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65592" y="2181758"/>
            <a:ext cx="3374136" cy="1005840"/>
          </a:xfrm>
          <a:prstGeom prst="rect">
            <a:avLst/>
          </a:prstGeom>
          <a:noFill/>
        </p:spPr>
        <p:txBody>
          <a:bodyPr wrap="square" anchor="ctr" lIns="0" rIns="0" tIns="0" bIns="0">
            <a:spAutoFit/>
          </a:bodyPr>
          <a:lstStyle/>
          <a:p>
            <a:pPr algn="ctr">
              <a:lnSpc>
                <a:spcPct val="100000"/>
              </a:lnSpc>
            </a:pPr>
            <a:r>
              <a:rPr sz="5600" b="1" i="0">
                <a:solidFill>
                  <a:srgbClr val="17BEBB"/>
                </a:solidFill>
                <a:latin typeface="Cambria"/>
              </a:rPr>
              <a:t>40 s</a:t>
            </a:r>
          </a:p>
        </p:txBody>
      </p:sp>
      <p:sp>
        <p:nvSpPr>
          <p:cNvPr id="12" name="TextBox 11"/>
          <p:cNvSpPr txBox="1"/>
          <p:nvPr/>
        </p:nvSpPr>
        <p:spPr>
          <a:xfrm>
            <a:off x="8202167" y="3247948"/>
            <a:ext cx="3300984" cy="603504"/>
          </a:xfrm>
          <a:prstGeom prst="rect">
            <a:avLst/>
          </a:prstGeom>
          <a:noFill/>
        </p:spPr>
        <p:txBody>
          <a:bodyPr wrap="square" anchor="t" lIns="0" rIns="0" tIns="0" bIns="0">
            <a:spAutoFit/>
          </a:bodyPr>
          <a:lstStyle/>
          <a:p>
            <a:pPr algn="ctr">
              <a:lnSpc>
                <a:spcPct val="100000"/>
              </a:lnSpc>
            </a:pPr>
            <a:r>
              <a:rPr sz="1400" b="0" i="0">
                <a:solidFill>
                  <a:srgbClr val="8FB5B5"/>
                </a:solidFill>
                <a:latin typeface="Calibri"/>
              </a:rPr>
              <a:t>start to finished plots</a:t>
            </a:r>
          </a:p>
        </p:txBody>
      </p:sp>
      <p:sp>
        <p:nvSpPr>
          <p:cNvPr id="13" name="TextBox 12"/>
          <p:cNvSpPr txBox="1"/>
          <p:nvPr/>
        </p:nvSpPr>
        <p:spPr>
          <a:xfrm>
            <a:off x="594360" y="4389120"/>
            <a:ext cx="10972800" cy="1828800"/>
          </a:xfrm>
          <a:prstGeom prst="rect">
            <a:avLst/>
          </a:prstGeom>
          <a:noFill/>
        </p:spPr>
        <p:txBody>
          <a:bodyPr wrap="square" anchor="t" lIns="0" rIns="0" tIns="0" bIns="0">
            <a:spAutoFit/>
          </a:bodyPr>
          <a:lstStyle/>
          <a:p>
            <a:pPr algn="l">
              <a:lnSpc>
                <a:spcPct val="115000"/>
              </a:lnSpc>
              <a:spcAft>
                <a:spcPts val="1600"/>
              </a:spcAft>
            </a:pPr>
            <a:r>
              <a:rPr sz="1900" b="0" i="0">
                <a:solidFill>
                  <a:srgbClr val="1C3738"/>
                </a:solidFill>
                <a:latin typeface="Calibri"/>
              </a:rPr>
              <a:t>•  One command produces the model, the scores and every plot in this deck</a:t>
            </a:r>
          </a:p>
          <a:p>
            <a:pPr algn="l">
              <a:lnSpc>
                <a:spcPct val="115000"/>
              </a:lnSpc>
              <a:spcAft>
                <a:spcPts val="1600"/>
              </a:spcAft>
            </a:pPr>
            <a:r>
              <a:rPr sz="1900" b="0" i="0">
                <a:solidFill>
                  <a:srgbClr val="1C3738"/>
                </a:solidFill>
                <a:latin typeface="Calibri"/>
              </a:rPr>
              <a:t>•  At this rate, 100 million rows would take about two hours</a:t>
            </a:r>
          </a:p>
          <a:p>
            <a:pPr algn="l">
              <a:lnSpc>
                <a:spcPct val="115000"/>
              </a:lnSpc>
              <a:spcAft>
                <a:spcPts val="1600"/>
              </a:spcAft>
            </a:pPr>
            <a:r>
              <a:rPr sz="1900" b="0" i="0">
                <a:solidFill>
                  <a:srgbClr val="1C3738"/>
                </a:solidFill>
                <a:latin typeface="Calibri"/>
              </a:rPr>
              <a:t>•  And it would use the same amount of memory it does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914400"/>
            <a:ext cx="10332720" cy="822960"/>
          </a:xfrm>
          <a:prstGeom prst="rect">
            <a:avLst/>
          </a:prstGeom>
          <a:noFill/>
        </p:spPr>
        <p:txBody>
          <a:bodyPr wrap="square" anchor="t" lIns="0" rIns="0" tIns="0" bIns="0">
            <a:spAutoFit/>
          </a:bodyPr>
          <a:lstStyle/>
          <a:p>
            <a:pPr algn="l">
              <a:lnSpc>
                <a:spcPct val="100000"/>
              </a:lnSpc>
            </a:pPr>
            <a:r>
              <a:rPr sz="4200" b="1" i="0">
                <a:solidFill>
                  <a:srgbClr val="FFFFFF"/>
                </a:solidFill>
                <a:latin typeface="Cambria"/>
              </a:rPr>
              <a:t>What we would do next</a:t>
            </a:r>
          </a:p>
        </p:txBody>
      </p:sp>
      <p:sp>
        <p:nvSpPr>
          <p:cNvPr id="3" name="TextBox 2"/>
          <p:cNvSpPr txBox="1"/>
          <p:nvPr/>
        </p:nvSpPr>
        <p:spPr>
          <a:xfrm>
            <a:off x="914400" y="2103120"/>
            <a:ext cx="10332720" cy="3383280"/>
          </a:xfrm>
          <a:prstGeom prst="rect">
            <a:avLst/>
          </a:prstGeom>
          <a:noFill/>
        </p:spPr>
        <p:txBody>
          <a:bodyPr wrap="square" anchor="t" lIns="0" rIns="0" tIns="0" bIns="0">
            <a:spAutoFit/>
          </a:bodyPr>
          <a:lstStyle/>
          <a:p>
            <a:pPr algn="l">
              <a:lnSpc>
                <a:spcPct val="115000"/>
              </a:lnSpc>
              <a:spcAft>
                <a:spcPts val="1800"/>
              </a:spcAft>
            </a:pPr>
            <a:r>
              <a:rPr sz="1900" b="0" i="0">
                <a:solidFill>
                  <a:srgbClr val="D6F5F3"/>
                </a:solidFill>
                <a:latin typeface="Calibri"/>
              </a:rPr>
              <a:t>•  Treat product and category as labels, not numbers — right now the model is told product 5,000 is bigger than product 2,500</a:t>
            </a:r>
          </a:p>
          <a:p>
            <a:pPr algn="l">
              <a:lnSpc>
                <a:spcPct val="115000"/>
              </a:lnSpc>
              <a:spcAft>
                <a:spcPts val="1800"/>
              </a:spcAft>
            </a:pPr>
            <a:r>
              <a:rPr sz="1900" b="0" i="0">
                <a:solidFill>
                  <a:srgbClr val="D6F5F3"/>
                </a:solidFill>
                <a:latin typeface="Calibri"/>
              </a:rPr>
              <a:t>•  Fix the random starting point so every run gives exactly the same answer</a:t>
            </a:r>
          </a:p>
          <a:p>
            <a:pPr algn="l">
              <a:lnSpc>
                <a:spcPct val="115000"/>
              </a:lnSpc>
              <a:spcAft>
                <a:spcPts val="1800"/>
              </a:spcAft>
            </a:pPr>
            <a:r>
              <a:rPr sz="1900" b="0" i="0">
                <a:solidFill>
                  <a:srgbClr val="D6F5F3"/>
                </a:solidFill>
                <a:latin typeface="Calibri"/>
              </a:rPr>
              <a:t>•  Try a different building block in the middle layers; the one we were given learns slowly</a:t>
            </a:r>
          </a:p>
          <a:p>
            <a:pPr algn="l">
              <a:lnSpc>
                <a:spcPct val="115000"/>
              </a:lnSpc>
              <a:spcAft>
                <a:spcPts val="1800"/>
              </a:spcAft>
            </a:pPr>
            <a:r>
              <a:rPr sz="1900" b="0" i="0">
                <a:solidFill>
                  <a:srgbClr val="D6F5F3"/>
                </a:solidFill>
                <a:latin typeface="Calibri"/>
              </a:rPr>
              <a:t>•  Measure what a second pass over the data would buy us</a:t>
            </a:r>
          </a:p>
        </p:txBody>
      </p:sp>
      <p:sp>
        <p:nvSpPr>
          <p:cNvPr id="4" name="TextBox 3"/>
          <p:cNvSpPr txBox="1"/>
          <p:nvPr/>
        </p:nvSpPr>
        <p:spPr>
          <a:xfrm>
            <a:off x="914400" y="5943600"/>
            <a:ext cx="10332720" cy="411480"/>
          </a:xfrm>
          <a:prstGeom prst="rect">
            <a:avLst/>
          </a:prstGeom>
          <a:noFill/>
        </p:spPr>
        <p:txBody>
          <a:bodyPr wrap="square" anchor="t" lIns="0" rIns="0" tIns="0" bIns="0">
            <a:spAutoFit/>
          </a:bodyPr>
          <a:lstStyle/>
          <a:p>
            <a:pPr algn="l">
              <a:lnSpc>
                <a:spcPct val="100000"/>
              </a:lnSpc>
            </a:pPr>
            <a:r>
              <a:rPr sz="1600" b="0" i="0">
                <a:solidFill>
                  <a:srgbClr val="F2825B"/>
                </a:solidFill>
                <a:latin typeface="Calibri"/>
              </a:rPr>
              <a:t>Group 7   ·   Ansley Smith, Rebecca Drake, Ximin Zeng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WHO DID WHAT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Contributions</a:t>
            </a:r>
          </a:p>
        </p:txBody>
      </p:sp>
      <p:sp>
        <p:nvSpPr>
          <p:cNvPr id="4" name="Rounded Rectangle 3"/>
          <p:cNvSpPr/>
          <p:nvPr/>
        </p:nvSpPr>
        <p:spPr>
          <a:xfrm>
            <a:off x="594360" y="164592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68680" y="197510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XZ</a:t>
            </a:r>
          </a:p>
        </p:txBody>
      </p:sp>
      <p:sp>
        <p:nvSpPr>
          <p:cNvPr id="6" name="TextBox 5"/>
          <p:cNvSpPr txBox="1"/>
          <p:nvPr/>
        </p:nvSpPr>
        <p:spPr>
          <a:xfrm>
            <a:off x="1874519" y="195681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Ximin Zeng</a:t>
            </a:r>
          </a:p>
        </p:txBody>
      </p:sp>
      <p:sp>
        <p:nvSpPr>
          <p:cNvPr id="7" name="TextBox 6"/>
          <p:cNvSpPr txBox="1"/>
          <p:nvPr/>
        </p:nvSpPr>
        <p:spPr>
          <a:xfrm>
            <a:off x="1874519" y="237744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1–5, 19–20</a:t>
            </a:r>
          </a:p>
        </p:txBody>
      </p:sp>
      <p:sp>
        <p:nvSpPr>
          <p:cNvPr id="8" name="TextBox 7"/>
          <p:cNvSpPr txBox="1"/>
          <p:nvPr/>
        </p:nvSpPr>
        <p:spPr>
          <a:xfrm>
            <a:off x="4389120" y="184708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Explored pricing.csv and documented what every column means, including the sample rows on slide 3. Established the memory constraint the whole project is built around, and produced the comparison on slide 5. Wrote the limitations and future-work analysis.</a:t>
            </a:r>
          </a:p>
        </p:txBody>
      </p:sp>
      <p:sp>
        <p:nvSpPr>
          <p:cNvPr id="9" name="Rounded Rectangle 8"/>
          <p:cNvSpPr/>
          <p:nvPr/>
        </p:nvSpPr>
        <p:spPr>
          <a:xfrm>
            <a:off x="594360" y="320040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68680" y="352958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AS</a:t>
            </a:r>
          </a:p>
        </p:txBody>
      </p:sp>
      <p:sp>
        <p:nvSpPr>
          <p:cNvPr id="11" name="TextBox 10"/>
          <p:cNvSpPr txBox="1"/>
          <p:nvPr/>
        </p:nvSpPr>
        <p:spPr>
          <a:xfrm>
            <a:off x="1874519" y="351129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Ansley Smith</a:t>
            </a:r>
          </a:p>
        </p:txBody>
      </p:sp>
      <p:sp>
        <p:nvSpPr>
          <p:cNvPr id="12" name="TextBox 11"/>
          <p:cNvSpPr txBox="1"/>
          <p:nvPr/>
        </p:nvSpPr>
        <p:spPr>
          <a:xfrm>
            <a:off x="1874519" y="393192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6–12</a:t>
            </a:r>
          </a:p>
        </p:txBody>
      </p:sp>
      <p:sp>
        <p:nvSpPr>
          <p:cNvPr id="13" name="TextBox 12"/>
          <p:cNvSpPr txBox="1"/>
          <p:nvPr/>
        </p:nvSpPr>
        <p:spPr>
          <a:xfrm>
            <a:off x="4389120" y="340156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Built the streaming pipeline in data.py — chunked reads, running statistics, the hash-based train/test split — plus model.py and the training loop. Diagnosed the sorted-file problem, implemented the shuffle buffer, and ran the buffer-size sweep on slide 11.</a:t>
            </a:r>
          </a:p>
        </p:txBody>
      </p:sp>
      <p:sp>
        <p:nvSpPr>
          <p:cNvPr id="14" name="Rounded Rectangle 13"/>
          <p:cNvSpPr/>
          <p:nvPr/>
        </p:nvSpPr>
        <p:spPr>
          <a:xfrm>
            <a:off x="594360" y="475488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68680" y="508406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RD</a:t>
            </a:r>
          </a:p>
        </p:txBody>
      </p:sp>
      <p:sp>
        <p:nvSpPr>
          <p:cNvPr id="16" name="TextBox 15"/>
          <p:cNvSpPr txBox="1"/>
          <p:nvPr/>
        </p:nvSpPr>
        <p:spPr>
          <a:xfrm>
            <a:off x="1874519" y="506577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Rebecca Drake</a:t>
            </a:r>
          </a:p>
        </p:txBody>
      </p:sp>
      <p:sp>
        <p:nvSpPr>
          <p:cNvPr id="17" name="TextBox 16"/>
          <p:cNvSpPr txBox="1"/>
          <p:nvPr/>
        </p:nvSpPr>
        <p:spPr>
          <a:xfrm>
            <a:off x="1874519" y="548640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13–18</a:t>
            </a:r>
          </a:p>
        </p:txBody>
      </p:sp>
      <p:sp>
        <p:nvSpPr>
          <p:cNvPr id="18" name="TextBox 17"/>
          <p:cNvSpPr txBox="1"/>
          <p:nvPr/>
        </p:nvSpPr>
        <p:spPr>
          <a:xfrm>
            <a:off x="4389120" y="495604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Wrote metrics.py — R-squared from the formula in the assignment, MSE, permutation importance and partial dependence — and plots.py. Added the memory instrumentation and timing, and produced all four figures in the results section.</a:t>
            </a:r>
          </a:p>
        </p:txBody>
      </p:sp>
      <p:sp>
        <p:nvSpPr>
          <p:cNvPr id="19" name="TextBox 18"/>
          <p:cNvSpPr txBox="1"/>
          <p:nvPr/>
        </p:nvSpPr>
        <p:spPr>
          <a:xfrm>
            <a:off x="594360" y="6355080"/>
            <a:ext cx="10972800" cy="411480"/>
          </a:xfrm>
          <a:prstGeom prst="rect">
            <a:avLst/>
          </a:prstGeom>
          <a:noFill/>
        </p:spPr>
        <p:txBody>
          <a:bodyPr wrap="square" anchor="t" lIns="0" rIns="0" tIns="0" bIns="0">
            <a:spAutoFit/>
          </a:bodyPr>
          <a:lstStyle/>
          <a:p>
            <a:pPr algn="l">
              <a:lnSpc>
                <a:spcPct val="100000"/>
              </a:lnSpc>
            </a:pPr>
            <a:r>
              <a:rPr sz="1500" b="0" i="1">
                <a:solidFill>
                  <a:srgbClr val="557575"/>
                </a:solidFill>
                <a:latin typeface="Calibri"/>
              </a:rPr>
              <a:t>Each of us prepared the material for our own section and presents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