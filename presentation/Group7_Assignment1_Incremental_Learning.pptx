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1">
                <a:solidFill>
                  <a:srgbClr val="0B2E33"/>
                </a:solidFill>
                <a:latin typeface="Calibri"/>
              </a:rPr>
              <a:t>Accuracy against size of the shuffle window</a:t>
            </a:r>
          </a:p>
        </c:rich>
      </c:tx>
      <c:layout/>
      <c:overlay val="0"/>
    </c:title>
    <c:autoTitleDeleted val="0"/>
    <c:plotArea>
      <c:barChart>
        <c:barDir val="col"/>
        <c:grouping val="clustered"/>
        <c:varyColors val="0"/>
        <c:ser>
          <c:idx val="0"/>
          <c:order val="0"/>
          <c:tx>
            <c:strRef>
              <c:f>Sheet1!$B$1</c:f>
              <c:strCache>
                <c:ptCount val="1"/>
                <c:pt idx="0">
                  <c:v>Accuracy</c:v>
                </c:pt>
              </c:strCache>
            </c:strRef>
          </c:tx>
          <c:dPt>
            <c:idx val="0"/>
            <c:spPr>
              <a:solidFill>
                <a:srgbClr val="0E7C7B"/>
              </a:solidFill>
            </c:spPr>
          </c:dPt>
          <c:dPt>
            <c:idx val="1"/>
            <c:spPr>
              <a:solidFill>
                <a:srgbClr val="0E7C7B"/>
              </a:solidFill>
            </c:spPr>
          </c:dPt>
          <c:dPt>
            <c:idx val="2"/>
            <c:spPr>
              <a:solidFill>
                <a:srgbClr val="0E7C7B"/>
              </a:solidFill>
            </c:spPr>
          </c:dPt>
          <c:dPt>
            <c:idx val="3"/>
            <c:spPr>
              <a:solidFill>
                <a:srgbClr val="C9502F"/>
              </a:solidFill>
            </c:spPr>
          </c:dPt>
          <c:dPt>
            <c:idx val="4"/>
            <c:spPr>
              <a:solidFill>
                <a:srgbClr val="D6F5F3"/>
              </a:solidFill>
            </c:spPr>
          </c:dPt>
          <c:cat>
            <c:strRef>
              <c:f>Sheet1!$A$2:$A$6</c:f>
              <c:strCache>
                <c:ptCount val="5"/>
                <c:pt idx="0">
                  <c:v>no shuffle</c:v>
                </c:pt>
                <c:pt idx="1">
                  <c:v>50,000</c:v>
                </c:pt>
                <c:pt idx="2">
                  <c:v>100,000</c:v>
                </c:pt>
                <c:pt idx="3">
                  <c:v>200,000</c:v>
                </c:pt>
                <c:pt idx="4">
                  <c:v>400,000</c:v>
                </c:pt>
              </c:strCache>
            </c:strRef>
          </c:cat>
          <c:val>
            <c:numRef>
              <c:f>Sheet1!$B$2:$B$6</c:f>
              <c:numCache>
                <c:formatCode>General</c:formatCode>
                <c:ptCount val="5"/>
                <c:pt idx="0">
                  <c:v>0.4445</c:v>
                </c:pt>
                <c:pt idx="1">
                  <c:v>0.4478</c:v>
                </c:pt>
                <c:pt idx="2">
                  <c:v>0.5</c:v>
                </c:pt>
                <c:pt idx="3">
                  <c:v>0.5312</c:v>
                </c:pt>
                <c:pt idx="4">
                  <c:v>0.5406</c:v>
                </c:pt>
              </c:numCache>
            </c:numRef>
          </c:val>
        </c:ser>
        <c:dLbls>
          <c:numFmt formatCode="0.000" sourceLinked="0"/>
          <c:txPr>
            <a:bodyPr/>
            <a:lstStyle/>
            <a:p>
              <a:pPr>
                <a:defRPr sz="1300" b="1">
                  <a:solidFill>
                    <a:srgbClr val="1C3738"/>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none"/>
        <c:minorTickMark val="none"/>
        <c:tickLblPos val="nextTo"/>
        <c:txPr>
          <a:bodyPr/>
          <a:lstStyle/>
          <a:p>
            <a:pPr>
              <a:defRPr sz="1300">
                <a:solidFill>
                  <a:srgbClr val="557575"/>
                </a:solidFill>
                <a:latin typeface="Calibri"/>
              </a:defRPr>
            </a:pPr>
          </a:p>
        </c:txPr>
        <c:crossAx val="-2113994440"/>
        <c:crosses val="autoZero"/>
        <c:auto val="1"/>
        <c:lblAlgn val="ctr"/>
        <c:lblOffset val="100"/>
        <c:noMultiLvlLbl val="0"/>
      </c:catAx>
      <c:valAx>
        <c:axId val="-2113994440"/>
        <c:scaling>
          <c:max val="0.58"/>
          <c:min val="0.4"/>
        </c:scaling>
        <c:delete val="0"/>
        <c:axPos val="l"/>
        <c:majorGridlines>
          <c:spPr>
            <a:ln w="9525">
              <a:solidFill>
                <a:srgbClr val="DCE9E8"/>
              </a:solidFill>
            </a:ln>
          </c:spPr>
        </c:majorGridlines>
        <c:majorTickMark val="none"/>
        <c:minorTickMark val="none"/>
        <c:tickLblPos val="nextTo"/>
        <c:txPr>
          <a:bodyPr/>
          <a:lstStyle/>
          <a:p>
            <a:pPr>
              <a:defRPr sz="1200">
                <a:solidFill>
                  <a:srgbClr val="557575"/>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job was to predict how many units a product sells, using a file we were told to treat as too big to fit in the computer.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why this matters. A retailer wants to know, before listing a product, how many units it will move. Everything else in the file is a clue.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real rows. A product can appear more than once, because a new row is created each time it comes back into stock. Duration is how long it stayed listed before selling 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point of the assignment. The file we were given is only 18 MB, but we had to build as though it were far too big to load.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usual approach loads the whole file, then trains. That needs a machine big enough for the file. We read one chunk, learn from it, discard it, and read the next.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one works out the average and spread of each column, which we need before we can put the numbers on a common scale. Pass two does the learning. Pass three sets aside rows to test on. Each pass holds only one chunk at a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neural network is a chain of simple pattern-finders. Each layer takes what the last one noticed and looks for patterns in that. The assignment specified three hidden layers with sigmoid activation.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decisions we expect questions about. The third one is the interesting one and gets its own section.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chunked version scored much worse than the version that loaded everything. It took a while to work out what was happening.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works by taking small steps based on small samples, and it assumes each sample is representative. Sorted data breaks that assumption completely.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bigger window mixes the rows more thoroughly and scores better, but costs more memory. At 200,000 rows we match what a full shuffle would give, for about five megabytes.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results the assignment asks for.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R-squared of 0.53. Train and test agree to within half a percent, so it is not memorising. Half the variation is still unexplained, which is honest for five columns and one pass over the data.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x-axis is how many records the model has seen. Error drops steeply early, then flattens. A second pass would help a little, but true incremental learning sees each record once.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Scrambling duration costs nearly all of our accuracy. Scrambling the product id costs essentially nothing, which means the model learned to ignore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panels say which direction each clue pushes the prediction, and how hard. Duration spans nearly 390 units of predicted sales. Product id spans less than 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numbers here. About 40 MB is allocated once, at the start, for the first chunk, the shuffle window and TensorFlow itself. After that, across 400,000 records, memory moves by only 10.7 MB. That is the evidence that nothing is accumulating.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Speed was never the constraint. Memory was. The point of the last line is that the approach scales: more data costs more time, not more memory.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one is the biggest missed opportunity, though the importance chart suggests the model already worked around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Fill this in as a team before submitting.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E33"/>
        </a:solidFill>
        <a:effectLst/>
      </p:bgPr>
    </p:bg>
    <p:spTree>
      <p:nvGrpSpPr>
        <p:cNvPr id="1" name=""/>
        <p:cNvGrpSpPr/>
        <p:nvPr/>
      </p:nvGrpSpPr>
      <p:grpSpPr/>
      <p:sp>
        <p:nvSpPr>
          <p:cNvPr id="2" name="TextBox 1"/>
          <p:cNvSpPr txBox="1"/>
          <p:nvPr/>
        </p:nvSpPr>
        <p:spPr>
          <a:xfrm>
            <a:off x="914400" y="1737360"/>
            <a:ext cx="10332720" cy="960120"/>
          </a:xfrm>
          <a:prstGeom prst="rect">
            <a:avLst/>
          </a:prstGeom>
          <a:noFill/>
        </p:spPr>
        <p:txBody>
          <a:bodyPr wrap="square" anchor="t" lIns="0" rIns="0" tIns="0" bIns="0">
            <a:spAutoFit/>
          </a:bodyPr>
          <a:lstStyle/>
          <a:p>
            <a:pPr algn="l">
              <a:lnSpc>
                <a:spcPct val="100000"/>
              </a:lnSpc>
            </a:pPr>
            <a:r>
              <a:rPr sz="5400" b="1" i="0">
                <a:solidFill>
                  <a:srgbClr val="FFFFFF"/>
                </a:solidFill>
                <a:latin typeface="Cambria"/>
              </a:rPr>
              <a:t>Incremental Learning</a:t>
            </a:r>
          </a:p>
        </p:txBody>
      </p:sp>
      <p:sp>
        <p:nvSpPr>
          <p:cNvPr id="3" name="TextBox 2"/>
          <p:cNvSpPr txBox="1"/>
          <p:nvPr/>
        </p:nvSpPr>
        <p:spPr>
          <a:xfrm>
            <a:off x="914400" y="2633472"/>
            <a:ext cx="10332720" cy="960120"/>
          </a:xfrm>
          <a:prstGeom prst="rect">
            <a:avLst/>
          </a:prstGeom>
          <a:noFill/>
        </p:spPr>
        <p:txBody>
          <a:bodyPr wrap="square" anchor="t" lIns="0" rIns="0" tIns="0" bIns="0">
            <a:spAutoFit/>
          </a:bodyPr>
          <a:lstStyle/>
          <a:p>
            <a:pPr algn="l">
              <a:lnSpc>
                <a:spcPct val="100000"/>
              </a:lnSpc>
            </a:pPr>
            <a:r>
              <a:rPr sz="5400" b="1" i="0">
                <a:solidFill>
                  <a:srgbClr val="17BEBB"/>
                </a:solidFill>
                <a:latin typeface="Cambria"/>
              </a:rPr>
              <a:t>on Large Data</a:t>
            </a:r>
          </a:p>
        </p:txBody>
      </p:sp>
      <p:sp>
        <p:nvSpPr>
          <p:cNvPr id="4" name="TextBox 3"/>
          <p:cNvSpPr txBox="1"/>
          <p:nvPr/>
        </p:nvSpPr>
        <p:spPr>
          <a:xfrm>
            <a:off x="914400" y="3749039"/>
            <a:ext cx="10332720" cy="457200"/>
          </a:xfrm>
          <a:prstGeom prst="rect">
            <a:avLst/>
          </a:prstGeom>
          <a:noFill/>
        </p:spPr>
        <p:txBody>
          <a:bodyPr wrap="square" anchor="t" lIns="0" rIns="0" tIns="0" bIns="0">
            <a:spAutoFit/>
          </a:bodyPr>
          <a:lstStyle/>
          <a:p>
            <a:pPr algn="l">
              <a:lnSpc>
                <a:spcPct val="100000"/>
              </a:lnSpc>
            </a:pPr>
            <a:r>
              <a:rPr sz="2100" b="0" i="0">
                <a:solidFill>
                  <a:srgbClr val="D6F5F3"/>
                </a:solidFill>
                <a:latin typeface="Calibri"/>
              </a:rPr>
              <a:t>Teaching a model to predict sales from a file too big to open</a:t>
            </a:r>
          </a:p>
        </p:txBody>
      </p:sp>
      <p:sp>
        <p:nvSpPr>
          <p:cNvPr id="5" name="TextBox 4"/>
          <p:cNvSpPr txBox="1"/>
          <p:nvPr/>
        </p:nvSpPr>
        <p:spPr>
          <a:xfrm>
            <a:off x="914400" y="4892040"/>
            <a:ext cx="4572000" cy="365760"/>
          </a:xfrm>
          <a:prstGeom prst="rect">
            <a:avLst/>
          </a:prstGeom>
          <a:noFill/>
        </p:spPr>
        <p:txBody>
          <a:bodyPr wrap="square" anchor="t" lIns="0" rIns="0" tIns="0" bIns="0">
            <a:spAutoFit/>
          </a:bodyPr>
          <a:lstStyle/>
          <a:p>
            <a:pPr algn="l">
              <a:lnSpc>
                <a:spcPct val="100000"/>
              </a:lnSpc>
            </a:pPr>
            <a:r>
              <a:rPr sz="1700" b="1" i="0">
                <a:solidFill>
                  <a:srgbClr val="F2825B"/>
                </a:solidFill>
                <a:latin typeface="Calibri"/>
              </a:rPr>
              <a:t>GROUP 7</a:t>
            </a:r>
          </a:p>
        </p:txBody>
      </p:sp>
      <p:sp>
        <p:nvSpPr>
          <p:cNvPr id="6" name="TextBox 5"/>
          <p:cNvSpPr txBox="1"/>
          <p:nvPr/>
        </p:nvSpPr>
        <p:spPr>
          <a:xfrm>
            <a:off x="914400" y="5285232"/>
            <a:ext cx="8229600" cy="365760"/>
          </a:xfrm>
          <a:prstGeom prst="rect">
            <a:avLst/>
          </a:prstGeom>
          <a:noFill/>
        </p:spPr>
        <p:txBody>
          <a:bodyPr wrap="square" anchor="t" lIns="0" rIns="0" tIns="0" bIns="0">
            <a:spAutoFit/>
          </a:bodyPr>
          <a:lstStyle/>
          <a:p>
            <a:pPr algn="l">
              <a:lnSpc>
                <a:spcPct val="100000"/>
              </a:lnSpc>
            </a:pPr>
            <a:r>
              <a:rPr sz="1800" b="0" i="0">
                <a:solidFill>
                  <a:srgbClr val="FFFFFF"/>
                </a:solidFill>
                <a:latin typeface="Calibri"/>
              </a:rPr>
              <a:t>Ansley Smith   ·   Rebecca Drake   ·   Ximin Zeng</a:t>
            </a:r>
          </a:p>
        </p:txBody>
      </p:sp>
      <p:sp>
        <p:nvSpPr>
          <p:cNvPr id="7" name="TextBox 6"/>
          <p:cNvSpPr txBox="1"/>
          <p:nvPr/>
        </p:nvSpPr>
        <p:spPr>
          <a:xfrm>
            <a:off x="914400" y="5705856"/>
            <a:ext cx="8229600" cy="365760"/>
          </a:xfrm>
          <a:prstGeom prst="rect">
            <a:avLst/>
          </a:prstGeom>
          <a:noFill/>
        </p:spPr>
        <p:txBody>
          <a:bodyPr wrap="square" anchor="t" lIns="0" rIns="0" tIns="0" bIns="0">
            <a:spAutoFit/>
          </a:bodyPr>
          <a:lstStyle/>
          <a:p>
            <a:pPr algn="l">
              <a:lnSpc>
                <a:spcPct val="100000"/>
              </a:lnSpc>
            </a:pPr>
            <a:r>
              <a:rPr sz="1500" b="0" i="0">
                <a:solidFill>
                  <a:srgbClr val="8FB5B5"/>
                </a:solidFill>
                <a:latin typeface="Calibri"/>
              </a:rPr>
              <a:t>BZAN 554  ·  Deep Learning  ·  Group Assignment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WHY ANYONE CARES</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The question: how many will this sell?</a:t>
            </a:r>
          </a:p>
        </p:txBody>
      </p:sp>
      <p:sp>
        <p:nvSpPr>
          <p:cNvPr id="4" name="TextBox 3"/>
          <p:cNvSpPr txBox="1"/>
          <p:nvPr/>
        </p:nvSpPr>
        <p:spPr>
          <a:xfrm>
            <a:off x="594360" y="1828800"/>
            <a:ext cx="6675120" cy="2377440"/>
          </a:xfrm>
          <a:prstGeom prst="rect">
            <a:avLst/>
          </a:prstGeom>
          <a:noFill/>
        </p:spPr>
        <p:txBody>
          <a:bodyPr wrap="square" anchor="t" lIns="0" rIns="0" tIns="0" bIns="0">
            <a:spAutoFit/>
          </a:bodyPr>
          <a:lstStyle/>
          <a:p>
            <a:pPr algn="l">
              <a:lnSpc>
                <a:spcPct val="125000"/>
              </a:lnSpc>
            </a:pPr>
            <a:r>
              <a:rPr sz="2100" b="0" i="0">
                <a:solidFill>
                  <a:srgbClr val="1C3738"/>
                </a:solidFill>
                <a:latin typeface="Calibri"/>
              </a:rPr>
              <a:t>An online retailer lists thousands of products. Each one sits on the site for a while, sells some number of units, then goes out of stock.</a:t>
            </a:r>
          </a:p>
        </p:txBody>
      </p:sp>
      <p:sp>
        <p:nvSpPr>
          <p:cNvPr id="5" name="TextBox 4"/>
          <p:cNvSpPr txBox="1"/>
          <p:nvPr/>
        </p:nvSpPr>
        <p:spPr>
          <a:xfrm>
            <a:off x="594360" y="3291840"/>
            <a:ext cx="6675120" cy="1463040"/>
          </a:xfrm>
          <a:prstGeom prst="rect">
            <a:avLst/>
          </a:prstGeom>
          <a:noFill/>
        </p:spPr>
        <p:txBody>
          <a:bodyPr wrap="square" anchor="t" lIns="0" rIns="0" tIns="0" bIns="0">
            <a:spAutoFit/>
          </a:bodyPr>
          <a:lstStyle/>
          <a:p>
            <a:pPr algn="l">
              <a:lnSpc>
                <a:spcPct val="125000"/>
              </a:lnSpc>
            </a:pPr>
            <a:r>
              <a:rPr sz="2100" b="0" i="0">
                <a:solidFill>
                  <a:srgbClr val="1C3738"/>
                </a:solidFill>
                <a:latin typeface="Calibri"/>
              </a:rPr>
              <a:t>If you could predict how many units a product will sell before you list it, you would know how much to stock and what to charge.</a:t>
            </a:r>
          </a:p>
        </p:txBody>
      </p:sp>
      <p:sp>
        <p:nvSpPr>
          <p:cNvPr id="6" name="Rounded Rectangle 5"/>
          <p:cNvSpPr/>
          <p:nvPr/>
        </p:nvSpPr>
        <p:spPr>
          <a:xfrm>
            <a:off x="7772400" y="1828800"/>
            <a:ext cx="3840480" cy="2103120"/>
          </a:xfrm>
          <a:prstGeom prst="roundRect">
            <a:avLst>
              <a:gd name="adj" fmla="val 6000"/>
            </a:avLst>
          </a:prstGeom>
          <a:solidFill>
            <a:srgbClr val="0B2E33"/>
          </a:solidFill>
          <a:ln w="12700">
            <a:solidFill>
              <a:srgbClr val="0B2E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845552" y="2102205"/>
            <a:ext cx="3694176" cy="1051560"/>
          </a:xfrm>
          <a:prstGeom prst="rect">
            <a:avLst/>
          </a:prstGeom>
          <a:noFill/>
        </p:spPr>
        <p:txBody>
          <a:bodyPr wrap="square" anchor="ctr" lIns="0" rIns="0" tIns="0" bIns="0">
            <a:spAutoFit/>
          </a:bodyPr>
          <a:lstStyle/>
          <a:p>
            <a:pPr algn="ctr">
              <a:lnSpc>
                <a:spcPct val="100000"/>
              </a:lnSpc>
            </a:pPr>
            <a:r>
              <a:rPr sz="3600" b="1" i="0">
                <a:solidFill>
                  <a:srgbClr val="17BEBB"/>
                </a:solidFill>
                <a:latin typeface="Cambria"/>
              </a:rPr>
              <a:t>quantity</a:t>
            </a:r>
          </a:p>
        </p:txBody>
      </p:sp>
      <p:sp>
        <p:nvSpPr>
          <p:cNvPr id="8" name="TextBox 7"/>
          <p:cNvSpPr txBox="1"/>
          <p:nvPr/>
        </p:nvSpPr>
        <p:spPr>
          <a:xfrm>
            <a:off x="7882127" y="3216859"/>
            <a:ext cx="3621024" cy="630936"/>
          </a:xfrm>
          <a:prstGeom prst="rect">
            <a:avLst/>
          </a:prstGeom>
          <a:noFill/>
        </p:spPr>
        <p:txBody>
          <a:bodyPr wrap="square" anchor="t" lIns="0" rIns="0" tIns="0" bIns="0">
            <a:spAutoFit/>
          </a:bodyPr>
          <a:lstStyle/>
          <a:p>
            <a:pPr algn="ctr">
              <a:lnSpc>
                <a:spcPct val="100000"/>
              </a:lnSpc>
            </a:pPr>
            <a:r>
              <a:rPr sz="1500" b="0" i="0">
                <a:solidFill>
                  <a:srgbClr val="8FB5B5"/>
                </a:solidFill>
                <a:latin typeface="Calibri"/>
              </a:rPr>
              <a:t>the number we are predicting</a:t>
            </a:r>
          </a:p>
        </p:txBody>
      </p:sp>
      <p:sp>
        <p:nvSpPr>
          <p:cNvPr id="9" name="TextBox 8"/>
          <p:cNvSpPr txBox="1"/>
          <p:nvPr/>
        </p:nvSpPr>
        <p:spPr>
          <a:xfrm>
            <a:off x="7772400" y="4206240"/>
            <a:ext cx="3840480" cy="1097280"/>
          </a:xfrm>
          <a:prstGeom prst="rect">
            <a:avLst/>
          </a:prstGeom>
          <a:noFill/>
        </p:spPr>
        <p:txBody>
          <a:bodyPr wrap="square" anchor="t" lIns="0" rIns="0" tIns="0" bIns="0">
            <a:spAutoFit/>
          </a:bodyPr>
          <a:lstStyle/>
          <a:p>
            <a:pPr algn="l">
              <a:lnSpc>
                <a:spcPct val="120000"/>
              </a:lnSpc>
            </a:pPr>
            <a:r>
              <a:rPr sz="1700" b="1" i="0">
                <a:solidFill>
                  <a:srgbClr val="C9502F"/>
                </a:solidFill>
                <a:latin typeface="Calibri"/>
              </a:rPr>
              <a:t>Everything else in the data is a clue we are allowed to 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WHAT THE DATA LOOKS LIKE</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Each row is one product, for one spell in stock</a:t>
            </a:r>
          </a:p>
        </p:txBody>
      </p:sp>
      <p:graphicFrame>
        <p:nvGraphicFramePr>
          <p:cNvPr id="4" name="Table 3"/>
          <p:cNvGraphicFramePr>
            <a:graphicFrameLocks noGrp="1"/>
          </p:cNvGraphicFramePr>
          <p:nvPr/>
        </p:nvGraphicFramePr>
        <p:xfrm>
          <a:off x="594360" y="1737360"/>
          <a:ext cx="6675120" cy="1828800"/>
        </p:xfrm>
        <a:graphic>
          <a:graphicData uri="http://schemas.openxmlformats.org/drawingml/2006/table">
            <a:tbl>
              <a:tblPr firstRow="1" bandRow="1">
                <a:tableStyleId>{5C22544A-7EE6-4342-B048-85BDC9FD1C3A}</a:tableStyleId>
              </a:tblPr>
              <a:tblGrid>
                <a:gridCol w="960120"/>
                <a:gridCol w="1051560"/>
                <a:gridCol w="1005840"/>
                <a:gridCol w="1234440"/>
                <a:gridCol w="1280160"/>
                <a:gridCol w="1143000"/>
              </a:tblGrid>
              <a:tr h="457200">
                <a:tc>
                  <a:txBody>
                    <a:bodyPr/>
                    <a:lstStyle/>
                    <a:p>
                      <a:pPr algn="ctr"/>
                      <a:r>
                        <a:rPr sz="1500" b="1">
                          <a:solidFill>
                            <a:srgbClr val="FFFFFF"/>
                          </a:solidFill>
                          <a:latin typeface="Calibri"/>
                        </a:rPr>
                        <a:t>sku</a:t>
                      </a:r>
                    </a:p>
                  </a:txBody>
                  <a:tcPr anchor="ctr">
                    <a:solidFill>
                      <a:srgbClr val="0B2E33"/>
                    </a:solidFill>
                  </a:tcPr>
                </a:tc>
                <a:tc>
                  <a:txBody>
                    <a:bodyPr/>
                    <a:lstStyle/>
                    <a:p>
                      <a:pPr algn="ctr"/>
                      <a:r>
                        <a:rPr sz="1500" b="1">
                          <a:solidFill>
                            <a:srgbClr val="FFFFFF"/>
                          </a:solidFill>
                          <a:latin typeface="Calibri"/>
                        </a:rPr>
                        <a:t>price</a:t>
                      </a:r>
                    </a:p>
                  </a:txBody>
                  <a:tcPr anchor="ctr">
                    <a:solidFill>
                      <a:srgbClr val="0B2E33"/>
                    </a:solidFill>
                  </a:tcPr>
                </a:tc>
                <a:tc>
                  <a:txBody>
                    <a:bodyPr/>
                    <a:lstStyle/>
                    <a:p>
                      <a:pPr algn="ctr"/>
                      <a:r>
                        <a:rPr sz="1500" b="1">
                          <a:solidFill>
                            <a:srgbClr val="FFFFFF"/>
                          </a:solidFill>
                          <a:latin typeface="Calibri"/>
                        </a:rPr>
                        <a:t>order</a:t>
                      </a:r>
                    </a:p>
                  </a:txBody>
                  <a:tcPr anchor="ctr">
                    <a:solidFill>
                      <a:srgbClr val="0B2E33"/>
                    </a:solidFill>
                  </a:tcPr>
                </a:tc>
                <a:tc>
                  <a:txBody>
                    <a:bodyPr/>
                    <a:lstStyle/>
                    <a:p>
                      <a:pPr algn="ctr"/>
                      <a:r>
                        <a:rPr sz="1500" b="1">
                          <a:solidFill>
                            <a:srgbClr val="FFFFFF"/>
                          </a:solidFill>
                          <a:latin typeface="Calibri"/>
                        </a:rPr>
                        <a:t>duration</a:t>
                      </a:r>
                    </a:p>
                  </a:txBody>
                  <a:tcPr anchor="ctr">
                    <a:solidFill>
                      <a:srgbClr val="0B2E33"/>
                    </a:solidFill>
                  </a:tcPr>
                </a:tc>
                <a:tc>
                  <a:txBody>
                    <a:bodyPr/>
                    <a:lstStyle/>
                    <a:p>
                      <a:pPr algn="ctr"/>
                      <a:r>
                        <a:rPr sz="1500" b="1">
                          <a:solidFill>
                            <a:srgbClr val="FFFFFF"/>
                          </a:solidFill>
                          <a:latin typeface="Calibri"/>
                        </a:rPr>
                        <a:t>category</a:t>
                      </a:r>
                    </a:p>
                  </a:txBody>
                  <a:tcPr anchor="ctr">
                    <a:solidFill>
                      <a:srgbClr val="0B2E33"/>
                    </a:solidFill>
                  </a:tcPr>
                </a:tc>
                <a:tc>
                  <a:txBody>
                    <a:bodyPr/>
                    <a:lstStyle/>
                    <a:p>
                      <a:pPr algn="ctr"/>
                      <a:r>
                        <a:rPr sz="1500" b="1">
                          <a:solidFill>
                            <a:srgbClr val="FFFFFF"/>
                          </a:solidFill>
                          <a:latin typeface="Calibri"/>
                        </a:rPr>
                        <a:t>quantity</a:t>
                      </a:r>
                    </a:p>
                  </a:txBody>
                  <a:tcPr anchor="ctr">
                    <a:solidFill>
                      <a:srgbClr val="0B2E33"/>
                    </a:solidFill>
                  </a:tcPr>
                </a:tc>
              </a:tr>
              <a:tr h="457200">
                <a:tc>
                  <a:txBody>
                    <a:bodyPr/>
                    <a:lstStyle/>
                    <a:p>
                      <a:pPr algn="ctr"/>
                      <a:r>
                        <a:rPr sz="1500" b="0">
                          <a:solidFill>
                            <a:srgbClr val="1C3738"/>
                          </a:solidFill>
                          <a:latin typeface="Calibri"/>
                        </a:rPr>
                        <a:t>11</a:t>
                      </a:r>
                    </a:p>
                  </a:txBody>
                  <a:tcPr anchor="ctr">
                    <a:solidFill>
                      <a:srgbClr val="FFFFFF"/>
                    </a:solidFill>
                  </a:tcPr>
                </a:tc>
                <a:tc>
                  <a:txBody>
                    <a:bodyPr/>
                    <a:lstStyle/>
                    <a:p>
                      <a:pPr algn="ctr"/>
                      <a:r>
                        <a:rPr sz="1500" b="0">
                          <a:solidFill>
                            <a:srgbClr val="1C3738"/>
                          </a:solidFill>
                          <a:latin typeface="Calibri"/>
                        </a:rPr>
                        <a:t>1.45</a:t>
                      </a:r>
                    </a:p>
                  </a:txBody>
                  <a:tcPr anchor="ctr">
                    <a:solidFill>
                      <a:srgbClr val="FFFFFF"/>
                    </a:solidFill>
                  </a:tcPr>
                </a:tc>
                <a:tc>
                  <a:txBody>
                    <a:bodyPr/>
                    <a:lstStyle/>
                    <a:p>
                      <a:pPr algn="ctr"/>
                      <a:r>
                        <a:rPr sz="1500" b="0">
                          <a:solidFill>
                            <a:srgbClr val="1C3738"/>
                          </a:solidFill>
                          <a:latin typeface="Calibri"/>
                        </a:rPr>
                        <a:t>0</a:t>
                      </a:r>
                    </a:p>
                  </a:txBody>
                  <a:tcPr anchor="ctr">
                    <a:solidFill>
                      <a:srgbClr val="FFFFFF"/>
                    </a:solidFill>
                  </a:tcPr>
                </a:tc>
                <a:tc>
                  <a:txBody>
                    <a:bodyPr/>
                    <a:lstStyle/>
                    <a:p>
                      <a:pPr algn="ctr"/>
                      <a:r>
                        <a:rPr sz="1500" b="0">
                          <a:solidFill>
                            <a:srgbClr val="1C3738"/>
                          </a:solidFill>
                          <a:latin typeface="Calibri"/>
                        </a:rPr>
                        <a:t>1.50</a:t>
                      </a:r>
                    </a:p>
                  </a:txBody>
                  <a:tcPr anchor="ctr">
                    <a:solidFill>
                      <a:srgbClr val="FFFFFF"/>
                    </a:solidFill>
                  </a:tcPr>
                </a:tc>
                <a:tc>
                  <a:txBody>
                    <a:bodyPr/>
                    <a:lstStyle/>
                    <a:p>
                      <a:pPr algn="ctr"/>
                      <a:r>
                        <a:rPr sz="1500" b="0">
                          <a:solidFill>
                            <a:srgbClr val="1C3738"/>
                          </a:solidFill>
                          <a:latin typeface="Calibri"/>
                        </a:rPr>
                        <a:t>17</a:t>
                      </a:r>
                    </a:p>
                  </a:txBody>
                  <a:tcPr anchor="ctr">
                    <a:solidFill>
                      <a:srgbClr val="FFFFFF"/>
                    </a:solidFill>
                  </a:tcPr>
                </a:tc>
                <a:tc>
                  <a:txBody>
                    <a:bodyPr/>
                    <a:lstStyle/>
                    <a:p>
                      <a:pPr algn="ctr"/>
                      <a:r>
                        <a:rPr sz="1500" b="1">
                          <a:solidFill>
                            <a:srgbClr val="0E7C7B"/>
                          </a:solidFill>
                          <a:latin typeface="Calibri"/>
                        </a:rPr>
                        <a:t>5</a:t>
                      </a:r>
                    </a:p>
                  </a:txBody>
                  <a:tcPr anchor="ctr">
                    <a:solidFill>
                      <a:srgbClr val="D6F5F3"/>
                    </a:solidFill>
                  </a:tcPr>
                </a:tc>
              </a:tr>
              <a:tr h="457200">
                <a:tc>
                  <a:txBody>
                    <a:bodyPr/>
                    <a:lstStyle/>
                    <a:p>
                      <a:pPr algn="ctr"/>
                      <a:r>
                        <a:rPr sz="1500" b="0">
                          <a:solidFill>
                            <a:srgbClr val="1C3738"/>
                          </a:solidFill>
                          <a:latin typeface="Calibri"/>
                        </a:rPr>
                        <a:t>11</a:t>
                      </a:r>
                    </a:p>
                  </a:txBody>
                  <a:tcPr anchor="ctr">
                    <a:solidFill>
                      <a:srgbClr val="FFFFFF"/>
                    </a:solidFill>
                  </a:tcPr>
                </a:tc>
                <a:tc>
                  <a:txBody>
                    <a:bodyPr/>
                    <a:lstStyle/>
                    <a:p>
                      <a:pPr algn="ctr"/>
                      <a:r>
                        <a:rPr sz="1500" b="0">
                          <a:solidFill>
                            <a:srgbClr val="1C3738"/>
                          </a:solidFill>
                          <a:latin typeface="Calibri"/>
                        </a:rPr>
                        <a:t>1.45</a:t>
                      </a:r>
                    </a:p>
                  </a:txBody>
                  <a:tcPr anchor="ctr">
                    <a:solidFill>
                      <a:srgbClr val="FFFFFF"/>
                    </a:solidFill>
                  </a:tcPr>
                </a:tc>
                <a:tc>
                  <a:txBody>
                    <a:bodyPr/>
                    <a:lstStyle/>
                    <a:p>
                      <a:pPr algn="ctr"/>
                      <a:r>
                        <a:rPr sz="1500" b="0">
                          <a:solidFill>
                            <a:srgbClr val="1C3738"/>
                          </a:solidFill>
                          <a:latin typeface="Calibri"/>
                        </a:rPr>
                        <a:t>1</a:t>
                      </a:r>
                    </a:p>
                  </a:txBody>
                  <a:tcPr anchor="ctr">
                    <a:solidFill>
                      <a:srgbClr val="FFFFFF"/>
                    </a:solidFill>
                  </a:tcPr>
                </a:tc>
                <a:tc>
                  <a:txBody>
                    <a:bodyPr/>
                    <a:lstStyle/>
                    <a:p>
                      <a:pPr algn="ctr"/>
                      <a:r>
                        <a:rPr sz="1500" b="0">
                          <a:solidFill>
                            <a:srgbClr val="1C3738"/>
                          </a:solidFill>
                          <a:latin typeface="Calibri"/>
                        </a:rPr>
                        <a:t>2.47</a:t>
                      </a:r>
                    </a:p>
                  </a:txBody>
                  <a:tcPr anchor="ctr">
                    <a:solidFill>
                      <a:srgbClr val="FFFFFF"/>
                    </a:solidFill>
                  </a:tcPr>
                </a:tc>
                <a:tc>
                  <a:txBody>
                    <a:bodyPr/>
                    <a:lstStyle/>
                    <a:p>
                      <a:pPr algn="ctr"/>
                      <a:r>
                        <a:rPr sz="1500" b="0">
                          <a:solidFill>
                            <a:srgbClr val="1C3738"/>
                          </a:solidFill>
                          <a:latin typeface="Calibri"/>
                        </a:rPr>
                        <a:t>17</a:t>
                      </a:r>
                    </a:p>
                  </a:txBody>
                  <a:tcPr anchor="ctr">
                    <a:solidFill>
                      <a:srgbClr val="FFFFFF"/>
                    </a:solidFill>
                  </a:tcPr>
                </a:tc>
                <a:tc>
                  <a:txBody>
                    <a:bodyPr/>
                    <a:lstStyle/>
                    <a:p>
                      <a:pPr algn="ctr"/>
                      <a:r>
                        <a:rPr sz="1500" b="1">
                          <a:solidFill>
                            <a:srgbClr val="0E7C7B"/>
                          </a:solidFill>
                          <a:latin typeface="Calibri"/>
                        </a:rPr>
                        <a:t>15</a:t>
                      </a:r>
                    </a:p>
                  </a:txBody>
                  <a:tcPr anchor="ctr">
                    <a:solidFill>
                      <a:srgbClr val="D6F5F3"/>
                    </a:solidFill>
                  </a:tcPr>
                </a:tc>
              </a:tr>
              <a:tr h="457200">
                <a:tc>
                  <a:txBody>
                    <a:bodyPr/>
                    <a:lstStyle/>
                    <a:p>
                      <a:pPr algn="ctr"/>
                      <a:r>
                        <a:rPr sz="1500" b="0">
                          <a:solidFill>
                            <a:srgbClr val="1C3738"/>
                          </a:solidFill>
                          <a:latin typeface="Calibri"/>
                        </a:rPr>
                        <a:t>17</a:t>
                      </a:r>
                    </a:p>
                  </a:txBody>
                  <a:tcPr anchor="ctr">
                    <a:solidFill>
                      <a:srgbClr val="FFFFFF"/>
                    </a:solidFill>
                  </a:tcPr>
                </a:tc>
                <a:tc>
                  <a:txBody>
                    <a:bodyPr/>
                    <a:lstStyle/>
                    <a:p>
                      <a:pPr algn="ctr"/>
                      <a:r>
                        <a:rPr sz="1500" b="0">
                          <a:solidFill>
                            <a:srgbClr val="1C3738"/>
                          </a:solidFill>
                          <a:latin typeface="Calibri"/>
                        </a:rPr>
                        <a:t>0.66</a:t>
                      </a:r>
                    </a:p>
                  </a:txBody>
                  <a:tcPr anchor="ctr">
                    <a:solidFill>
                      <a:srgbClr val="FFFFFF"/>
                    </a:solidFill>
                  </a:tcPr>
                </a:tc>
                <a:tc>
                  <a:txBody>
                    <a:bodyPr/>
                    <a:lstStyle/>
                    <a:p>
                      <a:pPr algn="ctr"/>
                      <a:r>
                        <a:rPr sz="1500" b="0">
                          <a:solidFill>
                            <a:srgbClr val="1C3738"/>
                          </a:solidFill>
                          <a:latin typeface="Calibri"/>
                        </a:rPr>
                        <a:t>1</a:t>
                      </a:r>
                    </a:p>
                  </a:txBody>
                  <a:tcPr anchor="ctr">
                    <a:solidFill>
                      <a:srgbClr val="FFFFFF"/>
                    </a:solidFill>
                  </a:tcPr>
                </a:tc>
                <a:tc>
                  <a:txBody>
                    <a:bodyPr/>
                    <a:lstStyle/>
                    <a:p>
                      <a:pPr algn="ctr"/>
                      <a:r>
                        <a:rPr sz="1500" b="0">
                          <a:solidFill>
                            <a:srgbClr val="1C3738"/>
                          </a:solidFill>
                          <a:latin typeface="Calibri"/>
                        </a:rPr>
                        <a:t>1.85</a:t>
                      </a:r>
                    </a:p>
                  </a:txBody>
                  <a:tcPr anchor="ctr">
                    <a:solidFill>
                      <a:srgbClr val="FFFFFF"/>
                    </a:solidFill>
                  </a:tcPr>
                </a:tc>
                <a:tc>
                  <a:txBody>
                    <a:bodyPr/>
                    <a:lstStyle/>
                    <a:p>
                      <a:pPr algn="ctr"/>
                      <a:r>
                        <a:rPr sz="1500" b="0">
                          <a:solidFill>
                            <a:srgbClr val="1C3738"/>
                          </a:solidFill>
                          <a:latin typeface="Calibri"/>
                        </a:rPr>
                        <a:t>17</a:t>
                      </a:r>
                    </a:p>
                  </a:txBody>
                  <a:tcPr anchor="ctr">
                    <a:solidFill>
                      <a:srgbClr val="FFFFFF"/>
                    </a:solidFill>
                  </a:tcPr>
                </a:tc>
                <a:tc>
                  <a:txBody>
                    <a:bodyPr/>
                    <a:lstStyle/>
                    <a:p>
                      <a:pPr algn="ctr"/>
                      <a:r>
                        <a:rPr sz="1500" b="1">
                          <a:solidFill>
                            <a:srgbClr val="0E7C7B"/>
                          </a:solidFill>
                          <a:latin typeface="Calibri"/>
                        </a:rPr>
                        <a:t>11</a:t>
                      </a:r>
                    </a:p>
                  </a:txBody>
                  <a:tcPr anchor="ctr">
                    <a:solidFill>
                      <a:srgbClr val="D6F5F3"/>
                    </a:solidFill>
                  </a:tcPr>
                </a:tc>
              </a:tr>
            </a:tbl>
          </a:graphicData>
        </a:graphic>
      </p:graphicFrame>
      <p:sp>
        <p:nvSpPr>
          <p:cNvPr id="5" name="TextBox 4"/>
          <p:cNvSpPr txBox="1"/>
          <p:nvPr/>
        </p:nvSpPr>
        <p:spPr>
          <a:xfrm>
            <a:off x="594360" y="3840480"/>
            <a:ext cx="6675120" cy="457200"/>
          </a:xfrm>
          <a:prstGeom prst="rect">
            <a:avLst/>
          </a:prstGeom>
          <a:noFill/>
        </p:spPr>
        <p:txBody>
          <a:bodyPr wrap="square" anchor="t" lIns="0" rIns="0" tIns="0" bIns="0">
            <a:spAutoFit/>
          </a:bodyPr>
          <a:lstStyle/>
          <a:p>
            <a:pPr algn="l">
              <a:lnSpc>
                <a:spcPct val="100000"/>
              </a:lnSpc>
            </a:pPr>
            <a:r>
              <a:rPr sz="1700" b="1" i="0">
                <a:solidFill>
                  <a:srgbClr val="C9502F"/>
                </a:solidFill>
                <a:latin typeface="Calibri"/>
              </a:rPr>
              <a:t>The last column is what we predict. The other five are what we predict it from.</a:t>
            </a:r>
          </a:p>
        </p:txBody>
      </p:sp>
      <p:sp>
        <p:nvSpPr>
          <p:cNvPr id="6" name="TextBox 5"/>
          <p:cNvSpPr txBox="1"/>
          <p:nvPr/>
        </p:nvSpPr>
        <p:spPr>
          <a:xfrm>
            <a:off x="7772400" y="1783080"/>
            <a:ext cx="3931920" cy="4023360"/>
          </a:xfrm>
          <a:prstGeom prst="rect">
            <a:avLst/>
          </a:prstGeom>
          <a:noFill/>
        </p:spPr>
        <p:txBody>
          <a:bodyPr wrap="square" anchor="t" lIns="0" rIns="0" tIns="0" bIns="0">
            <a:spAutoFit/>
          </a:bodyPr>
          <a:lstStyle/>
          <a:p>
            <a:pPr algn="l">
              <a:lnSpc>
                <a:spcPct val="120000"/>
              </a:lnSpc>
              <a:spcAft>
                <a:spcPts val="1400"/>
              </a:spcAft>
            </a:pPr>
            <a:r>
              <a:rPr sz="1600" b="0" i="0">
                <a:solidFill>
                  <a:srgbClr val="1C3738"/>
                </a:solidFill>
                <a:latin typeface="Calibri"/>
              </a:rPr>
              <a:t>•  sku  —  which product it is</a:t>
            </a:r>
          </a:p>
          <a:p>
            <a:pPr algn="l">
              <a:lnSpc>
                <a:spcPct val="120000"/>
              </a:lnSpc>
              <a:spcAft>
                <a:spcPts val="1400"/>
              </a:spcAft>
            </a:pPr>
            <a:r>
              <a:rPr sz="1600" b="0" i="0">
                <a:solidFill>
                  <a:srgbClr val="1C3738"/>
                </a:solidFill>
                <a:latin typeface="Calibri"/>
              </a:rPr>
              <a:t>•  price  —  what it costs</a:t>
            </a:r>
          </a:p>
          <a:p>
            <a:pPr algn="l">
              <a:lnSpc>
                <a:spcPct val="120000"/>
              </a:lnSpc>
              <a:spcAft>
                <a:spcPts val="1400"/>
              </a:spcAft>
            </a:pPr>
            <a:r>
              <a:rPr sz="1600" b="0" i="0">
                <a:solidFill>
                  <a:srgbClr val="1C3738"/>
                </a:solidFill>
                <a:latin typeface="Calibri"/>
              </a:rPr>
              <a:t>•  order  —  how many times it has been listed before</a:t>
            </a:r>
          </a:p>
          <a:p>
            <a:pPr algn="l">
              <a:lnSpc>
                <a:spcPct val="120000"/>
              </a:lnSpc>
              <a:spcAft>
                <a:spcPts val="1400"/>
              </a:spcAft>
            </a:pPr>
            <a:r>
              <a:rPr sz="1600" b="0" i="0">
                <a:solidFill>
                  <a:srgbClr val="1C3738"/>
                </a:solidFill>
                <a:latin typeface="Calibri"/>
              </a:rPr>
              <a:t>•  duration  —  how long it stayed on the site</a:t>
            </a:r>
          </a:p>
          <a:p>
            <a:pPr algn="l">
              <a:lnSpc>
                <a:spcPct val="120000"/>
              </a:lnSpc>
              <a:spcAft>
                <a:spcPts val="1400"/>
              </a:spcAft>
            </a:pPr>
            <a:r>
              <a:rPr sz="1600" b="0" i="0">
                <a:solidFill>
                  <a:srgbClr val="1C3738"/>
                </a:solidFill>
                <a:latin typeface="Calibri"/>
              </a:rPr>
              <a:t>•  category  —  what kind of product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2E33"/>
        </a:solidFill>
        <a:effectLst/>
      </p:bgPr>
    </p:bg>
    <p:spTree>
      <p:nvGrpSpPr>
        <p:cNvPr id="1" name=""/>
        <p:cNvGrpSpPr/>
        <p:nvPr/>
      </p:nvGrpSpPr>
      <p:grpSpPr/>
      <p:sp>
        <p:nvSpPr>
          <p:cNvPr id="2" name="TextBox 1"/>
          <p:cNvSpPr txBox="1"/>
          <p:nvPr/>
        </p:nvSpPr>
        <p:spPr>
          <a:xfrm>
            <a:off x="1005840" y="2194560"/>
            <a:ext cx="10149840" cy="365760"/>
          </a:xfrm>
          <a:prstGeom prst="rect">
            <a:avLst/>
          </a:prstGeom>
          <a:noFill/>
        </p:spPr>
        <p:txBody>
          <a:bodyPr wrap="square" anchor="t" lIns="0" rIns="0" tIns="0" bIns="0">
            <a:spAutoFit/>
          </a:bodyPr>
          <a:lstStyle/>
          <a:p>
            <a:pPr algn="l">
              <a:lnSpc>
                <a:spcPct val="100000"/>
              </a:lnSpc>
            </a:pPr>
            <a:r>
              <a:rPr sz="1600" b="1" i="0">
                <a:solidFill>
                  <a:srgbClr val="F2825B"/>
                </a:solidFill>
                <a:latin typeface="Calibri"/>
              </a:rPr>
              <a:t>BUT THERE WAS A CATCH</a:t>
            </a:r>
          </a:p>
        </p:txBody>
      </p:sp>
      <p:sp>
        <p:nvSpPr>
          <p:cNvPr id="3" name="TextBox 2"/>
          <p:cNvSpPr txBox="1"/>
          <p:nvPr/>
        </p:nvSpPr>
        <p:spPr>
          <a:xfrm>
            <a:off x="1005840" y="2670048"/>
            <a:ext cx="10149840" cy="1188720"/>
          </a:xfrm>
          <a:prstGeom prst="rect">
            <a:avLst/>
          </a:prstGeom>
          <a:noFill/>
        </p:spPr>
        <p:txBody>
          <a:bodyPr wrap="square" anchor="t" lIns="0" rIns="0" tIns="0" bIns="0">
            <a:spAutoFit/>
          </a:bodyPr>
          <a:lstStyle/>
          <a:p>
            <a:pPr algn="l">
              <a:lnSpc>
                <a:spcPct val="100000"/>
              </a:lnSpc>
            </a:pPr>
            <a:r>
              <a:rPr sz="4600" b="1" i="0">
                <a:solidFill>
                  <a:srgbClr val="FFFFFF"/>
                </a:solidFill>
                <a:latin typeface="Cambria"/>
              </a:rPr>
              <a:t>We were not allowed to
open the file</a:t>
            </a:r>
          </a:p>
        </p:txBody>
      </p:sp>
      <p:sp>
        <p:nvSpPr>
          <p:cNvPr id="4" name="TextBox 3"/>
          <p:cNvSpPr txBox="1"/>
          <p:nvPr/>
        </p:nvSpPr>
        <p:spPr>
          <a:xfrm>
            <a:off x="1005840" y="4069080"/>
            <a:ext cx="10149840" cy="731520"/>
          </a:xfrm>
          <a:prstGeom prst="rect">
            <a:avLst/>
          </a:prstGeom>
          <a:noFill/>
        </p:spPr>
        <p:txBody>
          <a:bodyPr wrap="square" anchor="t" lIns="0" rIns="0" tIns="0" bIns="0">
            <a:spAutoFit/>
          </a:bodyPr>
          <a:lstStyle/>
          <a:p>
            <a:pPr algn="l">
              <a:lnSpc>
                <a:spcPct val="115000"/>
              </a:lnSpc>
            </a:pPr>
            <a:r>
              <a:rPr sz="2000" b="0" i="0">
                <a:solidFill>
                  <a:srgbClr val="8FB5B5"/>
                </a:solidFill>
                <a:latin typeface="Calibri"/>
              </a:rPr>
              <a:t>The assignment says to assume the data is bigger than the computer’s memory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THE CONSTRAINT</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Normally you load everything. We could not.</a:t>
            </a:r>
          </a:p>
        </p:txBody>
      </p:sp>
      <p:pic>
        <p:nvPicPr>
          <p:cNvPr id="4" name="Picture 3" descr="contrast.png"/>
          <p:cNvPicPr>
            <a:picLocks noChangeAspect="1"/>
          </p:cNvPicPr>
          <p:nvPr/>
        </p:nvPicPr>
        <p:blipFill>
          <a:blip r:embed="rId2"/>
          <a:stretch>
            <a:fillRect/>
          </a:stretch>
        </p:blipFill>
        <p:spPr>
          <a:xfrm>
            <a:off x="502920" y="1691640"/>
            <a:ext cx="11201400" cy="4211052"/>
          </a:xfrm>
          <a:prstGeom prst="rect">
            <a:avLst/>
          </a:prstGeom>
        </p:spPr>
      </p:pic>
      <p:sp>
        <p:nvSpPr>
          <p:cNvPr id="5" name="TextBox 4"/>
          <p:cNvSpPr txBox="1"/>
          <p:nvPr/>
        </p:nvSpPr>
        <p:spPr>
          <a:xfrm>
            <a:off x="594360" y="5806440"/>
            <a:ext cx="10972800" cy="548640"/>
          </a:xfrm>
          <a:prstGeom prst="rect">
            <a:avLst/>
          </a:prstGeom>
          <a:noFill/>
        </p:spPr>
        <p:txBody>
          <a:bodyPr wrap="square" anchor="t" lIns="0" rIns="0" tIns="0" bIns="0">
            <a:spAutoFit/>
          </a:bodyPr>
          <a:lstStyle/>
          <a:p>
            <a:pPr algn="l">
              <a:lnSpc>
                <a:spcPct val="115000"/>
              </a:lnSpc>
            </a:pPr>
            <a:r>
              <a:rPr sz="1700" b="0" i="0">
                <a:solidFill>
                  <a:srgbClr val="1C3738"/>
                </a:solidFill>
                <a:latin typeface="Calibri"/>
              </a:rPr>
              <a:t>Reading a chunk at a time means the computer only ever holds a small piece — so the file could be a thousand times larger.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HOW IT ACTUALLY WORKS</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We read the file three times, a chunk at a time</a:t>
            </a:r>
          </a:p>
        </p:txBody>
      </p:sp>
      <p:pic>
        <p:nvPicPr>
          <p:cNvPr id="4" name="Picture 3" descr="pipeline.png"/>
          <p:cNvPicPr>
            <a:picLocks noChangeAspect="1"/>
          </p:cNvPicPr>
          <p:nvPr/>
        </p:nvPicPr>
        <p:blipFill>
          <a:blip r:embed="rId2"/>
          <a:stretch>
            <a:fillRect/>
          </a:stretch>
        </p:blipFill>
        <p:spPr>
          <a:xfrm>
            <a:off x="502920" y="1645920"/>
            <a:ext cx="11201400" cy="4382394"/>
          </a:xfrm>
          <a:prstGeom prst="rect">
            <a:avLst/>
          </a:prstGeom>
        </p:spPr>
      </p:pic>
      <p:sp>
        <p:nvSpPr>
          <p:cNvPr id="5" name="TextBox 4"/>
          <p:cNvSpPr txBox="1"/>
          <p:nvPr/>
        </p:nvSpPr>
        <p:spPr>
          <a:xfrm>
            <a:off x="594360" y="6035040"/>
            <a:ext cx="10972800" cy="548640"/>
          </a:xfrm>
          <a:prstGeom prst="rect">
            <a:avLst/>
          </a:prstGeom>
          <a:noFill/>
        </p:spPr>
        <p:txBody>
          <a:bodyPr wrap="square" anchor="t" lIns="0" rIns="0" tIns="0" bIns="0">
            <a:spAutoFit/>
          </a:bodyPr>
          <a:lstStyle/>
          <a:p>
            <a:pPr algn="l">
              <a:lnSpc>
                <a:spcPct val="100000"/>
              </a:lnSpc>
            </a:pPr>
            <a:r>
              <a:rPr sz="1700" b="1" i="0">
                <a:solidFill>
                  <a:srgbClr val="C9502F"/>
                </a:solidFill>
                <a:latin typeface="Calibri"/>
              </a:rPr>
              <a:t>Reading from disk is cheap. Holding data in memory is what we cannot afford.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WHAT WE BUILT</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The model is a stack of pattern-finders</a:t>
            </a:r>
          </a:p>
        </p:txBody>
      </p:sp>
      <p:pic>
        <p:nvPicPr>
          <p:cNvPr id="4" name="Picture 3" descr="architecture.png"/>
          <p:cNvPicPr>
            <a:picLocks noChangeAspect="1"/>
          </p:cNvPicPr>
          <p:nvPr/>
        </p:nvPicPr>
        <p:blipFill>
          <a:blip r:embed="rId2"/>
          <a:stretch>
            <a:fillRect/>
          </a:stretch>
        </p:blipFill>
        <p:spPr>
          <a:xfrm>
            <a:off x="502920" y="1645920"/>
            <a:ext cx="11201400" cy="3789377"/>
          </a:xfrm>
          <a:prstGeom prst="rect">
            <a:avLst/>
          </a:prstGeom>
        </p:spPr>
      </p:pic>
      <p:sp>
        <p:nvSpPr>
          <p:cNvPr id="5" name="TextBox 4"/>
          <p:cNvSpPr txBox="1"/>
          <p:nvPr/>
        </p:nvSpPr>
        <p:spPr>
          <a:xfrm>
            <a:off x="594360" y="5577840"/>
            <a:ext cx="10972800" cy="914400"/>
          </a:xfrm>
          <a:prstGeom prst="rect">
            <a:avLst/>
          </a:prstGeom>
          <a:noFill/>
        </p:spPr>
        <p:txBody>
          <a:bodyPr wrap="square" anchor="t" lIns="0" rIns="0" tIns="0" bIns="0">
            <a:spAutoFit/>
          </a:bodyPr>
          <a:lstStyle/>
          <a:p>
            <a:pPr algn="l">
              <a:lnSpc>
                <a:spcPct val="120000"/>
              </a:lnSpc>
            </a:pPr>
            <a:r>
              <a:rPr sz="1800" b="0" i="0">
                <a:solidFill>
                  <a:srgbClr val="1C3738"/>
                </a:solidFill>
                <a:latin typeface="Calibri"/>
              </a:rPr>
              <a:t>Five facts go in. Each layer looks for patterns in what the previous layer found. One number comes out: how many units we expect to sell.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AND WHY</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Three choices we had to make</a:t>
            </a:r>
          </a:p>
        </p:txBody>
      </p:sp>
      <p:sp>
        <p:nvSpPr>
          <p:cNvPr id="4" name="Oval 3"/>
          <p:cNvSpPr/>
          <p:nvPr/>
        </p:nvSpPr>
        <p:spPr>
          <a:xfrm>
            <a:off x="594360" y="1783080"/>
            <a:ext cx="658368" cy="658368"/>
          </a:xfrm>
          <a:prstGeom prst="ellipse">
            <a:avLst/>
          </a:prstGeom>
          <a:solidFill>
            <a:srgbClr val="0E7C7B"/>
          </a:solidFill>
          <a:ln>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300" b="1">
                <a:solidFill>
                  <a:srgbClr val="FFFFFF"/>
                </a:solidFill>
                <a:latin typeface="Cambria"/>
              </a:rPr>
              <a:t>1</a:t>
            </a:r>
          </a:p>
        </p:txBody>
      </p:sp>
      <p:sp>
        <p:nvSpPr>
          <p:cNvPr id="5" name="TextBox 4"/>
          <p:cNvSpPr txBox="1"/>
          <p:nvPr/>
        </p:nvSpPr>
        <p:spPr>
          <a:xfrm>
            <a:off x="1508760" y="1737360"/>
            <a:ext cx="10058400" cy="384048"/>
          </a:xfrm>
          <a:prstGeom prst="rect">
            <a:avLst/>
          </a:prstGeom>
          <a:noFill/>
        </p:spPr>
        <p:txBody>
          <a:bodyPr wrap="square" anchor="t" lIns="0" rIns="0" tIns="0" bIns="0">
            <a:spAutoFit/>
          </a:bodyPr>
          <a:lstStyle/>
          <a:p>
            <a:pPr algn="l">
              <a:lnSpc>
                <a:spcPct val="100000"/>
              </a:lnSpc>
            </a:pPr>
            <a:r>
              <a:rPr sz="2100" b="1" i="0">
                <a:solidFill>
                  <a:srgbClr val="0B2E33"/>
                </a:solidFill>
                <a:latin typeface="Calibri"/>
              </a:rPr>
              <a:t>We put the answer on the same scale as the clues</a:t>
            </a:r>
          </a:p>
        </p:txBody>
      </p:sp>
      <p:sp>
        <p:nvSpPr>
          <p:cNvPr id="6" name="TextBox 5"/>
          <p:cNvSpPr txBox="1"/>
          <p:nvPr/>
        </p:nvSpPr>
        <p:spPr>
          <a:xfrm>
            <a:off x="1508760" y="2185416"/>
            <a:ext cx="10058400" cy="822960"/>
          </a:xfrm>
          <a:prstGeom prst="rect">
            <a:avLst/>
          </a:prstGeom>
          <a:noFill/>
        </p:spPr>
        <p:txBody>
          <a:bodyPr wrap="square" anchor="t" lIns="0" rIns="0" tIns="0" bIns="0">
            <a:spAutoFit/>
          </a:bodyPr>
          <a:lstStyle/>
          <a:p>
            <a:pPr algn="l">
              <a:lnSpc>
                <a:spcPct val="115000"/>
              </a:lnSpc>
            </a:pPr>
            <a:r>
              <a:rPr sz="1600" b="0" i="0">
                <a:solidFill>
                  <a:srgbClr val="1C3738"/>
                </a:solidFill>
                <a:latin typeface="Calibri"/>
              </a:rPr>
              <a:t>Sales run from 1 to over 4,000. Numbers that large jam the model, so we shrank them for training and converted back afterwards.</a:t>
            </a:r>
          </a:p>
        </p:txBody>
      </p:sp>
      <p:sp>
        <p:nvSpPr>
          <p:cNvPr id="7" name="Oval 6"/>
          <p:cNvSpPr/>
          <p:nvPr/>
        </p:nvSpPr>
        <p:spPr>
          <a:xfrm>
            <a:off x="594360" y="3291840"/>
            <a:ext cx="658368" cy="658368"/>
          </a:xfrm>
          <a:prstGeom prst="ellipse">
            <a:avLst/>
          </a:prstGeom>
          <a:solidFill>
            <a:srgbClr val="0E7C7B"/>
          </a:solidFill>
          <a:ln>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300" b="1">
                <a:solidFill>
                  <a:srgbClr val="FFFFFF"/>
                </a:solidFill>
                <a:latin typeface="Cambria"/>
              </a:rPr>
              <a:t>2</a:t>
            </a:r>
          </a:p>
        </p:txBody>
      </p:sp>
      <p:sp>
        <p:nvSpPr>
          <p:cNvPr id="8" name="TextBox 7"/>
          <p:cNvSpPr txBox="1"/>
          <p:nvPr/>
        </p:nvSpPr>
        <p:spPr>
          <a:xfrm>
            <a:off x="1508760" y="3246120"/>
            <a:ext cx="10058400" cy="384048"/>
          </a:xfrm>
          <a:prstGeom prst="rect">
            <a:avLst/>
          </a:prstGeom>
          <a:noFill/>
        </p:spPr>
        <p:txBody>
          <a:bodyPr wrap="square" anchor="t" lIns="0" rIns="0" tIns="0" bIns="0">
            <a:spAutoFit/>
          </a:bodyPr>
          <a:lstStyle/>
          <a:p>
            <a:pPr algn="l">
              <a:lnSpc>
                <a:spcPct val="100000"/>
              </a:lnSpc>
            </a:pPr>
            <a:r>
              <a:rPr sz="2100" b="1" i="0">
                <a:solidFill>
                  <a:srgbClr val="0B2E33"/>
                </a:solidFill>
                <a:latin typeface="Calibri"/>
              </a:rPr>
              <a:t>The last step had to be left unrestricted</a:t>
            </a:r>
          </a:p>
        </p:txBody>
      </p:sp>
      <p:sp>
        <p:nvSpPr>
          <p:cNvPr id="9" name="TextBox 8"/>
          <p:cNvSpPr txBox="1"/>
          <p:nvPr/>
        </p:nvSpPr>
        <p:spPr>
          <a:xfrm>
            <a:off x="1508760" y="3694176"/>
            <a:ext cx="10058400" cy="822960"/>
          </a:xfrm>
          <a:prstGeom prst="rect">
            <a:avLst/>
          </a:prstGeom>
          <a:noFill/>
        </p:spPr>
        <p:txBody>
          <a:bodyPr wrap="square" anchor="t" lIns="0" rIns="0" tIns="0" bIns="0">
            <a:spAutoFit/>
          </a:bodyPr>
          <a:lstStyle/>
          <a:p>
            <a:pPr algn="l">
              <a:lnSpc>
                <a:spcPct val="115000"/>
              </a:lnSpc>
            </a:pPr>
            <a:r>
              <a:rPr sz="1600" b="0" i="0">
                <a:solidFill>
                  <a:srgbClr val="1C3738"/>
                </a:solidFill>
                <a:latin typeface="Calibri"/>
              </a:rPr>
              <a:t>The building block we were told to use can only ever output a number between 0 and 1 — useless for predicting sales of 300.</a:t>
            </a:r>
          </a:p>
        </p:txBody>
      </p:sp>
      <p:sp>
        <p:nvSpPr>
          <p:cNvPr id="10" name="Oval 9"/>
          <p:cNvSpPr/>
          <p:nvPr/>
        </p:nvSpPr>
        <p:spPr>
          <a:xfrm>
            <a:off x="594360" y="4800600"/>
            <a:ext cx="658368" cy="658368"/>
          </a:xfrm>
          <a:prstGeom prst="ellipse">
            <a:avLst/>
          </a:prstGeom>
          <a:solidFill>
            <a:srgbClr val="0E7C7B"/>
          </a:solidFill>
          <a:ln>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300" b="1">
                <a:solidFill>
                  <a:srgbClr val="FFFFFF"/>
                </a:solidFill>
                <a:latin typeface="Cambria"/>
              </a:rPr>
              <a:t>3</a:t>
            </a:r>
          </a:p>
        </p:txBody>
      </p:sp>
      <p:sp>
        <p:nvSpPr>
          <p:cNvPr id="11" name="TextBox 10"/>
          <p:cNvSpPr txBox="1"/>
          <p:nvPr/>
        </p:nvSpPr>
        <p:spPr>
          <a:xfrm>
            <a:off x="1508760" y="4754880"/>
            <a:ext cx="10058400" cy="384048"/>
          </a:xfrm>
          <a:prstGeom prst="rect">
            <a:avLst/>
          </a:prstGeom>
          <a:noFill/>
        </p:spPr>
        <p:txBody>
          <a:bodyPr wrap="square" anchor="t" lIns="0" rIns="0" tIns="0" bIns="0">
            <a:spAutoFit/>
          </a:bodyPr>
          <a:lstStyle/>
          <a:p>
            <a:pPr algn="l">
              <a:lnSpc>
                <a:spcPct val="100000"/>
              </a:lnSpc>
            </a:pPr>
            <a:r>
              <a:rPr sz="2100" b="1" i="0">
                <a:solidFill>
                  <a:srgbClr val="0B2E33"/>
                </a:solidFill>
                <a:latin typeface="Calibri"/>
              </a:rPr>
              <a:t>We had to mix up the rows before learning</a:t>
            </a:r>
          </a:p>
        </p:txBody>
      </p:sp>
      <p:sp>
        <p:nvSpPr>
          <p:cNvPr id="12" name="TextBox 11"/>
          <p:cNvSpPr txBox="1"/>
          <p:nvPr/>
        </p:nvSpPr>
        <p:spPr>
          <a:xfrm>
            <a:off x="1508760" y="5202936"/>
            <a:ext cx="10058400" cy="822960"/>
          </a:xfrm>
          <a:prstGeom prst="rect">
            <a:avLst/>
          </a:prstGeom>
          <a:noFill/>
        </p:spPr>
        <p:txBody>
          <a:bodyPr wrap="square" anchor="t" lIns="0" rIns="0" tIns="0" bIns="0">
            <a:spAutoFit/>
          </a:bodyPr>
          <a:lstStyle/>
          <a:p>
            <a:pPr algn="l">
              <a:lnSpc>
                <a:spcPct val="115000"/>
              </a:lnSpc>
            </a:pPr>
            <a:r>
              <a:rPr sz="1600" b="0" i="0">
                <a:solidFill>
                  <a:srgbClr val="1C3738"/>
                </a:solidFill>
                <a:latin typeface="Calibri"/>
              </a:rPr>
              <a:t>More on this next — it turned out to be the most important thing we did.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2E33"/>
        </a:solidFill>
        <a:effectLst/>
      </p:bgPr>
    </p:bg>
    <p:spTree>
      <p:nvGrpSpPr>
        <p:cNvPr id="1" name=""/>
        <p:cNvGrpSpPr/>
        <p:nvPr/>
      </p:nvGrpSpPr>
      <p:grpSpPr/>
      <p:sp>
        <p:nvSpPr>
          <p:cNvPr id="2" name="TextBox 1"/>
          <p:cNvSpPr txBox="1"/>
          <p:nvPr/>
        </p:nvSpPr>
        <p:spPr>
          <a:xfrm>
            <a:off x="1005840" y="2194560"/>
            <a:ext cx="10149840" cy="365760"/>
          </a:xfrm>
          <a:prstGeom prst="rect">
            <a:avLst/>
          </a:prstGeom>
          <a:noFill/>
        </p:spPr>
        <p:txBody>
          <a:bodyPr wrap="square" anchor="t" lIns="0" rIns="0" tIns="0" bIns="0">
            <a:spAutoFit/>
          </a:bodyPr>
          <a:lstStyle/>
          <a:p>
            <a:pPr algn="l">
              <a:lnSpc>
                <a:spcPct val="100000"/>
              </a:lnSpc>
            </a:pPr>
            <a:r>
              <a:rPr sz="1600" b="1" i="0">
                <a:solidFill>
                  <a:srgbClr val="F2825B"/>
                </a:solidFill>
                <a:latin typeface="Calibri"/>
              </a:rPr>
              <a:t>THEN SOMETHING WENT WRONG</a:t>
            </a:r>
          </a:p>
        </p:txBody>
      </p:sp>
      <p:sp>
        <p:nvSpPr>
          <p:cNvPr id="3" name="TextBox 2"/>
          <p:cNvSpPr txBox="1"/>
          <p:nvPr/>
        </p:nvSpPr>
        <p:spPr>
          <a:xfrm>
            <a:off x="1005840" y="2670048"/>
            <a:ext cx="10149840" cy="1188720"/>
          </a:xfrm>
          <a:prstGeom prst="rect">
            <a:avLst/>
          </a:prstGeom>
          <a:noFill/>
        </p:spPr>
        <p:txBody>
          <a:bodyPr wrap="square" anchor="t" lIns="0" rIns="0" tIns="0" bIns="0">
            <a:spAutoFit/>
          </a:bodyPr>
          <a:lstStyle/>
          <a:p>
            <a:pPr algn="l">
              <a:lnSpc>
                <a:spcPct val="100000"/>
              </a:lnSpc>
            </a:pPr>
            <a:r>
              <a:rPr sz="4600" b="1" i="0">
                <a:solidFill>
                  <a:srgbClr val="FFFFFF"/>
                </a:solidFill>
                <a:latin typeface="Cambria"/>
              </a:rPr>
              <a:t>Our accuracy suddenly dropped</a:t>
            </a:r>
          </a:p>
        </p:txBody>
      </p:sp>
      <p:sp>
        <p:nvSpPr>
          <p:cNvPr id="4" name="TextBox 3"/>
          <p:cNvSpPr txBox="1"/>
          <p:nvPr/>
        </p:nvSpPr>
        <p:spPr>
          <a:xfrm>
            <a:off x="1005840" y="4069080"/>
            <a:ext cx="10149840" cy="731520"/>
          </a:xfrm>
          <a:prstGeom prst="rect">
            <a:avLst/>
          </a:prstGeom>
          <a:noFill/>
        </p:spPr>
        <p:txBody>
          <a:bodyPr wrap="square" anchor="t" lIns="0" rIns="0" tIns="0" bIns="0">
            <a:spAutoFit/>
          </a:bodyPr>
          <a:lstStyle/>
          <a:p>
            <a:pPr algn="l">
              <a:lnSpc>
                <a:spcPct val="115000"/>
              </a:lnSpc>
            </a:pPr>
            <a:r>
              <a:rPr sz="2000" b="0" i="0">
                <a:solidFill>
                  <a:srgbClr val="8FB5B5"/>
                </a:solidFill>
                <a:latin typeface="Calibri"/>
              </a:rPr>
              <a:t>Switching to reading the file in chunks made the model noticeably worse. Here is why.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THE PROBLEM WE FOUND</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Every chunk looked almost the same</a:t>
            </a:r>
          </a:p>
        </p:txBody>
      </p:sp>
      <p:sp>
        <p:nvSpPr>
          <p:cNvPr id="4" name="TextBox 3"/>
          <p:cNvSpPr txBox="1"/>
          <p:nvPr/>
        </p:nvSpPr>
        <p:spPr>
          <a:xfrm>
            <a:off x="594360" y="1783080"/>
            <a:ext cx="5486400" cy="3291840"/>
          </a:xfrm>
          <a:prstGeom prst="rect">
            <a:avLst/>
          </a:prstGeom>
          <a:noFill/>
        </p:spPr>
        <p:txBody>
          <a:bodyPr wrap="square" anchor="t" lIns="0" rIns="0" tIns="0" bIns="0">
            <a:spAutoFit/>
          </a:bodyPr>
          <a:lstStyle/>
          <a:p>
            <a:pPr algn="l">
              <a:lnSpc>
                <a:spcPct val="125000"/>
              </a:lnSpc>
            </a:pPr>
            <a:r>
              <a:rPr sz="1900" b="0" i="0">
                <a:solidFill>
                  <a:srgbClr val="1C3738"/>
                </a:solidFill>
                <a:latin typeface="Calibri"/>
              </a:rPr>
              <a:t>The rows are ordered by product. So a chunk read straight off disk is not a fair sample of the shop — it is a handful of nearly identical products in a row.</a:t>
            </a:r>
          </a:p>
        </p:txBody>
      </p:sp>
      <p:sp>
        <p:nvSpPr>
          <p:cNvPr id="5" name="TextBox 4"/>
          <p:cNvSpPr txBox="1"/>
          <p:nvPr/>
        </p:nvSpPr>
        <p:spPr>
          <a:xfrm>
            <a:off x="594360" y="3840480"/>
            <a:ext cx="5486400" cy="1645920"/>
          </a:xfrm>
          <a:prstGeom prst="rect">
            <a:avLst/>
          </a:prstGeom>
          <a:noFill/>
        </p:spPr>
        <p:txBody>
          <a:bodyPr wrap="square" anchor="t" lIns="0" rIns="0" tIns="0" bIns="0">
            <a:spAutoFit/>
          </a:bodyPr>
          <a:lstStyle/>
          <a:p>
            <a:pPr algn="l">
              <a:lnSpc>
                <a:spcPct val="125000"/>
              </a:lnSpc>
            </a:pPr>
            <a:r>
              <a:rPr sz="1900" b="0" i="0">
                <a:solidFill>
                  <a:srgbClr val="1C3738"/>
                </a:solidFill>
                <a:latin typeface="Calibri"/>
              </a:rPr>
              <a:t>The model kept adjusting to whatever narrow slice it happened to be looking at, then forgetting it when the next slice arrived.</a:t>
            </a:r>
          </a:p>
        </p:txBody>
      </p:sp>
      <p:sp>
        <p:nvSpPr>
          <p:cNvPr id="6" name="Rounded Rectangle 5"/>
          <p:cNvSpPr/>
          <p:nvPr/>
        </p:nvSpPr>
        <p:spPr>
          <a:xfrm>
            <a:off x="6583680" y="1920240"/>
            <a:ext cx="5029200" cy="1737360"/>
          </a:xfrm>
          <a:prstGeom prst="roundRect">
            <a:avLst>
              <a:gd name="adj" fmla="val 6000"/>
            </a:avLst>
          </a:prstGeom>
          <a:solidFill>
            <a:srgbClr val="0B2E33"/>
          </a:solidFill>
          <a:ln w="12700">
            <a:solidFill>
              <a:srgbClr val="0B2E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56832" y="2146096"/>
            <a:ext cx="4882896" cy="868680"/>
          </a:xfrm>
          <a:prstGeom prst="rect">
            <a:avLst/>
          </a:prstGeom>
          <a:noFill/>
        </p:spPr>
        <p:txBody>
          <a:bodyPr wrap="square" anchor="ctr" lIns="0" rIns="0" tIns="0" bIns="0">
            <a:spAutoFit/>
          </a:bodyPr>
          <a:lstStyle/>
          <a:p>
            <a:pPr algn="ctr">
              <a:lnSpc>
                <a:spcPct val="100000"/>
              </a:lnSpc>
            </a:pPr>
            <a:r>
              <a:rPr sz="5200" b="1" i="0">
                <a:solidFill>
                  <a:srgbClr val="17BEBB"/>
                </a:solidFill>
                <a:latin typeface="Cambria"/>
              </a:rPr>
              <a:t>0.9995</a:t>
            </a:r>
          </a:p>
        </p:txBody>
      </p:sp>
      <p:sp>
        <p:nvSpPr>
          <p:cNvPr id="8" name="TextBox 7"/>
          <p:cNvSpPr txBox="1"/>
          <p:nvPr/>
        </p:nvSpPr>
        <p:spPr>
          <a:xfrm>
            <a:off x="6693408" y="3066897"/>
            <a:ext cx="4809744" cy="521207"/>
          </a:xfrm>
          <a:prstGeom prst="rect">
            <a:avLst/>
          </a:prstGeom>
          <a:noFill/>
        </p:spPr>
        <p:txBody>
          <a:bodyPr wrap="square" anchor="t" lIns="0" rIns="0" tIns="0" bIns="0">
            <a:spAutoFit/>
          </a:bodyPr>
          <a:lstStyle/>
          <a:p>
            <a:pPr algn="ctr">
              <a:lnSpc>
                <a:spcPct val="100000"/>
              </a:lnSpc>
            </a:pPr>
            <a:r>
              <a:rPr sz="1500" b="0" i="0">
                <a:solidFill>
                  <a:srgbClr val="8FB5B5"/>
                </a:solidFill>
                <a:latin typeface="Calibri"/>
              </a:rPr>
              <a:t>correlation between row number and product id</a:t>
            </a:r>
          </a:p>
        </p:txBody>
      </p:sp>
      <p:sp>
        <p:nvSpPr>
          <p:cNvPr id="9" name="TextBox 8"/>
          <p:cNvSpPr txBox="1"/>
          <p:nvPr/>
        </p:nvSpPr>
        <p:spPr>
          <a:xfrm>
            <a:off x="6583680" y="3977639"/>
            <a:ext cx="5029200" cy="1371600"/>
          </a:xfrm>
          <a:prstGeom prst="rect">
            <a:avLst/>
          </a:prstGeom>
          <a:noFill/>
        </p:spPr>
        <p:txBody>
          <a:bodyPr wrap="square" anchor="t" lIns="0" rIns="0" tIns="0" bIns="0">
            <a:spAutoFit/>
          </a:bodyPr>
          <a:lstStyle/>
          <a:p>
            <a:pPr algn="l">
              <a:lnSpc>
                <a:spcPct val="120000"/>
              </a:lnSpc>
            </a:pPr>
            <a:r>
              <a:rPr sz="1800" b="1" i="0">
                <a:solidFill>
                  <a:srgbClr val="C9502F"/>
                </a:solidFill>
                <a:latin typeface="Calibri"/>
              </a:rPr>
              <a:t>In other words: the position of a row in the file tells you almost exactly which product it 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AND IT WORKED</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The fix: shuffle inside a small window</a:t>
            </a:r>
          </a:p>
        </p:txBody>
      </p:sp>
      <p:sp>
        <p:nvSpPr>
          <p:cNvPr id="4" name="TextBox 3"/>
          <p:cNvSpPr txBox="1"/>
          <p:nvPr/>
        </p:nvSpPr>
        <p:spPr>
          <a:xfrm>
            <a:off x="594360" y="1783080"/>
            <a:ext cx="4846320" cy="2194560"/>
          </a:xfrm>
          <a:prstGeom prst="rect">
            <a:avLst/>
          </a:prstGeom>
          <a:noFill/>
        </p:spPr>
        <p:txBody>
          <a:bodyPr wrap="square" anchor="t" lIns="0" rIns="0" tIns="0" bIns="0">
            <a:spAutoFit/>
          </a:bodyPr>
          <a:lstStyle/>
          <a:p>
            <a:pPr algn="l">
              <a:lnSpc>
                <a:spcPct val="120000"/>
              </a:lnSpc>
            </a:pPr>
            <a:r>
              <a:rPr sz="1800" b="0" i="0">
                <a:solidFill>
                  <a:srgbClr val="1C3738"/>
                </a:solidFill>
                <a:latin typeface="Calibri"/>
              </a:rPr>
              <a:t>We cannot shuffle a file we cannot open. So we hold a fixed number of rows, shuffle those, use them up, then refill.</a:t>
            </a:r>
          </a:p>
        </p:txBody>
      </p:sp>
      <p:sp>
        <p:nvSpPr>
          <p:cNvPr id="5" name="Rounded Rectangle 4"/>
          <p:cNvSpPr/>
          <p:nvPr/>
        </p:nvSpPr>
        <p:spPr>
          <a:xfrm>
            <a:off x="594360" y="4023360"/>
            <a:ext cx="4846320" cy="1234440"/>
          </a:xfrm>
          <a:prstGeom prst="roundRect">
            <a:avLst>
              <a:gd name="adj" fmla="val 6000"/>
            </a:avLst>
          </a:prstGeom>
          <a:solidFill>
            <a:srgbClr val="D6F5F3"/>
          </a:solidFill>
          <a:ln w="12700">
            <a:solidFill>
              <a:srgbClr val="D6F5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67512" y="4183837"/>
            <a:ext cx="4700016" cy="617220"/>
          </a:xfrm>
          <a:prstGeom prst="rect">
            <a:avLst/>
          </a:prstGeom>
          <a:noFill/>
        </p:spPr>
        <p:txBody>
          <a:bodyPr wrap="square" anchor="ctr" lIns="0" rIns="0" tIns="0" bIns="0">
            <a:spAutoFit/>
          </a:bodyPr>
          <a:lstStyle/>
          <a:p>
            <a:pPr algn="ctr">
              <a:lnSpc>
                <a:spcPct val="100000"/>
              </a:lnSpc>
            </a:pPr>
            <a:r>
              <a:rPr sz="3000" b="1" i="0">
                <a:solidFill>
                  <a:srgbClr val="0E7C7B"/>
                </a:solidFill>
                <a:latin typeface="Cambria"/>
              </a:rPr>
              <a:t>0.44  →  0.53</a:t>
            </a:r>
          </a:p>
        </p:txBody>
      </p:sp>
      <p:sp>
        <p:nvSpPr>
          <p:cNvPr id="7" name="TextBox 6"/>
          <p:cNvSpPr txBox="1"/>
          <p:nvPr/>
        </p:nvSpPr>
        <p:spPr>
          <a:xfrm>
            <a:off x="704088" y="4838090"/>
            <a:ext cx="4626864" cy="370332"/>
          </a:xfrm>
          <a:prstGeom prst="rect">
            <a:avLst/>
          </a:prstGeom>
          <a:noFill/>
        </p:spPr>
        <p:txBody>
          <a:bodyPr wrap="square" anchor="t" lIns="0" rIns="0" tIns="0" bIns="0">
            <a:spAutoFit/>
          </a:bodyPr>
          <a:lstStyle/>
          <a:p>
            <a:pPr algn="ctr">
              <a:lnSpc>
                <a:spcPct val="100000"/>
              </a:lnSpc>
            </a:pPr>
            <a:r>
              <a:rPr sz="1400" b="0" i="0">
                <a:solidFill>
                  <a:srgbClr val="557575"/>
                </a:solidFill>
                <a:latin typeface="Calibri"/>
              </a:rPr>
              <a:t>accuracy, before and after</a:t>
            </a:r>
          </a:p>
        </p:txBody>
      </p:sp>
      <p:sp>
        <p:nvSpPr>
          <p:cNvPr id="8" name="TextBox 7"/>
          <p:cNvSpPr txBox="1"/>
          <p:nvPr/>
        </p:nvSpPr>
        <p:spPr>
          <a:xfrm>
            <a:off x="594360" y="5532120"/>
            <a:ext cx="4846320" cy="822960"/>
          </a:xfrm>
          <a:prstGeom prst="rect">
            <a:avLst/>
          </a:prstGeom>
          <a:noFill/>
        </p:spPr>
        <p:txBody>
          <a:bodyPr wrap="square" anchor="t" lIns="0" rIns="0" tIns="0" bIns="0">
            <a:spAutoFit/>
          </a:bodyPr>
          <a:lstStyle/>
          <a:p>
            <a:pPr algn="l">
              <a:lnSpc>
                <a:spcPct val="115000"/>
              </a:lnSpc>
            </a:pPr>
            <a:r>
              <a:rPr sz="1500" b="0" i="0">
                <a:solidFill>
                  <a:srgbClr val="557575"/>
                </a:solidFill>
                <a:latin typeface="Calibri"/>
              </a:rPr>
              <a:t>The window is a fixed 200,000 rows — about 5 MB — no matter how big the file is.</a:t>
            </a:r>
          </a:p>
        </p:txBody>
      </p:sp>
      <p:graphicFrame>
        <p:nvGraphicFramePr>
          <p:cNvPr id="9" name="Chart 8"/>
          <p:cNvGraphicFramePr>
            <a:graphicFrameLocks noGrp="1"/>
          </p:cNvGraphicFramePr>
          <p:nvPr/>
        </p:nvGraphicFramePr>
        <p:xfrm>
          <a:off x="5760720" y="1737360"/>
          <a:ext cx="5943600" cy="4114800"/>
        </p:xfrm>
        <a:graphic>
          <a:graphicData uri="http://schemas.openxmlformats.org/drawingml/2006/chart">
            <c:chart xmlns:c="http://schemas.openxmlformats.org/drawingml/2006/chart" r:id="rId2"/>
          </a:graphicData>
        </a:graphic>
      </p:graphicFrame>
      <p:sp>
        <p:nvSpPr>
          <p:cNvPr id="10" name="TextBox 9"/>
          <p:cNvSpPr txBox="1"/>
          <p:nvPr/>
        </p:nvSpPr>
        <p:spPr>
          <a:xfrm>
            <a:off x="5760720" y="5989320"/>
            <a:ext cx="5943600" cy="411480"/>
          </a:xfrm>
          <a:prstGeom prst="rect">
            <a:avLst/>
          </a:prstGeom>
          <a:noFill/>
        </p:spPr>
        <p:txBody>
          <a:bodyPr wrap="square" anchor="t" lIns="0" rIns="0" tIns="0" bIns="0">
            <a:spAutoFit/>
          </a:bodyPr>
          <a:lstStyle/>
          <a:p>
            <a:pPr algn="l">
              <a:lnSpc>
                <a:spcPct val="100000"/>
              </a:lnSpc>
            </a:pPr>
            <a:r>
              <a:rPr sz="1300" b="0" i="1">
                <a:solidFill>
                  <a:srgbClr val="557575"/>
                </a:solidFill>
                <a:latin typeface="Calibri"/>
              </a:rPr>
              <a:t>The last bar shuffles the whole file — shown only as a ceiling.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2E33"/>
        </a:solidFill>
        <a:effectLst/>
      </p:bgPr>
    </p:bg>
    <p:spTree>
      <p:nvGrpSpPr>
        <p:cNvPr id="1" name=""/>
        <p:cNvGrpSpPr/>
        <p:nvPr/>
      </p:nvGrpSpPr>
      <p:grpSpPr/>
      <p:sp>
        <p:nvSpPr>
          <p:cNvPr id="2" name="TextBox 1"/>
          <p:cNvSpPr txBox="1"/>
          <p:nvPr/>
        </p:nvSpPr>
        <p:spPr>
          <a:xfrm>
            <a:off x="1005840" y="2194560"/>
            <a:ext cx="10149840" cy="365760"/>
          </a:xfrm>
          <a:prstGeom prst="rect">
            <a:avLst/>
          </a:prstGeom>
          <a:noFill/>
        </p:spPr>
        <p:txBody>
          <a:bodyPr wrap="square" anchor="t" lIns="0" rIns="0" tIns="0" bIns="0">
            <a:spAutoFit/>
          </a:bodyPr>
          <a:lstStyle/>
          <a:p>
            <a:pPr algn="l">
              <a:lnSpc>
                <a:spcPct val="100000"/>
              </a:lnSpc>
            </a:pPr>
            <a:r>
              <a:rPr sz="1600" b="1" i="0">
                <a:solidFill>
                  <a:srgbClr val="F2825B"/>
                </a:solidFill>
                <a:latin typeface="Calibri"/>
              </a:rPr>
              <a:t>SO</a:t>
            </a:r>
          </a:p>
        </p:txBody>
      </p:sp>
      <p:sp>
        <p:nvSpPr>
          <p:cNvPr id="3" name="TextBox 2"/>
          <p:cNvSpPr txBox="1"/>
          <p:nvPr/>
        </p:nvSpPr>
        <p:spPr>
          <a:xfrm>
            <a:off x="1005840" y="2670048"/>
            <a:ext cx="10149840" cy="1188720"/>
          </a:xfrm>
          <a:prstGeom prst="rect">
            <a:avLst/>
          </a:prstGeom>
          <a:noFill/>
        </p:spPr>
        <p:txBody>
          <a:bodyPr wrap="square" anchor="t" lIns="0" rIns="0" tIns="0" bIns="0">
            <a:spAutoFit/>
          </a:bodyPr>
          <a:lstStyle/>
          <a:p>
            <a:pPr algn="l">
              <a:lnSpc>
                <a:spcPct val="100000"/>
              </a:lnSpc>
            </a:pPr>
            <a:r>
              <a:rPr sz="4600" b="1" i="0">
                <a:solidFill>
                  <a:srgbClr val="FFFFFF"/>
                </a:solidFill>
                <a:latin typeface="Cambria"/>
              </a:rPr>
              <a:t>Did it work?</a:t>
            </a:r>
          </a:p>
        </p:txBody>
      </p:sp>
      <p:sp>
        <p:nvSpPr>
          <p:cNvPr id="4" name="TextBox 3"/>
          <p:cNvSpPr txBox="1"/>
          <p:nvPr/>
        </p:nvSpPr>
        <p:spPr>
          <a:xfrm>
            <a:off x="1005840" y="4069080"/>
            <a:ext cx="10149840" cy="731520"/>
          </a:xfrm>
          <a:prstGeom prst="rect">
            <a:avLst/>
          </a:prstGeom>
          <a:noFill/>
        </p:spPr>
        <p:txBody>
          <a:bodyPr wrap="square" anchor="t" lIns="0" rIns="0" tIns="0" bIns="0">
            <a:spAutoFit/>
          </a:bodyPr>
          <a:lstStyle/>
          <a:p>
            <a:pPr algn="l">
              <a:lnSpc>
                <a:spcPct val="115000"/>
              </a:lnSpc>
            </a:pPr>
            <a:r>
              <a:rPr sz="2000" b="0" i="0">
                <a:solidFill>
                  <a:srgbClr val="8FB5B5"/>
                </a:solidFill>
                <a:latin typeface="Calibri"/>
              </a:rPr>
              <a:t>Accuracy, what the model learned, and whether it stayed inside memory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ACCURACY</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It explains about half of why sales differ</a:t>
            </a:r>
          </a:p>
        </p:txBody>
      </p:sp>
      <p:sp>
        <p:nvSpPr>
          <p:cNvPr id="4" name="Rounded Rectangle 3"/>
          <p:cNvSpPr/>
          <p:nvPr/>
        </p:nvSpPr>
        <p:spPr>
          <a:xfrm>
            <a:off x="594360" y="1783080"/>
            <a:ext cx="5120640" cy="2743200"/>
          </a:xfrm>
          <a:prstGeom prst="roundRect">
            <a:avLst>
              <a:gd name="adj" fmla="val 6000"/>
            </a:avLst>
          </a:prstGeom>
          <a:solidFill>
            <a:srgbClr val="0B2E33"/>
          </a:solidFill>
          <a:ln w="12700">
            <a:solidFill>
              <a:srgbClr val="0B2E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2103120"/>
            <a:ext cx="4754880" cy="1463040"/>
          </a:xfrm>
          <a:prstGeom prst="rect">
            <a:avLst/>
          </a:prstGeom>
          <a:noFill/>
        </p:spPr>
        <p:txBody>
          <a:bodyPr wrap="square" anchor="ctr" lIns="0" rIns="0" tIns="0" bIns="0">
            <a:spAutoFit/>
          </a:bodyPr>
          <a:lstStyle/>
          <a:p>
            <a:pPr algn="ctr">
              <a:lnSpc>
                <a:spcPct val="100000"/>
              </a:lnSpc>
            </a:pPr>
            <a:r>
              <a:rPr sz="10000" b="1" i="0">
                <a:solidFill>
                  <a:srgbClr val="17BEBB"/>
                </a:solidFill>
                <a:latin typeface="Cambria"/>
              </a:rPr>
              <a:t>0.53</a:t>
            </a:r>
          </a:p>
        </p:txBody>
      </p:sp>
      <p:sp>
        <p:nvSpPr>
          <p:cNvPr id="6" name="TextBox 5"/>
          <p:cNvSpPr txBox="1"/>
          <p:nvPr/>
        </p:nvSpPr>
        <p:spPr>
          <a:xfrm>
            <a:off x="777240" y="3703320"/>
            <a:ext cx="4754880" cy="457200"/>
          </a:xfrm>
          <a:prstGeom prst="rect">
            <a:avLst/>
          </a:prstGeom>
          <a:noFill/>
        </p:spPr>
        <p:txBody>
          <a:bodyPr wrap="square" anchor="t" lIns="0" rIns="0" tIns="0" bIns="0">
            <a:spAutoFit/>
          </a:bodyPr>
          <a:lstStyle/>
          <a:p>
            <a:pPr algn="ctr">
              <a:lnSpc>
                <a:spcPct val="100000"/>
              </a:lnSpc>
            </a:pPr>
            <a:r>
              <a:rPr sz="1500" b="1" i="0">
                <a:solidFill>
                  <a:srgbClr val="D6F5F3"/>
                </a:solidFill>
                <a:latin typeface="Calibri"/>
              </a:rPr>
              <a:t>R-SQUARED ON UNSEEN DATA</a:t>
            </a:r>
          </a:p>
        </p:txBody>
      </p:sp>
      <p:sp>
        <p:nvSpPr>
          <p:cNvPr id="7" name="Rounded Rectangle 6"/>
          <p:cNvSpPr/>
          <p:nvPr/>
        </p:nvSpPr>
        <p:spPr>
          <a:xfrm>
            <a:off x="6035040" y="1783080"/>
            <a:ext cx="5577840" cy="1417320"/>
          </a:xfrm>
          <a:prstGeom prst="roundRect">
            <a:avLst>
              <a:gd name="adj" fmla="val 6000"/>
            </a:avLst>
          </a:prstGeom>
          <a:solidFill>
            <a:srgbClr val="D6F5F3"/>
          </a:solidFill>
          <a:ln w="12700">
            <a:solidFill>
              <a:srgbClr val="D6F5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355079" y="1984248"/>
            <a:ext cx="4937759" cy="274320"/>
          </a:xfrm>
          <a:prstGeom prst="rect">
            <a:avLst/>
          </a:prstGeom>
          <a:noFill/>
        </p:spPr>
        <p:txBody>
          <a:bodyPr wrap="square" anchor="t" lIns="0" rIns="0" tIns="0" bIns="0">
            <a:spAutoFit/>
          </a:bodyPr>
          <a:lstStyle/>
          <a:p>
            <a:pPr algn="l">
              <a:lnSpc>
                <a:spcPct val="100000"/>
              </a:lnSpc>
            </a:pPr>
            <a:r>
              <a:rPr sz="1200" b="1" i="0">
                <a:solidFill>
                  <a:srgbClr val="0E7C7B"/>
                </a:solidFill>
                <a:latin typeface="Calibri"/>
              </a:rPr>
              <a:t>WHAT THIS MEANS</a:t>
            </a:r>
          </a:p>
        </p:txBody>
      </p:sp>
      <p:sp>
        <p:nvSpPr>
          <p:cNvPr id="9" name="TextBox 8"/>
          <p:cNvSpPr txBox="1"/>
          <p:nvPr/>
        </p:nvSpPr>
        <p:spPr>
          <a:xfrm>
            <a:off x="6355079" y="2313432"/>
            <a:ext cx="4937759" cy="777240"/>
          </a:xfrm>
          <a:prstGeom prst="rect">
            <a:avLst/>
          </a:prstGeom>
          <a:noFill/>
        </p:spPr>
        <p:txBody>
          <a:bodyPr wrap="square" anchor="t" lIns="0" rIns="0" tIns="0" bIns="0">
            <a:spAutoFit/>
          </a:bodyPr>
          <a:lstStyle/>
          <a:p>
            <a:pPr algn="l">
              <a:lnSpc>
                <a:spcPct val="115000"/>
              </a:lnSpc>
            </a:pPr>
            <a:r>
              <a:rPr sz="1600" b="0" i="0">
                <a:solidFill>
                  <a:srgbClr val="0B2E33"/>
                </a:solidFill>
                <a:latin typeface="Calibri"/>
              </a:rPr>
              <a:t>R-squared asks how much better we are than always guessing the average. 0 means no better. 1 means perfect.</a:t>
            </a:r>
          </a:p>
        </p:txBody>
      </p:sp>
      <p:sp>
        <p:nvSpPr>
          <p:cNvPr id="10" name="TextBox 9"/>
          <p:cNvSpPr txBox="1"/>
          <p:nvPr/>
        </p:nvSpPr>
        <p:spPr>
          <a:xfrm>
            <a:off x="6035040" y="3429000"/>
            <a:ext cx="5577840" cy="1371600"/>
          </a:xfrm>
          <a:prstGeom prst="rect">
            <a:avLst/>
          </a:prstGeom>
          <a:noFill/>
        </p:spPr>
        <p:txBody>
          <a:bodyPr wrap="square" anchor="t" lIns="0" rIns="0" tIns="0" bIns="0">
            <a:spAutoFit/>
          </a:bodyPr>
          <a:lstStyle/>
          <a:p>
            <a:pPr algn="l">
              <a:lnSpc>
                <a:spcPct val="120000"/>
              </a:lnSpc>
            </a:pPr>
            <a:r>
              <a:rPr sz="1700" b="0" i="0">
                <a:solidFill>
                  <a:srgbClr val="1C3738"/>
                </a:solidFill>
                <a:latin typeface="Calibri"/>
              </a:rPr>
              <a:t>At 0.53 the model explains roughly half of why some products sell more than others — and half is still unexplained.</a:t>
            </a:r>
          </a:p>
        </p:txBody>
      </p:sp>
      <p:sp>
        <p:nvSpPr>
          <p:cNvPr id="11" name="Rounded Rectangle 10"/>
          <p:cNvSpPr/>
          <p:nvPr/>
        </p:nvSpPr>
        <p:spPr>
          <a:xfrm>
            <a:off x="6035040" y="4846320"/>
            <a:ext cx="2697480" cy="1097280"/>
          </a:xfrm>
          <a:prstGeom prst="roundRect">
            <a:avLst>
              <a:gd name="adj" fmla="val 6000"/>
            </a:avLst>
          </a:prstGeom>
          <a:solidFill>
            <a:srgbClr val="EAF7F6"/>
          </a:solidFill>
          <a:ln w="12700">
            <a:solidFill>
              <a:srgbClr val="EAF7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08192" y="4988966"/>
            <a:ext cx="2551176" cy="548640"/>
          </a:xfrm>
          <a:prstGeom prst="rect">
            <a:avLst/>
          </a:prstGeom>
          <a:noFill/>
        </p:spPr>
        <p:txBody>
          <a:bodyPr wrap="square" anchor="ctr" lIns="0" rIns="0" tIns="0" bIns="0">
            <a:spAutoFit/>
          </a:bodyPr>
          <a:lstStyle/>
          <a:p>
            <a:pPr algn="ctr">
              <a:lnSpc>
                <a:spcPct val="100000"/>
              </a:lnSpc>
            </a:pPr>
            <a:r>
              <a:rPr sz="3000" b="1" i="0">
                <a:solidFill>
                  <a:srgbClr val="0E7C7B"/>
                </a:solidFill>
                <a:latin typeface="Cambria"/>
              </a:rPr>
              <a:t>0.523</a:t>
            </a:r>
          </a:p>
        </p:txBody>
      </p:sp>
      <p:sp>
        <p:nvSpPr>
          <p:cNvPr id="13" name="TextBox 12"/>
          <p:cNvSpPr txBox="1"/>
          <p:nvPr/>
        </p:nvSpPr>
        <p:spPr>
          <a:xfrm>
            <a:off x="6144768" y="5570524"/>
            <a:ext cx="2478024" cy="329184"/>
          </a:xfrm>
          <a:prstGeom prst="rect">
            <a:avLst/>
          </a:prstGeom>
          <a:noFill/>
        </p:spPr>
        <p:txBody>
          <a:bodyPr wrap="square" anchor="t" lIns="0" rIns="0" tIns="0" bIns="0">
            <a:spAutoFit/>
          </a:bodyPr>
          <a:lstStyle/>
          <a:p>
            <a:pPr algn="ctr">
              <a:lnSpc>
                <a:spcPct val="100000"/>
              </a:lnSpc>
            </a:pPr>
            <a:r>
              <a:rPr sz="1350" b="0" i="0">
                <a:solidFill>
                  <a:srgbClr val="557575"/>
                </a:solidFill>
                <a:latin typeface="Calibri"/>
              </a:rPr>
              <a:t>on data it trained on</a:t>
            </a:r>
          </a:p>
        </p:txBody>
      </p:sp>
      <p:sp>
        <p:nvSpPr>
          <p:cNvPr id="14" name="Rounded Rectangle 13"/>
          <p:cNvSpPr/>
          <p:nvPr/>
        </p:nvSpPr>
        <p:spPr>
          <a:xfrm>
            <a:off x="8915400" y="4846320"/>
            <a:ext cx="2697480" cy="1097280"/>
          </a:xfrm>
          <a:prstGeom prst="roundRect">
            <a:avLst>
              <a:gd name="adj" fmla="val 6000"/>
            </a:avLst>
          </a:prstGeom>
          <a:solidFill>
            <a:srgbClr val="EAF7F6"/>
          </a:solidFill>
          <a:ln w="12700">
            <a:solidFill>
              <a:srgbClr val="EAF7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988552" y="4988966"/>
            <a:ext cx="2551176" cy="548640"/>
          </a:xfrm>
          <a:prstGeom prst="rect">
            <a:avLst/>
          </a:prstGeom>
          <a:noFill/>
        </p:spPr>
        <p:txBody>
          <a:bodyPr wrap="square" anchor="ctr" lIns="0" rIns="0" tIns="0" bIns="0">
            <a:spAutoFit/>
          </a:bodyPr>
          <a:lstStyle/>
          <a:p>
            <a:pPr algn="ctr">
              <a:lnSpc>
                <a:spcPct val="100000"/>
              </a:lnSpc>
            </a:pPr>
            <a:r>
              <a:rPr sz="3000" b="1" i="0">
                <a:solidFill>
                  <a:srgbClr val="0E7C7B"/>
                </a:solidFill>
                <a:latin typeface="Cambria"/>
              </a:rPr>
              <a:t>0.528</a:t>
            </a:r>
          </a:p>
        </p:txBody>
      </p:sp>
      <p:sp>
        <p:nvSpPr>
          <p:cNvPr id="16" name="TextBox 15"/>
          <p:cNvSpPr txBox="1"/>
          <p:nvPr/>
        </p:nvSpPr>
        <p:spPr>
          <a:xfrm>
            <a:off x="9025128" y="5570524"/>
            <a:ext cx="2478024" cy="329184"/>
          </a:xfrm>
          <a:prstGeom prst="rect">
            <a:avLst/>
          </a:prstGeom>
          <a:noFill/>
        </p:spPr>
        <p:txBody>
          <a:bodyPr wrap="square" anchor="t" lIns="0" rIns="0" tIns="0" bIns="0">
            <a:spAutoFit/>
          </a:bodyPr>
          <a:lstStyle/>
          <a:p>
            <a:pPr algn="ctr">
              <a:lnSpc>
                <a:spcPct val="100000"/>
              </a:lnSpc>
            </a:pPr>
            <a:r>
              <a:rPr sz="1350" b="0" i="0">
                <a:solidFill>
                  <a:srgbClr val="557575"/>
                </a:solidFill>
                <a:latin typeface="Calibri"/>
              </a:rPr>
              <a:t>on data it never saw</a:t>
            </a:r>
          </a:p>
        </p:txBody>
      </p:sp>
      <p:sp>
        <p:nvSpPr>
          <p:cNvPr id="17" name="TextBox 16"/>
          <p:cNvSpPr txBox="1"/>
          <p:nvPr/>
        </p:nvSpPr>
        <p:spPr>
          <a:xfrm>
            <a:off x="594360" y="4754880"/>
            <a:ext cx="5120640" cy="1005840"/>
          </a:xfrm>
          <a:prstGeom prst="rect">
            <a:avLst/>
          </a:prstGeom>
          <a:noFill/>
        </p:spPr>
        <p:txBody>
          <a:bodyPr wrap="square" anchor="t" lIns="0" rIns="0" tIns="0" bIns="0">
            <a:spAutoFit/>
          </a:bodyPr>
          <a:lstStyle/>
          <a:p>
            <a:pPr algn="l">
              <a:lnSpc>
                <a:spcPct val="120000"/>
              </a:lnSpc>
            </a:pPr>
            <a:r>
              <a:rPr sz="1600" b="1" i="0">
                <a:solidFill>
                  <a:srgbClr val="C9502F"/>
                </a:solidFill>
                <a:latin typeface="Calibri"/>
              </a:rPr>
              <a:t>Those two scores are almost identical, which means the model is not simply memorising.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PROGRESS DURING TRAINING</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It learned fast, then levelled off</a:t>
            </a:r>
          </a:p>
        </p:txBody>
      </p:sp>
      <p:pic>
        <p:nvPicPr>
          <p:cNvPr id="4" name="Picture 3" descr="learning_curve.png"/>
          <p:cNvPicPr>
            <a:picLocks noChangeAspect="1"/>
          </p:cNvPicPr>
          <p:nvPr/>
        </p:nvPicPr>
        <p:blipFill>
          <a:blip r:embed="rId2"/>
          <a:stretch>
            <a:fillRect/>
          </a:stretch>
        </p:blipFill>
        <p:spPr>
          <a:xfrm>
            <a:off x="502920" y="1691640"/>
            <a:ext cx="6675120" cy="3915026"/>
          </a:xfrm>
          <a:prstGeom prst="rect">
            <a:avLst/>
          </a:prstGeom>
        </p:spPr>
      </p:pic>
      <p:sp>
        <p:nvSpPr>
          <p:cNvPr id="5" name="Rounded Rectangle 4"/>
          <p:cNvSpPr/>
          <p:nvPr/>
        </p:nvSpPr>
        <p:spPr>
          <a:xfrm>
            <a:off x="7498079" y="1783080"/>
            <a:ext cx="4160520" cy="1417320"/>
          </a:xfrm>
          <a:prstGeom prst="roundRect">
            <a:avLst>
              <a:gd name="adj" fmla="val 6000"/>
            </a:avLst>
          </a:prstGeom>
          <a:solidFill>
            <a:srgbClr val="D6F5F3"/>
          </a:solidFill>
          <a:ln w="12700">
            <a:solidFill>
              <a:srgbClr val="D6F5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18119" y="1984248"/>
            <a:ext cx="3520439" cy="274320"/>
          </a:xfrm>
          <a:prstGeom prst="rect">
            <a:avLst/>
          </a:prstGeom>
          <a:noFill/>
        </p:spPr>
        <p:txBody>
          <a:bodyPr wrap="square" anchor="t" lIns="0" rIns="0" tIns="0" bIns="0">
            <a:spAutoFit/>
          </a:bodyPr>
          <a:lstStyle/>
          <a:p>
            <a:pPr algn="l">
              <a:lnSpc>
                <a:spcPct val="100000"/>
              </a:lnSpc>
            </a:pPr>
            <a:r>
              <a:rPr sz="1200" b="1" i="0">
                <a:solidFill>
                  <a:srgbClr val="0E7C7B"/>
                </a:solidFill>
                <a:latin typeface="Calibri"/>
              </a:rPr>
              <a:t>WHAT THIS MEANS</a:t>
            </a:r>
          </a:p>
        </p:txBody>
      </p:sp>
      <p:sp>
        <p:nvSpPr>
          <p:cNvPr id="7" name="TextBox 6"/>
          <p:cNvSpPr txBox="1"/>
          <p:nvPr/>
        </p:nvSpPr>
        <p:spPr>
          <a:xfrm>
            <a:off x="7818119" y="2313432"/>
            <a:ext cx="3520439" cy="777240"/>
          </a:xfrm>
          <a:prstGeom prst="rect">
            <a:avLst/>
          </a:prstGeom>
          <a:noFill/>
        </p:spPr>
        <p:txBody>
          <a:bodyPr wrap="square" anchor="t" lIns="0" rIns="0" tIns="0" bIns="0">
            <a:spAutoFit/>
          </a:bodyPr>
          <a:lstStyle/>
          <a:p>
            <a:pPr algn="l">
              <a:lnSpc>
                <a:spcPct val="115000"/>
              </a:lnSpc>
            </a:pPr>
            <a:r>
              <a:rPr sz="1600" b="0" i="0">
                <a:solidFill>
                  <a:srgbClr val="0B2E33"/>
                </a:solidFill>
                <a:latin typeface="Calibri"/>
              </a:rPr>
              <a:t>Each point is how wrong the model was, averaged over recent rows. Lower is better.</a:t>
            </a:r>
          </a:p>
        </p:txBody>
      </p:sp>
      <p:sp>
        <p:nvSpPr>
          <p:cNvPr id="8" name="TextBox 7"/>
          <p:cNvSpPr txBox="1"/>
          <p:nvPr/>
        </p:nvSpPr>
        <p:spPr>
          <a:xfrm>
            <a:off x="7498079" y="3429000"/>
            <a:ext cx="4160520" cy="1828800"/>
          </a:xfrm>
          <a:prstGeom prst="rect">
            <a:avLst/>
          </a:prstGeom>
          <a:noFill/>
        </p:spPr>
        <p:txBody>
          <a:bodyPr wrap="square" anchor="t" lIns="0" rIns="0" tIns="0" bIns="0">
            <a:spAutoFit/>
          </a:bodyPr>
          <a:lstStyle/>
          <a:p>
            <a:pPr algn="l">
              <a:lnSpc>
                <a:spcPct val="120000"/>
              </a:lnSpc>
            </a:pPr>
            <a:r>
              <a:rPr sz="1700" b="0" i="0">
                <a:solidFill>
                  <a:srgbClr val="1C3738"/>
                </a:solidFill>
                <a:latin typeface="Calibri"/>
              </a:rPr>
              <a:t>Error fell by about two-thirds in the first stretch, then flattened — the model had learned what one pass over the data could teach it.</a:t>
            </a:r>
          </a:p>
        </p:txBody>
      </p:sp>
      <p:sp>
        <p:nvSpPr>
          <p:cNvPr id="9" name="Rounded Rectangle 8"/>
          <p:cNvSpPr/>
          <p:nvPr/>
        </p:nvSpPr>
        <p:spPr>
          <a:xfrm>
            <a:off x="7498079" y="5257800"/>
            <a:ext cx="4160520" cy="1051560"/>
          </a:xfrm>
          <a:prstGeom prst="roundRect">
            <a:avLst>
              <a:gd name="adj" fmla="val 6000"/>
            </a:avLst>
          </a:prstGeom>
          <a:solidFill>
            <a:srgbClr val="EAF7F6"/>
          </a:solidFill>
          <a:ln w="12700">
            <a:solidFill>
              <a:srgbClr val="EAF7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71231" y="5394502"/>
            <a:ext cx="4014215" cy="525780"/>
          </a:xfrm>
          <a:prstGeom prst="rect">
            <a:avLst/>
          </a:prstGeom>
          <a:noFill/>
        </p:spPr>
        <p:txBody>
          <a:bodyPr wrap="square" anchor="ctr" lIns="0" rIns="0" tIns="0" bIns="0">
            <a:spAutoFit/>
          </a:bodyPr>
          <a:lstStyle/>
          <a:p>
            <a:pPr algn="ctr">
              <a:lnSpc>
                <a:spcPct val="100000"/>
              </a:lnSpc>
            </a:pPr>
            <a:r>
              <a:rPr sz="2800" b="1" i="0">
                <a:solidFill>
                  <a:srgbClr val="0E7C7B"/>
                </a:solidFill>
                <a:latin typeface="Cambria"/>
              </a:rPr>
              <a:t>2,831 → 989</a:t>
            </a:r>
          </a:p>
        </p:txBody>
      </p:sp>
      <p:sp>
        <p:nvSpPr>
          <p:cNvPr id="11" name="TextBox 10"/>
          <p:cNvSpPr txBox="1"/>
          <p:nvPr/>
        </p:nvSpPr>
        <p:spPr>
          <a:xfrm>
            <a:off x="7607807" y="5951829"/>
            <a:ext cx="3941063" cy="315468"/>
          </a:xfrm>
          <a:prstGeom prst="rect">
            <a:avLst/>
          </a:prstGeom>
          <a:noFill/>
        </p:spPr>
        <p:txBody>
          <a:bodyPr wrap="square" anchor="t" lIns="0" rIns="0" tIns="0" bIns="0">
            <a:spAutoFit/>
          </a:bodyPr>
          <a:lstStyle/>
          <a:p>
            <a:pPr algn="ctr">
              <a:lnSpc>
                <a:spcPct val="100000"/>
              </a:lnSpc>
            </a:pPr>
            <a:r>
              <a:rPr sz="1350" b="0" i="0">
                <a:solidFill>
                  <a:srgbClr val="557575"/>
                </a:solidFill>
                <a:latin typeface="Calibri"/>
              </a:rPr>
              <a:t>average error, start to end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WHICH CLUES THE MODEL USES</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How long it stayed listed matters most</a:t>
            </a:r>
          </a:p>
        </p:txBody>
      </p:sp>
      <p:pic>
        <p:nvPicPr>
          <p:cNvPr id="4" name="Picture 3" descr="variable_importance.png"/>
          <p:cNvPicPr>
            <a:picLocks noChangeAspect="1"/>
          </p:cNvPicPr>
          <p:nvPr/>
        </p:nvPicPr>
        <p:blipFill>
          <a:blip r:embed="rId2"/>
          <a:stretch>
            <a:fillRect/>
          </a:stretch>
        </p:blipFill>
        <p:spPr>
          <a:xfrm>
            <a:off x="502920" y="1783080"/>
            <a:ext cx="6675120" cy="3851771"/>
          </a:xfrm>
          <a:prstGeom prst="rect">
            <a:avLst/>
          </a:prstGeom>
        </p:spPr>
      </p:pic>
      <p:sp>
        <p:nvSpPr>
          <p:cNvPr id="5" name="Rounded Rectangle 4"/>
          <p:cNvSpPr/>
          <p:nvPr/>
        </p:nvSpPr>
        <p:spPr>
          <a:xfrm>
            <a:off x="7498079" y="1783080"/>
            <a:ext cx="4160520" cy="1417320"/>
          </a:xfrm>
          <a:prstGeom prst="roundRect">
            <a:avLst>
              <a:gd name="adj" fmla="val 6000"/>
            </a:avLst>
          </a:prstGeom>
          <a:solidFill>
            <a:srgbClr val="D6F5F3"/>
          </a:solidFill>
          <a:ln w="12700">
            <a:solidFill>
              <a:srgbClr val="D6F5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18119" y="1984248"/>
            <a:ext cx="3520439" cy="274320"/>
          </a:xfrm>
          <a:prstGeom prst="rect">
            <a:avLst/>
          </a:prstGeom>
          <a:noFill/>
        </p:spPr>
        <p:txBody>
          <a:bodyPr wrap="square" anchor="t" lIns="0" rIns="0" tIns="0" bIns="0">
            <a:spAutoFit/>
          </a:bodyPr>
          <a:lstStyle/>
          <a:p>
            <a:pPr algn="l">
              <a:lnSpc>
                <a:spcPct val="100000"/>
              </a:lnSpc>
            </a:pPr>
            <a:r>
              <a:rPr sz="1200" b="1" i="0">
                <a:solidFill>
                  <a:srgbClr val="0E7C7B"/>
                </a:solidFill>
                <a:latin typeface="Calibri"/>
              </a:rPr>
              <a:t>WHAT THIS MEANS</a:t>
            </a:r>
          </a:p>
        </p:txBody>
      </p:sp>
      <p:sp>
        <p:nvSpPr>
          <p:cNvPr id="7" name="TextBox 6"/>
          <p:cNvSpPr txBox="1"/>
          <p:nvPr/>
        </p:nvSpPr>
        <p:spPr>
          <a:xfrm>
            <a:off x="7818119" y="2313432"/>
            <a:ext cx="3520439" cy="777240"/>
          </a:xfrm>
          <a:prstGeom prst="rect">
            <a:avLst/>
          </a:prstGeom>
          <a:noFill/>
        </p:spPr>
        <p:txBody>
          <a:bodyPr wrap="square" anchor="t" lIns="0" rIns="0" tIns="0" bIns="0">
            <a:spAutoFit/>
          </a:bodyPr>
          <a:lstStyle/>
          <a:p>
            <a:pPr algn="l">
              <a:lnSpc>
                <a:spcPct val="115000"/>
              </a:lnSpc>
            </a:pPr>
            <a:r>
              <a:rPr sz="1600" b="0" i="0">
                <a:solidFill>
                  <a:srgbClr val="0B2E33"/>
                </a:solidFill>
                <a:latin typeface="Calibri"/>
              </a:rPr>
              <a:t>To test a clue, we scramble it and see how much worse the predictions get. Big drop means the model relied on it.</a:t>
            </a:r>
          </a:p>
        </p:txBody>
      </p:sp>
      <p:sp>
        <p:nvSpPr>
          <p:cNvPr id="8" name="TextBox 7"/>
          <p:cNvSpPr txBox="1"/>
          <p:nvPr/>
        </p:nvSpPr>
        <p:spPr>
          <a:xfrm>
            <a:off x="7498079" y="3474720"/>
            <a:ext cx="4160520" cy="2194560"/>
          </a:xfrm>
          <a:prstGeom prst="rect">
            <a:avLst/>
          </a:prstGeom>
          <a:noFill/>
        </p:spPr>
        <p:txBody>
          <a:bodyPr wrap="square" anchor="t" lIns="0" rIns="0" tIns="0" bIns="0">
            <a:spAutoFit/>
          </a:bodyPr>
          <a:lstStyle/>
          <a:p>
            <a:pPr algn="l">
              <a:lnSpc>
                <a:spcPct val="115000"/>
              </a:lnSpc>
              <a:spcAft>
                <a:spcPts val="1400"/>
              </a:spcAft>
            </a:pPr>
            <a:r>
              <a:rPr sz="1700" b="1" i="0">
                <a:solidFill>
                  <a:srgbClr val="0B2E33"/>
                </a:solidFill>
                <a:latin typeface="Calibri"/>
              </a:rPr>
              <a:t>•  duration is far and away the strongest</a:t>
            </a:r>
          </a:p>
          <a:p>
            <a:pPr algn="l">
              <a:lnSpc>
                <a:spcPct val="115000"/>
              </a:lnSpc>
              <a:spcAft>
                <a:spcPts val="1400"/>
              </a:spcAft>
            </a:pPr>
            <a:r>
              <a:rPr sz="1700" b="1" i="0">
                <a:solidFill>
                  <a:srgbClr val="0B2E33"/>
                </a:solidFill>
                <a:latin typeface="Calibri"/>
              </a:rPr>
              <a:t>•  price matters, but much less</a:t>
            </a:r>
          </a:p>
          <a:p>
            <a:pPr algn="l">
              <a:lnSpc>
                <a:spcPct val="115000"/>
              </a:lnSpc>
              <a:spcAft>
                <a:spcPts val="1400"/>
              </a:spcAft>
            </a:pPr>
            <a:r>
              <a:rPr sz="1700" b="1" i="0">
                <a:solidFill>
                  <a:srgbClr val="0B2E33"/>
                </a:solidFill>
                <a:latin typeface="Calibri"/>
              </a:rPr>
              <a:t>•  which product it is barely registers</a:t>
            </a:r>
          </a:p>
        </p:txBody>
      </p:sp>
      <p:sp>
        <p:nvSpPr>
          <p:cNvPr id="9" name="TextBox 8"/>
          <p:cNvSpPr txBox="1"/>
          <p:nvPr/>
        </p:nvSpPr>
        <p:spPr>
          <a:xfrm>
            <a:off x="7498079" y="5486400"/>
            <a:ext cx="4160520" cy="822960"/>
          </a:xfrm>
          <a:prstGeom prst="rect">
            <a:avLst/>
          </a:prstGeom>
          <a:noFill/>
        </p:spPr>
        <p:txBody>
          <a:bodyPr wrap="square" anchor="t" lIns="0" rIns="0" tIns="0" bIns="0">
            <a:spAutoFit/>
          </a:bodyPr>
          <a:lstStyle/>
          <a:p>
            <a:pPr algn="l">
              <a:lnSpc>
                <a:spcPct val="115000"/>
              </a:lnSpc>
            </a:pPr>
            <a:r>
              <a:rPr sz="1600" b="1" i="0">
                <a:solidFill>
                  <a:srgbClr val="C9502F"/>
                </a:solidFill>
                <a:latin typeface="Calibri"/>
              </a:rPr>
              <a:t>How long something sits on the site tells you more than what it 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HOW EACH CLUE MOVES THE PREDICTION</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Longer listings sell far more</a:t>
            </a:r>
          </a:p>
        </p:txBody>
      </p:sp>
      <p:sp>
        <p:nvSpPr>
          <p:cNvPr id="4" name="Rounded Rectangle 3"/>
          <p:cNvSpPr/>
          <p:nvPr/>
        </p:nvSpPr>
        <p:spPr>
          <a:xfrm>
            <a:off x="594360" y="1554480"/>
            <a:ext cx="10972800" cy="1417320"/>
          </a:xfrm>
          <a:prstGeom prst="roundRect">
            <a:avLst>
              <a:gd name="adj" fmla="val 6000"/>
            </a:avLst>
          </a:prstGeom>
          <a:solidFill>
            <a:srgbClr val="D6F5F3"/>
          </a:solidFill>
          <a:ln w="12700">
            <a:solidFill>
              <a:srgbClr val="D6F5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755648"/>
            <a:ext cx="10332720" cy="274320"/>
          </a:xfrm>
          <a:prstGeom prst="rect">
            <a:avLst/>
          </a:prstGeom>
          <a:noFill/>
        </p:spPr>
        <p:txBody>
          <a:bodyPr wrap="square" anchor="t" lIns="0" rIns="0" tIns="0" bIns="0">
            <a:spAutoFit/>
          </a:bodyPr>
          <a:lstStyle/>
          <a:p>
            <a:pPr algn="l">
              <a:lnSpc>
                <a:spcPct val="100000"/>
              </a:lnSpc>
            </a:pPr>
            <a:r>
              <a:rPr sz="1200" b="1" i="0">
                <a:solidFill>
                  <a:srgbClr val="0E7C7B"/>
                </a:solidFill>
                <a:latin typeface="Calibri"/>
              </a:rPr>
              <a:t>WHAT THIS MEANS</a:t>
            </a:r>
          </a:p>
        </p:txBody>
      </p:sp>
      <p:sp>
        <p:nvSpPr>
          <p:cNvPr id="6" name="TextBox 5"/>
          <p:cNvSpPr txBox="1"/>
          <p:nvPr/>
        </p:nvSpPr>
        <p:spPr>
          <a:xfrm>
            <a:off x="914400" y="2084831"/>
            <a:ext cx="10332720" cy="777240"/>
          </a:xfrm>
          <a:prstGeom prst="rect">
            <a:avLst/>
          </a:prstGeom>
          <a:noFill/>
        </p:spPr>
        <p:txBody>
          <a:bodyPr wrap="square" anchor="t" lIns="0" rIns="0" tIns="0" bIns="0">
            <a:spAutoFit/>
          </a:bodyPr>
          <a:lstStyle/>
          <a:p>
            <a:pPr algn="l">
              <a:lnSpc>
                <a:spcPct val="115000"/>
              </a:lnSpc>
            </a:pPr>
            <a:r>
              <a:rPr sz="1600" b="0" i="0">
                <a:solidFill>
                  <a:srgbClr val="0B2E33"/>
                </a:solidFill>
                <a:latin typeface="Calibri"/>
              </a:rPr>
              <a:t>We pretend every product had the same value for one clue, predict, and average. Then we slide that value across its whole range.</a:t>
            </a:r>
          </a:p>
        </p:txBody>
      </p:sp>
      <p:pic>
        <p:nvPicPr>
          <p:cNvPr id="7" name="Picture 6" descr="partial_dependence.png"/>
          <p:cNvPicPr>
            <a:picLocks noChangeAspect="1"/>
          </p:cNvPicPr>
          <p:nvPr/>
        </p:nvPicPr>
        <p:blipFill>
          <a:blip r:embed="rId2"/>
          <a:stretch>
            <a:fillRect/>
          </a:stretch>
        </p:blipFill>
        <p:spPr>
          <a:xfrm>
            <a:off x="502920" y="3108960"/>
            <a:ext cx="11201400" cy="2668270"/>
          </a:xfrm>
          <a:prstGeom prst="rect">
            <a:avLst/>
          </a:prstGeom>
        </p:spPr>
      </p:pic>
      <p:sp>
        <p:nvSpPr>
          <p:cNvPr id="8" name="TextBox 7"/>
          <p:cNvSpPr txBox="1"/>
          <p:nvPr/>
        </p:nvSpPr>
        <p:spPr>
          <a:xfrm>
            <a:off x="594360" y="5897880"/>
            <a:ext cx="10972800" cy="548640"/>
          </a:xfrm>
          <a:prstGeom prst="rect">
            <a:avLst/>
          </a:prstGeom>
          <a:noFill/>
        </p:spPr>
        <p:txBody>
          <a:bodyPr wrap="square" anchor="t" lIns="0" rIns="0" tIns="0" bIns="0">
            <a:spAutoFit/>
          </a:bodyPr>
          <a:lstStyle/>
          <a:p>
            <a:pPr algn="l">
              <a:lnSpc>
                <a:spcPct val="100000"/>
              </a:lnSpc>
            </a:pPr>
            <a:r>
              <a:rPr sz="1800" b="1" i="0">
                <a:solidFill>
                  <a:srgbClr val="C9502F"/>
                </a:solidFill>
                <a:latin typeface="Calibri"/>
              </a:rPr>
              <a:t>duration climbs steeply  ·  price drops off  ·  the rest are nearly flat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DID WE STAY INSIDE THE CONSTRAINT</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Memory never grew</a:t>
            </a:r>
          </a:p>
        </p:txBody>
      </p:sp>
      <p:pic>
        <p:nvPicPr>
          <p:cNvPr id="4" name="Picture 3" descr="memory_usage.png"/>
          <p:cNvPicPr>
            <a:picLocks noChangeAspect="1"/>
          </p:cNvPicPr>
          <p:nvPr/>
        </p:nvPicPr>
        <p:blipFill>
          <a:blip r:embed="rId2"/>
          <a:stretch>
            <a:fillRect/>
          </a:stretch>
        </p:blipFill>
        <p:spPr>
          <a:xfrm>
            <a:off x="502920" y="1783080"/>
            <a:ext cx="6583680" cy="3680089"/>
          </a:xfrm>
          <a:prstGeom prst="rect">
            <a:avLst/>
          </a:prstGeom>
        </p:spPr>
      </p:pic>
      <p:sp>
        <p:nvSpPr>
          <p:cNvPr id="5" name="Rounded Rectangle 4"/>
          <p:cNvSpPr/>
          <p:nvPr/>
        </p:nvSpPr>
        <p:spPr>
          <a:xfrm>
            <a:off x="7498079" y="1783080"/>
            <a:ext cx="4160520" cy="1417320"/>
          </a:xfrm>
          <a:prstGeom prst="roundRect">
            <a:avLst>
              <a:gd name="adj" fmla="val 6000"/>
            </a:avLst>
          </a:prstGeom>
          <a:solidFill>
            <a:srgbClr val="D6F5F3"/>
          </a:solidFill>
          <a:ln w="12700">
            <a:solidFill>
              <a:srgbClr val="D6F5F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18119" y="1984248"/>
            <a:ext cx="3520439" cy="274320"/>
          </a:xfrm>
          <a:prstGeom prst="rect">
            <a:avLst/>
          </a:prstGeom>
          <a:noFill/>
        </p:spPr>
        <p:txBody>
          <a:bodyPr wrap="square" anchor="t" lIns="0" rIns="0" tIns="0" bIns="0">
            <a:spAutoFit/>
          </a:bodyPr>
          <a:lstStyle/>
          <a:p>
            <a:pPr algn="l">
              <a:lnSpc>
                <a:spcPct val="100000"/>
              </a:lnSpc>
            </a:pPr>
            <a:r>
              <a:rPr sz="1200" b="1" i="0">
                <a:solidFill>
                  <a:srgbClr val="0E7C7B"/>
                </a:solidFill>
                <a:latin typeface="Calibri"/>
              </a:rPr>
              <a:t>WHAT THIS MEANS</a:t>
            </a:r>
          </a:p>
        </p:txBody>
      </p:sp>
      <p:sp>
        <p:nvSpPr>
          <p:cNvPr id="7" name="TextBox 6"/>
          <p:cNvSpPr txBox="1"/>
          <p:nvPr/>
        </p:nvSpPr>
        <p:spPr>
          <a:xfrm>
            <a:off x="7818119" y="2313432"/>
            <a:ext cx="3520439" cy="777240"/>
          </a:xfrm>
          <a:prstGeom prst="rect">
            <a:avLst/>
          </a:prstGeom>
          <a:noFill/>
        </p:spPr>
        <p:txBody>
          <a:bodyPr wrap="square" anchor="t" lIns="0" rIns="0" tIns="0" bIns="0">
            <a:spAutoFit/>
          </a:bodyPr>
          <a:lstStyle/>
          <a:p>
            <a:pPr algn="l">
              <a:lnSpc>
                <a:spcPct val="115000"/>
              </a:lnSpc>
            </a:pPr>
            <a:r>
              <a:rPr sz="1600" b="0" i="0">
                <a:solidFill>
                  <a:srgbClr val="0B2E33"/>
                </a:solidFill>
                <a:latin typeface="Calibri"/>
              </a:rPr>
              <a:t>If chunks were piling up in memory, this line would climb steadily. It does not.</a:t>
            </a:r>
          </a:p>
        </p:txBody>
      </p:sp>
      <p:sp>
        <p:nvSpPr>
          <p:cNvPr id="8" name="Rounded Rectangle 7"/>
          <p:cNvSpPr/>
          <p:nvPr/>
        </p:nvSpPr>
        <p:spPr>
          <a:xfrm>
            <a:off x="7498079" y="3474720"/>
            <a:ext cx="4160520" cy="1143000"/>
          </a:xfrm>
          <a:prstGeom prst="roundRect">
            <a:avLst>
              <a:gd name="adj" fmla="val 6000"/>
            </a:avLst>
          </a:prstGeom>
          <a:solidFill>
            <a:srgbClr val="EAF7F6"/>
          </a:solidFill>
          <a:ln w="12700">
            <a:solidFill>
              <a:srgbClr val="EAF7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571231" y="3623310"/>
            <a:ext cx="4014215" cy="571500"/>
          </a:xfrm>
          <a:prstGeom prst="rect">
            <a:avLst/>
          </a:prstGeom>
          <a:noFill/>
        </p:spPr>
        <p:txBody>
          <a:bodyPr wrap="square" anchor="ctr" lIns="0" rIns="0" tIns="0" bIns="0">
            <a:spAutoFit/>
          </a:bodyPr>
          <a:lstStyle/>
          <a:p>
            <a:pPr algn="ctr">
              <a:lnSpc>
                <a:spcPct val="100000"/>
              </a:lnSpc>
            </a:pPr>
            <a:r>
              <a:rPr sz="3400" b="1" i="0">
                <a:solidFill>
                  <a:srgbClr val="0E7C7B"/>
                </a:solidFill>
                <a:latin typeface="Cambria"/>
              </a:rPr>
              <a:t>+10.7 MB</a:t>
            </a:r>
          </a:p>
        </p:txBody>
      </p:sp>
      <p:sp>
        <p:nvSpPr>
          <p:cNvPr id="10" name="TextBox 9"/>
          <p:cNvSpPr txBox="1"/>
          <p:nvPr/>
        </p:nvSpPr>
        <p:spPr>
          <a:xfrm>
            <a:off x="7607807" y="4229100"/>
            <a:ext cx="3941063" cy="342900"/>
          </a:xfrm>
          <a:prstGeom prst="rect">
            <a:avLst/>
          </a:prstGeom>
          <a:noFill/>
        </p:spPr>
        <p:txBody>
          <a:bodyPr wrap="square" anchor="t" lIns="0" rIns="0" tIns="0" bIns="0">
            <a:spAutoFit/>
          </a:bodyPr>
          <a:lstStyle/>
          <a:p>
            <a:pPr algn="ctr">
              <a:lnSpc>
                <a:spcPct val="100000"/>
              </a:lnSpc>
            </a:pPr>
            <a:r>
              <a:rPr sz="1350" b="0" i="0">
                <a:solidFill>
                  <a:srgbClr val="557575"/>
                </a:solidFill>
                <a:latin typeface="Calibri"/>
              </a:rPr>
              <a:t>across all 400,000 records</a:t>
            </a:r>
          </a:p>
        </p:txBody>
      </p:sp>
      <p:sp>
        <p:nvSpPr>
          <p:cNvPr id="11" name="Rounded Rectangle 10"/>
          <p:cNvSpPr/>
          <p:nvPr/>
        </p:nvSpPr>
        <p:spPr>
          <a:xfrm>
            <a:off x="7498079" y="4800600"/>
            <a:ext cx="4160520" cy="1143000"/>
          </a:xfrm>
          <a:prstGeom prst="roundRect">
            <a:avLst>
              <a:gd name="adj" fmla="val 6000"/>
            </a:avLst>
          </a:prstGeom>
          <a:solidFill>
            <a:srgbClr val="EAF7F6"/>
          </a:solidFill>
          <a:ln w="12700">
            <a:solidFill>
              <a:srgbClr val="EAF7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571231" y="4949190"/>
            <a:ext cx="4014215" cy="571500"/>
          </a:xfrm>
          <a:prstGeom prst="rect">
            <a:avLst/>
          </a:prstGeom>
          <a:noFill/>
        </p:spPr>
        <p:txBody>
          <a:bodyPr wrap="square" anchor="ctr" lIns="0" rIns="0" tIns="0" bIns="0">
            <a:spAutoFit/>
          </a:bodyPr>
          <a:lstStyle/>
          <a:p>
            <a:pPr algn="ctr">
              <a:lnSpc>
                <a:spcPct val="100000"/>
              </a:lnSpc>
            </a:pPr>
            <a:r>
              <a:rPr sz="3400" b="1" i="0">
                <a:solidFill>
                  <a:srgbClr val="0E7C7B"/>
                </a:solidFill>
                <a:latin typeface="Cambria"/>
              </a:rPr>
              <a:t>405 MB</a:t>
            </a:r>
          </a:p>
        </p:txBody>
      </p:sp>
      <p:sp>
        <p:nvSpPr>
          <p:cNvPr id="13" name="TextBox 12"/>
          <p:cNvSpPr txBox="1"/>
          <p:nvPr/>
        </p:nvSpPr>
        <p:spPr>
          <a:xfrm>
            <a:off x="7607807" y="5554980"/>
            <a:ext cx="3941063" cy="342900"/>
          </a:xfrm>
          <a:prstGeom prst="rect">
            <a:avLst/>
          </a:prstGeom>
          <a:noFill/>
        </p:spPr>
        <p:txBody>
          <a:bodyPr wrap="square" anchor="t" lIns="0" rIns="0" tIns="0" bIns="0">
            <a:spAutoFit/>
          </a:bodyPr>
          <a:lstStyle/>
          <a:p>
            <a:pPr algn="ctr">
              <a:lnSpc>
                <a:spcPct val="100000"/>
              </a:lnSpc>
            </a:pPr>
            <a:r>
              <a:rPr sz="1350" b="0" i="0">
                <a:solidFill>
                  <a:srgbClr val="557575"/>
                </a:solidFill>
                <a:latin typeface="Calibri"/>
              </a:rPr>
              <a:t>peak, out of 14,171 available</a:t>
            </a:r>
          </a:p>
        </p:txBody>
      </p:sp>
      <p:sp>
        <p:nvSpPr>
          <p:cNvPr id="14" name="TextBox 13"/>
          <p:cNvSpPr txBox="1"/>
          <p:nvPr/>
        </p:nvSpPr>
        <p:spPr>
          <a:xfrm>
            <a:off x="594360" y="5577840"/>
            <a:ext cx="6766560" cy="914400"/>
          </a:xfrm>
          <a:prstGeom prst="rect">
            <a:avLst/>
          </a:prstGeom>
          <a:noFill/>
        </p:spPr>
        <p:txBody>
          <a:bodyPr wrap="square" anchor="t" lIns="0" rIns="0" tIns="0" bIns="0">
            <a:spAutoFit/>
          </a:bodyPr>
          <a:lstStyle/>
          <a:p>
            <a:pPr algn="l">
              <a:lnSpc>
                <a:spcPct val="115000"/>
              </a:lnSpc>
            </a:pPr>
            <a:r>
              <a:rPr sz="1500" b="0" i="1">
                <a:solidFill>
                  <a:srgbClr val="557575"/>
                </a:solidFill>
                <a:latin typeface="Calibri"/>
              </a:rPr>
              <a:t>The one-time step early on is the first chunk and the shuffle window being allocated. After that it is flat.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SPEED</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The whole thing runs in under a minute</a:t>
            </a:r>
          </a:p>
        </p:txBody>
      </p:sp>
      <p:sp>
        <p:nvSpPr>
          <p:cNvPr id="4" name="Rounded Rectangle 3"/>
          <p:cNvSpPr/>
          <p:nvPr/>
        </p:nvSpPr>
        <p:spPr>
          <a:xfrm>
            <a:off x="594360" y="1920240"/>
            <a:ext cx="3520440" cy="2011680"/>
          </a:xfrm>
          <a:prstGeom prst="roundRect">
            <a:avLst>
              <a:gd name="adj" fmla="val 6000"/>
            </a:avLst>
          </a:prstGeom>
          <a:solidFill>
            <a:srgbClr val="EAF7F6"/>
          </a:solidFill>
          <a:ln w="12700">
            <a:solidFill>
              <a:srgbClr val="EAF7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67512" y="2181758"/>
            <a:ext cx="3374136" cy="1005840"/>
          </a:xfrm>
          <a:prstGeom prst="rect">
            <a:avLst/>
          </a:prstGeom>
          <a:noFill/>
        </p:spPr>
        <p:txBody>
          <a:bodyPr wrap="square" anchor="ctr" lIns="0" rIns="0" tIns="0" bIns="0">
            <a:spAutoFit/>
          </a:bodyPr>
          <a:lstStyle/>
          <a:p>
            <a:pPr algn="ctr">
              <a:lnSpc>
                <a:spcPct val="100000"/>
              </a:lnSpc>
            </a:pPr>
            <a:r>
              <a:rPr sz="5600" b="1" i="0">
                <a:solidFill>
                  <a:srgbClr val="0E7C7B"/>
                </a:solidFill>
                <a:latin typeface="Cambria"/>
              </a:rPr>
              <a:t>31 s</a:t>
            </a:r>
          </a:p>
        </p:txBody>
      </p:sp>
      <p:sp>
        <p:nvSpPr>
          <p:cNvPr id="6" name="TextBox 5"/>
          <p:cNvSpPr txBox="1"/>
          <p:nvPr/>
        </p:nvSpPr>
        <p:spPr>
          <a:xfrm>
            <a:off x="704088" y="3247948"/>
            <a:ext cx="3300984" cy="603504"/>
          </a:xfrm>
          <a:prstGeom prst="rect">
            <a:avLst/>
          </a:prstGeom>
          <a:noFill/>
        </p:spPr>
        <p:txBody>
          <a:bodyPr wrap="square" anchor="t" lIns="0" rIns="0" tIns="0" bIns="0">
            <a:spAutoFit/>
          </a:bodyPr>
          <a:lstStyle/>
          <a:p>
            <a:pPr algn="ctr">
              <a:lnSpc>
                <a:spcPct val="100000"/>
              </a:lnSpc>
            </a:pPr>
            <a:r>
              <a:rPr sz="1400" b="0" i="0">
                <a:solidFill>
                  <a:srgbClr val="557575"/>
                </a:solidFill>
                <a:latin typeface="Calibri"/>
              </a:rPr>
              <a:t>to learn from 400,000 records</a:t>
            </a:r>
          </a:p>
        </p:txBody>
      </p:sp>
      <p:sp>
        <p:nvSpPr>
          <p:cNvPr id="7" name="Rounded Rectangle 6"/>
          <p:cNvSpPr/>
          <p:nvPr/>
        </p:nvSpPr>
        <p:spPr>
          <a:xfrm>
            <a:off x="4343400" y="1920240"/>
            <a:ext cx="3520440" cy="2011680"/>
          </a:xfrm>
          <a:prstGeom prst="roundRect">
            <a:avLst>
              <a:gd name="adj" fmla="val 6000"/>
            </a:avLst>
          </a:prstGeom>
          <a:solidFill>
            <a:srgbClr val="EAF7F6"/>
          </a:solidFill>
          <a:ln w="12700">
            <a:solidFill>
              <a:srgbClr val="EAF7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416552" y="2181758"/>
            <a:ext cx="3374136" cy="1005840"/>
          </a:xfrm>
          <a:prstGeom prst="rect">
            <a:avLst/>
          </a:prstGeom>
          <a:noFill/>
        </p:spPr>
        <p:txBody>
          <a:bodyPr wrap="square" anchor="ctr" lIns="0" rIns="0" tIns="0" bIns="0">
            <a:spAutoFit/>
          </a:bodyPr>
          <a:lstStyle/>
          <a:p>
            <a:pPr algn="ctr">
              <a:lnSpc>
                <a:spcPct val="100000"/>
              </a:lnSpc>
            </a:pPr>
            <a:r>
              <a:rPr sz="4800" b="1" i="0">
                <a:solidFill>
                  <a:srgbClr val="0E7C7B"/>
                </a:solidFill>
                <a:latin typeface="Cambria"/>
              </a:rPr>
              <a:t>12,726</a:t>
            </a:r>
          </a:p>
        </p:txBody>
      </p:sp>
      <p:sp>
        <p:nvSpPr>
          <p:cNvPr id="9" name="TextBox 8"/>
          <p:cNvSpPr txBox="1"/>
          <p:nvPr/>
        </p:nvSpPr>
        <p:spPr>
          <a:xfrm>
            <a:off x="4453128" y="3247948"/>
            <a:ext cx="3300984" cy="603504"/>
          </a:xfrm>
          <a:prstGeom prst="rect">
            <a:avLst/>
          </a:prstGeom>
          <a:noFill/>
        </p:spPr>
        <p:txBody>
          <a:bodyPr wrap="square" anchor="t" lIns="0" rIns="0" tIns="0" bIns="0">
            <a:spAutoFit/>
          </a:bodyPr>
          <a:lstStyle/>
          <a:p>
            <a:pPr algn="ctr">
              <a:lnSpc>
                <a:spcPct val="100000"/>
              </a:lnSpc>
            </a:pPr>
            <a:r>
              <a:rPr sz="1400" b="0" i="0">
                <a:solidFill>
                  <a:srgbClr val="557575"/>
                </a:solidFill>
                <a:latin typeface="Calibri"/>
              </a:rPr>
              <a:t>records per second</a:t>
            </a:r>
          </a:p>
        </p:txBody>
      </p:sp>
      <p:sp>
        <p:nvSpPr>
          <p:cNvPr id="10" name="Rounded Rectangle 9"/>
          <p:cNvSpPr/>
          <p:nvPr/>
        </p:nvSpPr>
        <p:spPr>
          <a:xfrm>
            <a:off x="8092440" y="1920240"/>
            <a:ext cx="3520440" cy="2011680"/>
          </a:xfrm>
          <a:prstGeom prst="roundRect">
            <a:avLst>
              <a:gd name="adj" fmla="val 6000"/>
            </a:avLst>
          </a:prstGeom>
          <a:solidFill>
            <a:srgbClr val="0B2E33"/>
          </a:solidFill>
          <a:ln w="12700">
            <a:solidFill>
              <a:srgbClr val="0B2E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165592" y="2181758"/>
            <a:ext cx="3374136" cy="1005840"/>
          </a:xfrm>
          <a:prstGeom prst="rect">
            <a:avLst/>
          </a:prstGeom>
          <a:noFill/>
        </p:spPr>
        <p:txBody>
          <a:bodyPr wrap="square" anchor="ctr" lIns="0" rIns="0" tIns="0" bIns="0">
            <a:spAutoFit/>
          </a:bodyPr>
          <a:lstStyle/>
          <a:p>
            <a:pPr algn="ctr">
              <a:lnSpc>
                <a:spcPct val="100000"/>
              </a:lnSpc>
            </a:pPr>
            <a:r>
              <a:rPr sz="5600" b="1" i="0">
                <a:solidFill>
                  <a:srgbClr val="17BEBB"/>
                </a:solidFill>
                <a:latin typeface="Cambria"/>
              </a:rPr>
              <a:t>40 s</a:t>
            </a:r>
          </a:p>
        </p:txBody>
      </p:sp>
      <p:sp>
        <p:nvSpPr>
          <p:cNvPr id="12" name="TextBox 11"/>
          <p:cNvSpPr txBox="1"/>
          <p:nvPr/>
        </p:nvSpPr>
        <p:spPr>
          <a:xfrm>
            <a:off x="8202167" y="3247948"/>
            <a:ext cx="3300984" cy="603504"/>
          </a:xfrm>
          <a:prstGeom prst="rect">
            <a:avLst/>
          </a:prstGeom>
          <a:noFill/>
        </p:spPr>
        <p:txBody>
          <a:bodyPr wrap="square" anchor="t" lIns="0" rIns="0" tIns="0" bIns="0">
            <a:spAutoFit/>
          </a:bodyPr>
          <a:lstStyle/>
          <a:p>
            <a:pPr algn="ctr">
              <a:lnSpc>
                <a:spcPct val="100000"/>
              </a:lnSpc>
            </a:pPr>
            <a:r>
              <a:rPr sz="1400" b="0" i="0">
                <a:solidFill>
                  <a:srgbClr val="8FB5B5"/>
                </a:solidFill>
                <a:latin typeface="Calibri"/>
              </a:rPr>
              <a:t>start to finished plots</a:t>
            </a:r>
          </a:p>
        </p:txBody>
      </p:sp>
      <p:sp>
        <p:nvSpPr>
          <p:cNvPr id="13" name="TextBox 12"/>
          <p:cNvSpPr txBox="1"/>
          <p:nvPr/>
        </p:nvSpPr>
        <p:spPr>
          <a:xfrm>
            <a:off x="594360" y="4389120"/>
            <a:ext cx="10972800" cy="1828800"/>
          </a:xfrm>
          <a:prstGeom prst="rect">
            <a:avLst/>
          </a:prstGeom>
          <a:noFill/>
        </p:spPr>
        <p:txBody>
          <a:bodyPr wrap="square" anchor="t" lIns="0" rIns="0" tIns="0" bIns="0">
            <a:spAutoFit/>
          </a:bodyPr>
          <a:lstStyle/>
          <a:p>
            <a:pPr algn="l">
              <a:lnSpc>
                <a:spcPct val="115000"/>
              </a:lnSpc>
              <a:spcAft>
                <a:spcPts val="1600"/>
              </a:spcAft>
            </a:pPr>
            <a:r>
              <a:rPr sz="1900" b="0" i="0">
                <a:solidFill>
                  <a:srgbClr val="1C3738"/>
                </a:solidFill>
                <a:latin typeface="Calibri"/>
              </a:rPr>
              <a:t>•  One command produces the model, the scores and every plot in this deck</a:t>
            </a:r>
          </a:p>
          <a:p>
            <a:pPr algn="l">
              <a:lnSpc>
                <a:spcPct val="115000"/>
              </a:lnSpc>
              <a:spcAft>
                <a:spcPts val="1600"/>
              </a:spcAft>
            </a:pPr>
            <a:r>
              <a:rPr sz="1900" b="0" i="0">
                <a:solidFill>
                  <a:srgbClr val="1C3738"/>
                </a:solidFill>
                <a:latin typeface="Calibri"/>
              </a:rPr>
              <a:t>•  At this rate, 100 million rows would take about two hours</a:t>
            </a:r>
          </a:p>
          <a:p>
            <a:pPr algn="l">
              <a:lnSpc>
                <a:spcPct val="115000"/>
              </a:lnSpc>
              <a:spcAft>
                <a:spcPts val="1600"/>
              </a:spcAft>
            </a:pPr>
            <a:r>
              <a:rPr sz="1900" b="0" i="0">
                <a:solidFill>
                  <a:srgbClr val="1C3738"/>
                </a:solidFill>
                <a:latin typeface="Calibri"/>
              </a:rPr>
              <a:t>•  And it would use the same amount of memory it does now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2E33"/>
        </a:solidFill>
        <a:effectLst/>
      </p:bgPr>
    </p:bg>
    <p:spTree>
      <p:nvGrpSpPr>
        <p:cNvPr id="1" name=""/>
        <p:cNvGrpSpPr/>
        <p:nvPr/>
      </p:nvGrpSpPr>
      <p:grpSpPr/>
      <p:sp>
        <p:nvSpPr>
          <p:cNvPr id="2" name="TextBox 1"/>
          <p:cNvSpPr txBox="1"/>
          <p:nvPr/>
        </p:nvSpPr>
        <p:spPr>
          <a:xfrm>
            <a:off x="914400" y="914400"/>
            <a:ext cx="10332720" cy="822960"/>
          </a:xfrm>
          <a:prstGeom prst="rect">
            <a:avLst/>
          </a:prstGeom>
          <a:noFill/>
        </p:spPr>
        <p:txBody>
          <a:bodyPr wrap="square" anchor="t" lIns="0" rIns="0" tIns="0" bIns="0">
            <a:spAutoFit/>
          </a:bodyPr>
          <a:lstStyle/>
          <a:p>
            <a:pPr algn="l">
              <a:lnSpc>
                <a:spcPct val="100000"/>
              </a:lnSpc>
            </a:pPr>
            <a:r>
              <a:rPr sz="4200" b="1" i="0">
                <a:solidFill>
                  <a:srgbClr val="FFFFFF"/>
                </a:solidFill>
                <a:latin typeface="Cambria"/>
              </a:rPr>
              <a:t>What we would do next</a:t>
            </a:r>
          </a:p>
        </p:txBody>
      </p:sp>
      <p:sp>
        <p:nvSpPr>
          <p:cNvPr id="3" name="TextBox 2"/>
          <p:cNvSpPr txBox="1"/>
          <p:nvPr/>
        </p:nvSpPr>
        <p:spPr>
          <a:xfrm>
            <a:off x="914400" y="2103120"/>
            <a:ext cx="10332720" cy="3383280"/>
          </a:xfrm>
          <a:prstGeom prst="rect">
            <a:avLst/>
          </a:prstGeom>
          <a:noFill/>
        </p:spPr>
        <p:txBody>
          <a:bodyPr wrap="square" anchor="t" lIns="0" rIns="0" tIns="0" bIns="0">
            <a:spAutoFit/>
          </a:bodyPr>
          <a:lstStyle/>
          <a:p>
            <a:pPr algn="l">
              <a:lnSpc>
                <a:spcPct val="115000"/>
              </a:lnSpc>
              <a:spcAft>
                <a:spcPts val="1800"/>
              </a:spcAft>
            </a:pPr>
            <a:r>
              <a:rPr sz="1900" b="0" i="0">
                <a:solidFill>
                  <a:srgbClr val="D6F5F3"/>
                </a:solidFill>
                <a:latin typeface="Calibri"/>
              </a:rPr>
              <a:t>•  Treat product and category as labels, not numbers — right now the model is told product 5,000 is bigger than product 2,500</a:t>
            </a:r>
          </a:p>
          <a:p>
            <a:pPr algn="l">
              <a:lnSpc>
                <a:spcPct val="115000"/>
              </a:lnSpc>
              <a:spcAft>
                <a:spcPts val="1800"/>
              </a:spcAft>
            </a:pPr>
            <a:r>
              <a:rPr sz="1900" b="0" i="0">
                <a:solidFill>
                  <a:srgbClr val="D6F5F3"/>
                </a:solidFill>
                <a:latin typeface="Calibri"/>
              </a:rPr>
              <a:t>•  Fix the random starting point so every run gives exactly the same answer</a:t>
            </a:r>
          </a:p>
          <a:p>
            <a:pPr algn="l">
              <a:lnSpc>
                <a:spcPct val="115000"/>
              </a:lnSpc>
              <a:spcAft>
                <a:spcPts val="1800"/>
              </a:spcAft>
            </a:pPr>
            <a:r>
              <a:rPr sz="1900" b="0" i="0">
                <a:solidFill>
                  <a:srgbClr val="D6F5F3"/>
                </a:solidFill>
                <a:latin typeface="Calibri"/>
              </a:rPr>
              <a:t>•  Try a different building block in the middle layers; the one we were given learns slowly</a:t>
            </a:r>
          </a:p>
          <a:p>
            <a:pPr algn="l">
              <a:lnSpc>
                <a:spcPct val="115000"/>
              </a:lnSpc>
              <a:spcAft>
                <a:spcPts val="1800"/>
              </a:spcAft>
            </a:pPr>
            <a:r>
              <a:rPr sz="1900" b="0" i="0">
                <a:solidFill>
                  <a:srgbClr val="D6F5F3"/>
                </a:solidFill>
                <a:latin typeface="Calibri"/>
              </a:rPr>
              <a:t>•  Measure what a second pass over the data would buy us</a:t>
            </a:r>
          </a:p>
        </p:txBody>
      </p:sp>
      <p:sp>
        <p:nvSpPr>
          <p:cNvPr id="4" name="TextBox 3"/>
          <p:cNvSpPr txBox="1"/>
          <p:nvPr/>
        </p:nvSpPr>
        <p:spPr>
          <a:xfrm>
            <a:off x="914400" y="5943600"/>
            <a:ext cx="10332720" cy="411480"/>
          </a:xfrm>
          <a:prstGeom prst="rect">
            <a:avLst/>
          </a:prstGeom>
          <a:noFill/>
        </p:spPr>
        <p:txBody>
          <a:bodyPr wrap="square" anchor="t" lIns="0" rIns="0" tIns="0" bIns="0">
            <a:spAutoFit/>
          </a:bodyPr>
          <a:lstStyle/>
          <a:p>
            <a:pPr algn="l">
              <a:lnSpc>
                <a:spcPct val="100000"/>
              </a:lnSpc>
            </a:pPr>
            <a:r>
              <a:rPr sz="1600" b="0" i="0">
                <a:solidFill>
                  <a:srgbClr val="F2825B"/>
                </a:solidFill>
                <a:latin typeface="Calibri"/>
              </a:rPr>
              <a:t>Group 7   ·   Ansley Smith, Rebecca Drake, Ximin Zeng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9184"/>
            <a:ext cx="10972800" cy="310896"/>
          </a:xfrm>
          <a:prstGeom prst="rect">
            <a:avLst/>
          </a:prstGeom>
          <a:noFill/>
        </p:spPr>
        <p:txBody>
          <a:bodyPr wrap="square" anchor="t" lIns="0" rIns="0" tIns="0" bIns="0">
            <a:spAutoFit/>
          </a:bodyPr>
          <a:lstStyle/>
          <a:p>
            <a:pPr algn="l">
              <a:lnSpc>
                <a:spcPct val="100000"/>
              </a:lnSpc>
            </a:pPr>
            <a:r>
              <a:rPr sz="1400" b="1" i="0">
                <a:solidFill>
                  <a:srgbClr val="C9502F"/>
                </a:solidFill>
                <a:latin typeface="Calibri"/>
              </a:rPr>
              <a:t>WHO DID WHAT</a:t>
            </a:r>
          </a:p>
        </p:txBody>
      </p:sp>
      <p:sp>
        <p:nvSpPr>
          <p:cNvPr id="3" name="TextBox 2"/>
          <p:cNvSpPr txBox="1"/>
          <p:nvPr/>
        </p:nvSpPr>
        <p:spPr>
          <a:xfrm>
            <a:off x="594360" y="621792"/>
            <a:ext cx="10972800" cy="868680"/>
          </a:xfrm>
          <a:prstGeom prst="rect">
            <a:avLst/>
          </a:prstGeom>
          <a:noFill/>
        </p:spPr>
        <p:txBody>
          <a:bodyPr wrap="square" anchor="t" lIns="0" rIns="0" tIns="0" bIns="0">
            <a:spAutoFit/>
          </a:bodyPr>
          <a:lstStyle/>
          <a:p>
            <a:pPr algn="l">
              <a:lnSpc>
                <a:spcPct val="100000"/>
              </a:lnSpc>
            </a:pPr>
            <a:r>
              <a:rPr sz="3800" b="1" i="0">
                <a:solidFill>
                  <a:srgbClr val="0B2E33"/>
                </a:solidFill>
                <a:latin typeface="Cambria"/>
              </a:rPr>
              <a:t>Contributions</a:t>
            </a:r>
          </a:p>
        </p:txBody>
      </p:sp>
      <p:sp>
        <p:nvSpPr>
          <p:cNvPr id="4" name="Rounded Rectangle 3"/>
          <p:cNvSpPr/>
          <p:nvPr/>
        </p:nvSpPr>
        <p:spPr>
          <a:xfrm>
            <a:off x="594360" y="1828800"/>
            <a:ext cx="3520440" cy="3840480"/>
          </a:xfrm>
          <a:prstGeom prst="roundRect">
            <a:avLst>
              <a:gd name="adj" fmla="val 6000"/>
            </a:avLst>
          </a:prstGeom>
          <a:solidFill>
            <a:srgbClr val="EAF7F6"/>
          </a:solidFill>
          <a:ln w="12700">
            <a:solidFill>
              <a:srgbClr val="EAF7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842516" y="2148840"/>
            <a:ext cx="1024128" cy="1024128"/>
          </a:xfrm>
          <a:prstGeom prst="ellipse">
            <a:avLst/>
          </a:prstGeom>
          <a:solidFill>
            <a:srgbClr val="0E7C7B"/>
          </a:solidFill>
          <a:ln>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FFFFFF"/>
                </a:solidFill>
                <a:latin typeface="Cambria"/>
              </a:rPr>
              <a:t>AS</a:t>
            </a:r>
          </a:p>
        </p:txBody>
      </p:sp>
      <p:sp>
        <p:nvSpPr>
          <p:cNvPr id="6" name="TextBox 5"/>
          <p:cNvSpPr txBox="1"/>
          <p:nvPr/>
        </p:nvSpPr>
        <p:spPr>
          <a:xfrm>
            <a:off x="731520" y="3364992"/>
            <a:ext cx="3246120" cy="411480"/>
          </a:xfrm>
          <a:prstGeom prst="rect">
            <a:avLst/>
          </a:prstGeom>
          <a:noFill/>
        </p:spPr>
        <p:txBody>
          <a:bodyPr wrap="square" anchor="t" lIns="0" rIns="0" tIns="0" bIns="0">
            <a:spAutoFit/>
          </a:bodyPr>
          <a:lstStyle/>
          <a:p>
            <a:pPr algn="ctr">
              <a:lnSpc>
                <a:spcPct val="100000"/>
              </a:lnSpc>
            </a:pPr>
            <a:r>
              <a:rPr sz="2000" b="1" i="0">
                <a:solidFill>
                  <a:srgbClr val="0B2E33"/>
                </a:solidFill>
                <a:latin typeface="Calibri"/>
              </a:rPr>
              <a:t>Ansley Smith</a:t>
            </a:r>
          </a:p>
        </p:txBody>
      </p:sp>
      <p:sp>
        <p:nvSpPr>
          <p:cNvPr id="7" name="TextBox 6"/>
          <p:cNvSpPr txBox="1"/>
          <p:nvPr/>
        </p:nvSpPr>
        <p:spPr>
          <a:xfrm>
            <a:off x="777240" y="3886200"/>
            <a:ext cx="3154680" cy="1554480"/>
          </a:xfrm>
          <a:prstGeom prst="rect">
            <a:avLst/>
          </a:prstGeom>
          <a:noFill/>
        </p:spPr>
        <p:txBody>
          <a:bodyPr wrap="square" anchor="t" lIns="0" rIns="0" tIns="0" bIns="0">
            <a:spAutoFit/>
          </a:bodyPr>
          <a:lstStyle/>
          <a:p>
            <a:pPr algn="ctr">
              <a:lnSpc>
                <a:spcPct val="120000"/>
              </a:lnSpc>
            </a:pPr>
            <a:r>
              <a:rPr sz="1500" b="0" i="1">
                <a:solidFill>
                  <a:srgbClr val="557575"/>
                </a:solidFill>
                <a:latin typeface="Calibri"/>
              </a:rPr>
              <a:t>Fill in before submitting</a:t>
            </a:r>
          </a:p>
        </p:txBody>
      </p:sp>
      <p:sp>
        <p:nvSpPr>
          <p:cNvPr id="8" name="Rounded Rectangle 7"/>
          <p:cNvSpPr/>
          <p:nvPr/>
        </p:nvSpPr>
        <p:spPr>
          <a:xfrm>
            <a:off x="4389120" y="1828800"/>
            <a:ext cx="3520440" cy="3840480"/>
          </a:xfrm>
          <a:prstGeom prst="roundRect">
            <a:avLst>
              <a:gd name="adj" fmla="val 6000"/>
            </a:avLst>
          </a:prstGeom>
          <a:solidFill>
            <a:srgbClr val="EAF7F6"/>
          </a:solidFill>
          <a:ln w="12700">
            <a:solidFill>
              <a:srgbClr val="EAF7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37276" y="2148840"/>
            <a:ext cx="1024128" cy="1024128"/>
          </a:xfrm>
          <a:prstGeom prst="ellipse">
            <a:avLst/>
          </a:prstGeom>
          <a:solidFill>
            <a:srgbClr val="0E7C7B"/>
          </a:solidFill>
          <a:ln>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FFFFFF"/>
                </a:solidFill>
                <a:latin typeface="Cambria"/>
              </a:rPr>
              <a:t>RD</a:t>
            </a:r>
          </a:p>
        </p:txBody>
      </p:sp>
      <p:sp>
        <p:nvSpPr>
          <p:cNvPr id="10" name="TextBox 9"/>
          <p:cNvSpPr txBox="1"/>
          <p:nvPr/>
        </p:nvSpPr>
        <p:spPr>
          <a:xfrm>
            <a:off x="4526280" y="3364992"/>
            <a:ext cx="3246120" cy="411480"/>
          </a:xfrm>
          <a:prstGeom prst="rect">
            <a:avLst/>
          </a:prstGeom>
          <a:noFill/>
        </p:spPr>
        <p:txBody>
          <a:bodyPr wrap="square" anchor="t" lIns="0" rIns="0" tIns="0" bIns="0">
            <a:spAutoFit/>
          </a:bodyPr>
          <a:lstStyle/>
          <a:p>
            <a:pPr algn="ctr">
              <a:lnSpc>
                <a:spcPct val="100000"/>
              </a:lnSpc>
            </a:pPr>
            <a:r>
              <a:rPr sz="2000" b="1" i="0">
                <a:solidFill>
                  <a:srgbClr val="0B2E33"/>
                </a:solidFill>
                <a:latin typeface="Calibri"/>
              </a:rPr>
              <a:t>Rebecca Drake</a:t>
            </a:r>
          </a:p>
        </p:txBody>
      </p:sp>
      <p:sp>
        <p:nvSpPr>
          <p:cNvPr id="11" name="TextBox 10"/>
          <p:cNvSpPr txBox="1"/>
          <p:nvPr/>
        </p:nvSpPr>
        <p:spPr>
          <a:xfrm>
            <a:off x="4572000" y="3886200"/>
            <a:ext cx="3154680" cy="1554480"/>
          </a:xfrm>
          <a:prstGeom prst="rect">
            <a:avLst/>
          </a:prstGeom>
          <a:noFill/>
        </p:spPr>
        <p:txBody>
          <a:bodyPr wrap="square" anchor="t" lIns="0" rIns="0" tIns="0" bIns="0">
            <a:spAutoFit/>
          </a:bodyPr>
          <a:lstStyle/>
          <a:p>
            <a:pPr algn="ctr">
              <a:lnSpc>
                <a:spcPct val="120000"/>
              </a:lnSpc>
            </a:pPr>
            <a:r>
              <a:rPr sz="1500" b="0" i="1">
                <a:solidFill>
                  <a:srgbClr val="557575"/>
                </a:solidFill>
                <a:latin typeface="Calibri"/>
              </a:rPr>
              <a:t>Fill in before submitting</a:t>
            </a:r>
          </a:p>
        </p:txBody>
      </p:sp>
      <p:sp>
        <p:nvSpPr>
          <p:cNvPr id="12" name="Rounded Rectangle 11"/>
          <p:cNvSpPr/>
          <p:nvPr/>
        </p:nvSpPr>
        <p:spPr>
          <a:xfrm>
            <a:off x="8183880" y="1828800"/>
            <a:ext cx="3520440" cy="3840480"/>
          </a:xfrm>
          <a:prstGeom prst="roundRect">
            <a:avLst>
              <a:gd name="adj" fmla="val 6000"/>
            </a:avLst>
          </a:prstGeom>
          <a:solidFill>
            <a:srgbClr val="EAF7F6"/>
          </a:solidFill>
          <a:ln w="12700">
            <a:solidFill>
              <a:srgbClr val="EAF7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432036" y="2148840"/>
            <a:ext cx="1024128" cy="1024128"/>
          </a:xfrm>
          <a:prstGeom prst="ellipse">
            <a:avLst/>
          </a:prstGeom>
          <a:solidFill>
            <a:srgbClr val="0E7C7B"/>
          </a:solidFill>
          <a:ln>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FFFFFF"/>
                </a:solidFill>
                <a:latin typeface="Cambria"/>
              </a:rPr>
              <a:t>XZ</a:t>
            </a:r>
          </a:p>
        </p:txBody>
      </p:sp>
      <p:sp>
        <p:nvSpPr>
          <p:cNvPr id="14" name="TextBox 13"/>
          <p:cNvSpPr txBox="1"/>
          <p:nvPr/>
        </p:nvSpPr>
        <p:spPr>
          <a:xfrm>
            <a:off x="8321040" y="3364992"/>
            <a:ext cx="3246120" cy="411480"/>
          </a:xfrm>
          <a:prstGeom prst="rect">
            <a:avLst/>
          </a:prstGeom>
          <a:noFill/>
        </p:spPr>
        <p:txBody>
          <a:bodyPr wrap="square" anchor="t" lIns="0" rIns="0" tIns="0" bIns="0">
            <a:spAutoFit/>
          </a:bodyPr>
          <a:lstStyle/>
          <a:p>
            <a:pPr algn="ctr">
              <a:lnSpc>
                <a:spcPct val="100000"/>
              </a:lnSpc>
            </a:pPr>
            <a:r>
              <a:rPr sz="2000" b="1" i="0">
                <a:solidFill>
                  <a:srgbClr val="0B2E33"/>
                </a:solidFill>
                <a:latin typeface="Calibri"/>
              </a:rPr>
              <a:t>Ximin Zeng</a:t>
            </a:r>
          </a:p>
        </p:txBody>
      </p:sp>
      <p:sp>
        <p:nvSpPr>
          <p:cNvPr id="15" name="TextBox 14"/>
          <p:cNvSpPr txBox="1"/>
          <p:nvPr/>
        </p:nvSpPr>
        <p:spPr>
          <a:xfrm>
            <a:off x="8366760" y="3886200"/>
            <a:ext cx="3154680" cy="1554480"/>
          </a:xfrm>
          <a:prstGeom prst="rect">
            <a:avLst/>
          </a:prstGeom>
          <a:noFill/>
        </p:spPr>
        <p:txBody>
          <a:bodyPr wrap="square" anchor="t" lIns="0" rIns="0" tIns="0" bIns="0">
            <a:spAutoFit/>
          </a:bodyPr>
          <a:lstStyle/>
          <a:p>
            <a:pPr algn="ctr">
              <a:lnSpc>
                <a:spcPct val="120000"/>
              </a:lnSpc>
            </a:pPr>
            <a:r>
              <a:rPr sz="1500" b="0" i="1">
                <a:solidFill>
                  <a:srgbClr val="557575"/>
                </a:solidFill>
                <a:latin typeface="Calibri"/>
              </a:rPr>
              <a:t>Fill in before submitting</a:t>
            </a:r>
          </a:p>
        </p:txBody>
      </p:sp>
      <p:sp>
        <p:nvSpPr>
          <p:cNvPr id="16" name="TextBox 15"/>
          <p:cNvSpPr txBox="1"/>
          <p:nvPr/>
        </p:nvSpPr>
        <p:spPr>
          <a:xfrm>
            <a:off x="594360" y="5897880"/>
            <a:ext cx="10972800" cy="457200"/>
          </a:xfrm>
          <a:prstGeom prst="rect">
            <a:avLst/>
          </a:prstGeom>
          <a:noFill/>
        </p:spPr>
        <p:txBody>
          <a:bodyPr wrap="square" anchor="t" lIns="0" rIns="0" tIns="0" bIns="0">
            <a:spAutoFit/>
          </a:bodyPr>
          <a:lstStyle/>
          <a:p>
            <a:pPr algn="l">
              <a:lnSpc>
                <a:spcPct val="100000"/>
              </a:lnSpc>
            </a:pPr>
            <a:r>
              <a:rPr sz="1500" b="1" i="0">
                <a:solidFill>
                  <a:srgbClr val="C9502F"/>
                </a:solidFill>
                <a:latin typeface="Calibri"/>
              </a:rPr>
              <a:t>Replace the three placeholders with each member’s actual contribution before submitting.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